
<file path=[Content_Types].xml><?xml version="1.0" encoding="utf-8"?>
<Types xmlns="http://schemas.openxmlformats.org/package/2006/content-types">
  <Default Extension="xml" ContentType="application/xml"/>
  <Default Extension="rels" ContentType="application/vnd.openxmlformats-package.relationships+xml"/>
  <Default Extension="jpg" ContentType="image/jpeg"/>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notesSlides/notesSlide1.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notesMaster" Target="notesMasters/notesMaster1.xml" /><Relationship Id="rId29" Type="http://schemas.openxmlformats.org/officeDocument/2006/relationships/viewProps" Target="viewProps.xml" /><Relationship Id="rId28" Type="http://schemas.openxmlformats.org/officeDocument/2006/relationships/presProps" Target="presProps.xml" /><Relationship Id="rId1" Type="http://schemas.openxmlformats.org/officeDocument/2006/relationships/slideMaster" Target="slideMasters/slideMaster1.xml" /><Relationship Id="rId31" Type="http://schemas.openxmlformats.org/officeDocument/2006/relationships/tableStyles" Target="tableStyles.xml" /><Relationship Id="rId3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a:r>
              <a:rPr/>
              <a:t>Data not immune to influence from stakeholders</a:t>
            </a:r>
          </a:p>
          <a:p>
            <a:pPr lvl="0" indent="0" marL="0">
              <a:buNone/>
            </a:pPr>
          </a:p>
          <a:p>
            <a:pPr lvl="1"/>
            <a:r>
              <a:rPr/>
              <a:t>Example: Greece’s debt statistics appear to have deliberately misrepresented the country’s financial situation in the lead-up to the 2009 euro crisis</a:t>
            </a:r>
          </a:p>
          <a:p>
            <a:pPr lvl="0" indent="0" marL="0">
              <a:buNone/>
            </a:pPr>
          </a:p>
          <a:p>
            <a:pPr lvl="0"/>
            <a:r>
              <a:rPr/>
              <a:t>Data not stored securely - too common in government and private sector databases</a:t>
            </a:r>
          </a:p>
          <a:p>
            <a:pPr lvl="0" indent="0" marL="0">
              <a:buNone/>
            </a:pPr>
          </a:p>
          <a:p>
            <a:pPr lvl="0"/>
            <a:r>
              <a:rPr/>
              <a:t>Data not properly de-identified</a:t>
            </a:r>
          </a:p>
          <a:p>
            <a:pPr lvl="0" indent="0" marL="0">
              <a:buNone/>
            </a:pPr>
          </a:p>
          <a:p>
            <a:pPr lvl="1"/>
            <a:r>
              <a:rPr/>
              <a:t>Example: In the 1990s, Massachusetts released de-identified medical records of state employees for research. Despite removing names and addresses, a researcher was able to re-identify individuals, including the governor, by combining the data with other publicly available information.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jpg"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Session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Global landscape of data governance institutions and frameworks</a:t>
            </a:r>
            <a:br/>
            <a:b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Definitions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a:t>
            </a:r>
          </a:p>
        </p:txBody>
      </p:sp>
      <p:sp>
        <p:nvSpPr>
          <p:cNvPr id="3" name="Content Placeholder 2"/>
          <p:cNvSpPr>
            <a:spLocks noGrp="1"/>
          </p:cNvSpPr>
          <p:nvPr>
            <p:ph idx="1"/>
          </p:nvPr>
        </p:nvSpPr>
        <p:spPr/>
        <p:txBody>
          <a:bodyPr/>
          <a:lstStyle/>
          <a:p>
            <a:pPr lvl="0" indent="0" marL="0">
              <a:buNone/>
            </a:pPr>
            <a:r>
              <a:rPr/>
              <a:t>“When we refer to data, we mean information about people, things and systems. … Data about people can include personal data, such as basic contact details, records generated through interaction with services or the web, or information about their physical characteristics (biometrics) - and it can also extend to population-level data, such as demographics. Data can also be about systems and infrastructure, such as administrative records about businesses and public services. Data is increasingly used to describe location, such as geospatial reference details, and the environment we live in, such as data about biodiversity or the weather. It can also refer to the information generated by the burgeoning web of sensors that make up the Internet of Things.”</a:t>
            </a:r>
          </a:p>
          <a:p>
            <a:pPr lvl="0" indent="0">
              <a:buNone/>
            </a:pPr>
            <a:r>
              <a:rPr>
                <a:latin typeface="Courier"/>
              </a:rPr>
              <a:t>                                                 - UK National Data Strategy</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data governance?</a:t>
            </a:r>
          </a:p>
        </p:txBody>
      </p:sp>
      <p:sp>
        <p:nvSpPr>
          <p:cNvPr id="3" name="Content Placeholder 2"/>
          <p:cNvSpPr>
            <a:spLocks noGrp="1"/>
          </p:cNvSpPr>
          <p:nvPr>
            <p:ph idx="1" sz="half"/>
          </p:nvPr>
        </p:nvSpPr>
        <p:spPr/>
        <p:txBody>
          <a:bodyPr/>
          <a:lstStyle/>
          <a:p>
            <a:pPr lvl="0" indent="0" marL="0">
              <a:buNone/>
            </a:pPr>
            <a:r>
              <a:rPr/>
              <a:t>A system of </a:t>
            </a:r>
            <a:r>
              <a:rPr b="1"/>
              <a:t>robust legal frameworks</a:t>
            </a:r>
            <a:r>
              <a:rPr/>
              <a:t>, </a:t>
            </a:r>
            <a:r>
              <a:rPr b="1"/>
              <a:t>ethical guidelines</a:t>
            </a:r>
            <a:r>
              <a:rPr/>
              <a:t>, </a:t>
            </a:r>
            <a:r>
              <a:rPr b="1"/>
              <a:t>standards</a:t>
            </a:r>
            <a:r>
              <a:rPr/>
              <a:t>, and </a:t>
            </a:r>
            <a:r>
              <a:rPr b="1"/>
              <a:t>processes</a:t>
            </a:r>
            <a:r>
              <a:rPr/>
              <a:t> that ensures an organisation’s data is </a:t>
            </a:r>
            <a:r>
              <a:rPr b="1"/>
              <a:t>accurate</a:t>
            </a:r>
            <a:r>
              <a:rPr/>
              <a:t>, </a:t>
            </a:r>
            <a:r>
              <a:rPr b="1"/>
              <a:t>consistent</a:t>
            </a:r>
            <a:r>
              <a:rPr/>
              <a:t>, </a:t>
            </a:r>
            <a:r>
              <a:rPr b="1"/>
              <a:t>secure</a:t>
            </a:r>
            <a:r>
              <a:rPr/>
              <a:t>, and </a:t>
            </a:r>
            <a:r>
              <a:rPr b="1"/>
              <a:t>compliant</a:t>
            </a:r>
            <a:r>
              <a:rPr/>
              <a:t> throughout its lifecycle.</a:t>
            </a:r>
          </a:p>
        </p:txBody>
      </p:sp>
      <p:pic>
        <p:nvPicPr>
          <p:cNvPr descr="../images/data_governance_infographic.jpg" id="0" name="Picture 1"/>
          <p:cNvPicPr>
            <a:picLocks noGrp="1" noChangeAspect="1"/>
          </p:cNvPicPr>
          <p:nvPr/>
        </p:nvPicPr>
        <p:blipFill>
          <a:blip r:embed="rId2"/>
          <a:stretch>
            <a:fillRect/>
          </a:stretch>
        </p:blipFill>
        <p:spPr bwMode="auto">
          <a:xfrm>
            <a:off x="4648200" y="1866900"/>
            <a:ext cx="4038600" cy="20447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lifecycle</a:t>
            </a:r>
          </a:p>
        </p:txBody>
      </p:sp>
      <p:pic>
        <p:nvPicPr>
          <p:cNvPr descr="../images/data_lifecycle.png" id="0" name="Picture 1"/>
          <p:cNvPicPr>
            <a:picLocks noGrp="1" noChangeAspect="1"/>
          </p:cNvPicPr>
          <p:nvPr/>
        </p:nvPicPr>
        <p:blipFill>
          <a:blip r:embed="rId2"/>
          <a:stretch>
            <a:fillRect/>
          </a:stretch>
        </p:blipFill>
        <p:spPr bwMode="auto">
          <a:xfrm>
            <a:off x="2286000" y="1193800"/>
            <a:ext cx="4572000" cy="33909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Public intent data</a:t>
            </a:r>
          </a:p>
          <a:p>
            <a:pPr lvl="0"/>
            <a:r>
              <a:rPr/>
              <a:t>Public intent data is data collected for public purposes.</a:t>
            </a:r>
          </a:p>
          <a:p>
            <a:pPr lvl="0"/>
            <a:r>
              <a:rPr/>
              <a:t>Public intent data is a foundation of public policies and can play a transformative role in the public sector.</a:t>
            </a:r>
          </a:p>
        </p:txBody>
      </p:sp>
      <p:sp>
        <p:nvSpPr>
          <p:cNvPr id="4" name="Content Placeholder 3"/>
          <p:cNvSpPr>
            <a:spLocks noGrp="1"/>
          </p:cNvSpPr>
          <p:nvPr>
            <p:ph idx="2" sz="half"/>
          </p:nvPr>
        </p:nvSpPr>
        <p:spPr/>
        <p:txBody>
          <a:bodyPr/>
          <a:lstStyle/>
          <a:p>
            <a:pPr lvl="0" indent="0" marL="0">
              <a:spcBef>
                <a:spcPts val="3000"/>
              </a:spcBef>
              <a:buNone/>
            </a:pPr>
            <a:r>
              <a:rPr b="1"/>
              <a:t>Private intent data</a:t>
            </a:r>
          </a:p>
          <a:p>
            <a:pPr lvl="0"/>
            <a:r>
              <a:rPr/>
              <a:t>Private intent data is data collected by the private sector as part of routine business processes.</a:t>
            </a:r>
          </a:p>
          <a:p>
            <a:pPr lvl="0"/>
            <a:r>
              <a:rPr/>
              <a:t>Private intent data can drive innovation, lower transaction costs, and improve productivity, competitiveness, and economic growth.</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Types of public intent data</a:t>
            </a:r>
          </a:p>
        </p:txBody>
      </p:sp>
      <p:sp>
        <p:nvSpPr>
          <p:cNvPr id="3" name="Content Placeholder 2"/>
          <p:cNvSpPr>
            <a:spLocks noGrp="1"/>
          </p:cNvSpPr>
          <p:nvPr>
            <p:ph idx="1"/>
          </p:nvPr>
        </p:nvSpPr>
        <p:spPr/>
        <p:txBody>
          <a:bodyPr/>
          <a:lstStyle/>
          <a:p>
            <a:pPr lvl="0"/>
            <a:r>
              <a:rPr/>
              <a:t>Administrative data</a:t>
            </a:r>
          </a:p>
          <a:p>
            <a:pPr lvl="0"/>
            <a:r>
              <a:rPr/>
              <a:t>Census data</a:t>
            </a:r>
          </a:p>
          <a:p>
            <a:pPr lvl="0"/>
            <a:r>
              <a:rPr/>
              <a:t>Sample surveys</a:t>
            </a:r>
          </a:p>
          <a:p>
            <a:pPr lvl="0"/>
            <a:r>
              <a:rPr/>
              <a:t>Citizen-generated data</a:t>
            </a:r>
          </a:p>
          <a:p>
            <a:pPr lvl="0"/>
            <a:r>
              <a:rPr/>
              <a:t>Machine-generated data</a:t>
            </a:r>
          </a:p>
          <a:p>
            <a:pPr lvl="0"/>
            <a:r>
              <a:rPr/>
              <a:t>Geospatial data</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Maximising value of public intent data</a:t>
            </a:r>
          </a:p>
        </p:txBody>
      </p:sp>
      <p:pic>
        <p:nvPicPr>
          <p:cNvPr descr="../images/data_value_maximise.png" id="0" name="Picture 1"/>
          <p:cNvPicPr>
            <a:picLocks noGrp="1" noChangeAspect="1"/>
          </p:cNvPicPr>
          <p:nvPr/>
        </p:nvPicPr>
        <p:blipFill>
          <a:blip r:embed="rId2"/>
          <a:stretch>
            <a:fillRect/>
          </a:stretch>
        </p:blipFill>
        <p:spPr bwMode="auto">
          <a:xfrm>
            <a:off x="457200" y="2095500"/>
            <a:ext cx="8229600" cy="16002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Three pathways for public intent data to add value</a:t>
            </a:r>
          </a:p>
        </p:txBody>
      </p:sp>
      <p:sp>
        <p:nvSpPr>
          <p:cNvPr id="3" name="Content Placeholder 2"/>
          <p:cNvSpPr>
            <a:spLocks noGrp="1"/>
          </p:cNvSpPr>
          <p:nvPr>
            <p:ph idx="1"/>
          </p:nvPr>
        </p:nvSpPr>
        <p:spPr/>
        <p:txBody>
          <a:bodyPr/>
          <a:lstStyle/>
          <a:p>
            <a:pPr lvl="0"/>
            <a:r>
              <a:rPr/>
              <a:t>Improving service delivery</a:t>
            </a:r>
          </a:p>
          <a:p>
            <a:pPr lvl="0"/>
            <a:r>
              <a:rPr/>
              <a:t>Prioritising scarce resources</a:t>
            </a:r>
          </a:p>
          <a:p>
            <a:pPr lvl="0"/>
            <a:r>
              <a:rPr/>
              <a:t>Holding government accountable and empowering individuals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Gaps in public intent data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Coverage is inadequate</a:t>
            </a:r>
          </a:p>
        </p:txBody>
      </p:sp>
      <p:sp>
        <p:nvSpPr>
          <p:cNvPr id="3" name="Content Placeholder 2"/>
          <p:cNvSpPr>
            <a:spLocks noGrp="1"/>
          </p:cNvSpPr>
          <p:nvPr>
            <p:ph idx="1" sz="half"/>
          </p:nvPr>
        </p:nvSpPr>
        <p:spPr/>
        <p:txBody>
          <a:bodyPr/>
          <a:lstStyle/>
          <a:p>
            <a:pPr lvl="0"/>
            <a:r>
              <a:rPr/>
              <a:t>Lack of </a:t>
            </a:r>
            <a:r>
              <a:rPr i="1"/>
              <a:t>timeliness</a:t>
            </a:r>
            <a:r>
              <a:rPr/>
              <a:t>, </a:t>
            </a:r>
            <a:r>
              <a:rPr i="1"/>
              <a:t>frequency</a:t>
            </a:r>
            <a:r>
              <a:rPr/>
              <a:t>, and </a:t>
            </a:r>
            <a:r>
              <a:rPr i="1"/>
              <a:t>completeness</a:t>
            </a:r>
            <a:r>
              <a:rPr/>
              <a:t>.</a:t>
            </a:r>
          </a:p>
          <a:p>
            <a:pPr lvl="0"/>
            <a:r>
              <a:rPr/>
              <a:t>Large gaps in geospatial data in lower-income countries</a:t>
            </a:r>
          </a:p>
        </p:txBody>
      </p:sp>
      <p:pic>
        <p:nvPicPr>
          <p:cNvPr descr="../images/data_gap_geospatial.png" id="0" name="Picture 1"/>
          <p:cNvPicPr>
            <a:picLocks noGrp="1" noChangeAspect="1"/>
          </p:cNvPicPr>
          <p:nvPr/>
        </p:nvPicPr>
        <p:blipFill>
          <a:blip r:embed="rId2"/>
          <a:stretch>
            <a:fillRect/>
          </a:stretch>
        </p:blipFill>
        <p:spPr bwMode="auto">
          <a:xfrm>
            <a:off x="4648200" y="1219200"/>
            <a:ext cx="4038600" cy="33401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quality is poor</a:t>
            </a:r>
          </a:p>
        </p:txBody>
      </p:sp>
      <p:sp>
        <p:nvSpPr>
          <p:cNvPr id="3" name="Content Placeholder 2"/>
          <p:cNvSpPr>
            <a:spLocks noGrp="1"/>
          </p:cNvSpPr>
          <p:nvPr>
            <p:ph idx="1" sz="half"/>
          </p:nvPr>
        </p:nvSpPr>
        <p:spPr/>
        <p:txBody>
          <a:bodyPr/>
          <a:lstStyle/>
          <a:p>
            <a:pPr lvl="0"/>
            <a:r>
              <a:rPr/>
              <a:t>Lack of </a:t>
            </a:r>
            <a:r>
              <a:rPr i="1"/>
              <a:t>granularity</a:t>
            </a:r>
            <a:r>
              <a:rPr/>
              <a:t>, </a:t>
            </a:r>
            <a:r>
              <a:rPr i="1"/>
              <a:t>accuracy</a:t>
            </a:r>
            <a:r>
              <a:rPr/>
              <a:t>, and </a:t>
            </a:r>
            <a:r>
              <a:rPr i="1"/>
              <a:t>comparability</a:t>
            </a:r>
            <a:r>
              <a:rPr/>
              <a:t>.</a:t>
            </a:r>
          </a:p>
          <a:p>
            <a:pPr lvl="0"/>
            <a:r>
              <a:rPr/>
              <a:t>Lack of data disaggregation</a:t>
            </a:r>
          </a:p>
          <a:p>
            <a:pPr lvl="0"/>
            <a:r>
              <a:rPr/>
              <a:t>Lower-income countries have less comparable poverty data</a:t>
            </a:r>
          </a:p>
        </p:txBody>
      </p:sp>
      <p:pic>
        <p:nvPicPr>
          <p:cNvPr descr="../images/data_comparability_poverty.png" id="0" name="Picture 1"/>
          <p:cNvPicPr>
            <a:picLocks noGrp="1" noChangeAspect="1"/>
          </p:cNvPicPr>
          <p:nvPr/>
        </p:nvPicPr>
        <p:blipFill>
          <a:blip r:embed="rId2"/>
          <a:stretch>
            <a:fillRect/>
          </a:stretch>
        </p:blipFill>
        <p:spPr bwMode="auto">
          <a:xfrm>
            <a:off x="4648200" y="1841500"/>
            <a:ext cx="4038600" cy="20828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easy to use</a:t>
            </a:r>
          </a:p>
        </p:txBody>
      </p:sp>
      <p:sp>
        <p:nvSpPr>
          <p:cNvPr id="3" name="Content Placeholder 2"/>
          <p:cNvSpPr>
            <a:spLocks noGrp="1"/>
          </p:cNvSpPr>
          <p:nvPr>
            <p:ph idx="1"/>
          </p:nvPr>
        </p:nvSpPr>
        <p:spPr/>
        <p:txBody>
          <a:bodyPr/>
          <a:lstStyle/>
          <a:p>
            <a:pPr lvl="0"/>
            <a:r>
              <a:rPr/>
              <a:t>Lack of </a:t>
            </a:r>
            <a:r>
              <a:rPr i="1"/>
              <a:t>accessibility</a:t>
            </a:r>
            <a:r>
              <a:rPr/>
              <a:t>, </a:t>
            </a:r>
            <a:r>
              <a:rPr i="1"/>
              <a:t>understandability</a:t>
            </a:r>
            <a:r>
              <a:rPr/>
              <a:t>, and </a:t>
            </a:r>
            <a:r>
              <a:rPr i="1"/>
              <a:t>interoperability</a:t>
            </a:r>
            <a:r>
              <a:rPr/>
              <a: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not safe to use</a:t>
            </a:r>
          </a:p>
        </p:txBody>
      </p:sp>
      <p:sp>
        <p:nvSpPr>
          <p:cNvPr id="3" name="Content Placeholder 2"/>
          <p:cNvSpPr>
            <a:spLocks noGrp="1"/>
          </p:cNvSpPr>
          <p:nvPr>
            <p:ph idx="1"/>
          </p:nvPr>
        </p:nvSpPr>
        <p:spPr/>
        <p:txBody>
          <a:bodyPr/>
          <a:lstStyle/>
          <a:p>
            <a:pPr lvl="0"/>
            <a:r>
              <a:rPr/>
              <a:t>Data not immune to influence from stakeholders</a:t>
            </a:r>
          </a:p>
          <a:p>
            <a:pPr lvl="0"/>
            <a:r>
              <a:rPr/>
              <a:t>Data not stored securely - too common in government and private sector databases</a:t>
            </a:r>
          </a:p>
          <a:p>
            <a:pPr lvl="0"/>
            <a:r>
              <a:rPr/>
              <a:t>Data not properly de-identified</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gaps persist</a:t>
            </a:r>
          </a:p>
        </p:txBody>
      </p:sp>
      <p:sp>
        <p:nvSpPr>
          <p:cNvPr id="3" name="Content Placeholder 2"/>
          <p:cNvSpPr>
            <a:spLocks noGrp="1"/>
          </p:cNvSpPr>
          <p:nvPr>
            <p:ph idx="1"/>
          </p:nvPr>
        </p:nvSpPr>
        <p:spPr/>
        <p:txBody>
          <a:bodyPr/>
          <a:lstStyle/>
          <a:p>
            <a:pPr lvl="0"/>
            <a:r>
              <a:rPr/>
              <a:t>Deficiencies in financing</a:t>
            </a:r>
          </a:p>
          <a:p>
            <a:pPr lvl="0"/>
            <a:r>
              <a:rPr/>
              <a:t>Deficiencies in technical capacity</a:t>
            </a:r>
          </a:p>
          <a:p>
            <a:pPr lvl="0"/>
            <a:r>
              <a:rPr/>
              <a:t>Deficiencies in governance</a:t>
            </a:r>
          </a:p>
          <a:p>
            <a:pPr lvl="0"/>
            <a:r>
              <a:rPr/>
              <a:t>Deficiencies in data demand</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 the production process</a:t>
            </a:r>
          </a:p>
        </p:txBody>
      </p:sp>
      <p:pic>
        <p:nvPicPr>
          <p:cNvPr descr="../images/data_in_production.png" id="0" name="Picture 1"/>
          <p:cNvPicPr>
            <a:picLocks noGrp="1" noChangeAspect="1"/>
          </p:cNvPicPr>
          <p:nvPr/>
        </p:nvPicPr>
        <p:blipFill>
          <a:blip r:embed="rId2"/>
          <a:stretch>
            <a:fillRect/>
          </a:stretch>
        </p:blipFill>
        <p:spPr bwMode="auto">
          <a:xfrm>
            <a:off x="1727200" y="1193800"/>
            <a:ext cx="5676900" cy="33909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Role of data in economic activity</a:t>
            </a:r>
          </a:p>
        </p:txBody>
      </p:sp>
      <p:pic>
        <p:nvPicPr>
          <p:cNvPr descr="../images/data_in_economic_activity.png" id="0" name="Picture 1"/>
          <p:cNvPicPr>
            <a:picLocks noGrp="1" noChangeAspect="1"/>
          </p:cNvPicPr>
          <p:nvPr/>
        </p:nvPicPr>
        <p:blipFill>
          <a:blip r:embed="rId2"/>
          <a:stretch>
            <a:fillRect/>
          </a:stretch>
        </p:blipFill>
        <p:spPr bwMode="auto">
          <a:xfrm>
            <a:off x="2413000" y="1193800"/>
            <a:ext cx="4305300" cy="33909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Data inputs for economic activity</a:t>
            </a:r>
          </a:p>
        </p:txBody>
      </p:sp>
      <p:sp>
        <p:nvSpPr>
          <p:cNvPr id="3" name="Content Placeholder 2"/>
          <p:cNvSpPr>
            <a:spLocks noGrp="1"/>
          </p:cNvSpPr>
          <p:nvPr>
            <p:ph idx="1"/>
          </p:nvPr>
        </p:nvSpPr>
        <p:spPr/>
        <p:txBody>
          <a:bodyPr/>
          <a:lstStyle/>
          <a:p>
            <a:pPr lvl="0"/>
            <a:r>
              <a:rPr/>
              <a:t>Data collection by firms - </a:t>
            </a:r>
            <a:r>
              <a:rPr b="1"/>
              <a:t>“digital footprint”</a:t>
            </a:r>
          </a:p>
          <a:p>
            <a:pPr lvl="0"/>
            <a:r>
              <a:rPr/>
              <a:t>Use of public intent data by businesses</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Sectors transformed by use of data in the production process</a:t>
            </a:r>
          </a:p>
        </p:txBody>
      </p:sp>
      <p:sp>
        <p:nvSpPr>
          <p:cNvPr id="3" name="Content Placeholder 2"/>
          <p:cNvSpPr>
            <a:spLocks noGrp="1"/>
          </p:cNvSpPr>
          <p:nvPr>
            <p:ph idx="1"/>
          </p:nvPr>
        </p:nvSpPr>
        <p:spPr/>
        <p:txBody>
          <a:bodyPr/>
          <a:lstStyle/>
          <a:p>
            <a:pPr lvl="0"/>
            <a:r>
              <a:rPr/>
              <a:t>Finance</a:t>
            </a:r>
          </a:p>
          <a:p>
            <a:pPr lvl="0"/>
            <a:r>
              <a:rPr/>
              <a:t>Agriculture</a:t>
            </a:r>
          </a:p>
          <a:p>
            <a:pPr lvl="0"/>
            <a:r>
              <a:rPr/>
              <a:t>Health</a:t>
            </a:r>
          </a:p>
          <a:p>
            <a:pPr lvl="0"/>
            <a:r>
              <a:rPr/>
              <a:t>Education</a:t>
            </a:r>
          </a:p>
          <a:p>
            <a:pPr lvl="0"/>
            <a:r>
              <a:rPr/>
              <a:t>Transport and logistics</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Finance sector</a:t>
            </a:r>
          </a:p>
        </p:txBody>
      </p:sp>
      <p:sp>
        <p:nvSpPr>
          <p:cNvPr id="3" name="Content Placeholder 2"/>
          <p:cNvSpPr>
            <a:spLocks noGrp="1"/>
          </p:cNvSpPr>
          <p:nvPr>
            <p:ph idx="1"/>
          </p:nvPr>
        </p:nvSpPr>
        <p:spPr/>
        <p:txBody>
          <a:bodyPr/>
          <a:lstStyle/>
          <a:p>
            <a:pPr lvl="0"/>
            <a:r>
              <a:rPr b="1"/>
              <a:t>Alternative credit scoring algorithms</a:t>
            </a:r>
            <a:r>
              <a:rPr/>
              <a:t> - use of an individual’s digital footprint to train machine learning algorithms to identify, score, and underwrite credit.</a:t>
            </a:r>
          </a:p>
          <a:p>
            <a:pPr lvl="0"/>
            <a:r>
              <a:rPr b="1"/>
              <a:t>Payment systems</a:t>
            </a:r>
            <a:r>
              <a:rPr/>
              <a:t> - digital payments; mobile payments.</a:t>
            </a:r>
          </a:p>
          <a:p>
            <a:pPr lvl="0"/>
            <a:r>
              <a:rPr b="1"/>
              <a:t>Use of transaction data for product development</a:t>
            </a:r>
            <a:r>
              <a:rPr/>
              <a:t> - Mastercard’s Tourism Insights service allows leveraging big data to provide information on travellers’ preferences.</a:t>
            </a:r>
          </a:p>
          <a:p>
            <a:pPr lvl="0"/>
            <a:r>
              <a:rPr b="1"/>
              <a:t>Distributed ledger technology</a:t>
            </a:r>
            <a:r>
              <a:rPr/>
              <a:t> - blockchain; eliminates financial intermediaries; embedding rules into smart contracts simplifies negotiation and verification processes.</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Agriculture sector</a:t>
            </a:r>
          </a:p>
        </p:txBody>
      </p:sp>
      <p:sp>
        <p:nvSpPr>
          <p:cNvPr id="3" name="Content Placeholder 2"/>
          <p:cNvSpPr>
            <a:spLocks noGrp="1"/>
          </p:cNvSpPr>
          <p:nvPr>
            <p:ph idx="1"/>
          </p:nvPr>
        </p:nvSpPr>
        <p:spPr/>
        <p:txBody>
          <a:bodyPr/>
          <a:lstStyle/>
          <a:p>
            <a:pPr lvl="0"/>
            <a:r>
              <a:rPr/>
              <a:t>Remote sensing and geographic information systems - analysis of these data provide insights into farming operations; smart farming</a:t>
            </a:r>
          </a:p>
          <a:p>
            <a:pPr lvl="0"/>
            <a:r>
              <a:rPr/>
              <a:t>Internet-of-things (IoT) and embedded devices for monitoring farm and livestock conditions and farm operations</a:t>
            </a:r>
          </a:p>
          <a:p>
            <a:pPr lvl="0"/>
            <a:r>
              <a:rPr/>
              <a:t>Use of data to provide a range of services along the agriculture value chain</a:t>
            </a:r>
          </a:p>
          <a:p>
            <a:pPr lvl="0"/>
            <a:r>
              <a:rPr/>
              <a:t>Use of data to improve food traceability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Education</a:t>
            </a:r>
          </a:p>
        </p:txBody>
      </p:sp>
      <p:sp>
        <p:nvSpPr>
          <p:cNvPr id="3" name="Content Placeholder 2"/>
          <p:cNvSpPr>
            <a:spLocks noGrp="1"/>
          </p:cNvSpPr>
          <p:nvPr>
            <p:ph idx="1"/>
          </p:nvPr>
        </p:nvSpPr>
        <p:spPr/>
        <p:txBody>
          <a:bodyPr/>
          <a:lstStyle/>
          <a:p>
            <a:pPr lvl="0"/>
            <a:r>
              <a:rPr/>
              <a:t>video conferencing/video communication tools</a:t>
            </a:r>
          </a:p>
          <a:p>
            <a:pPr lvl="0"/>
            <a:r>
              <a:rPr/>
              <a:t>digital supplemental learning platforms</a:t>
            </a:r>
          </a:p>
          <a:p>
            <a:pPr lvl="0"/>
            <a:r>
              <a:rPr/>
              <a:t>intelligent adaptive education</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Transport and logistics sector</a:t>
            </a:r>
          </a:p>
        </p:txBody>
      </p:sp>
      <p:sp>
        <p:nvSpPr>
          <p:cNvPr id="3" name="Content Placeholder 2"/>
          <p:cNvSpPr>
            <a:spLocks noGrp="1"/>
          </p:cNvSpPr>
          <p:nvPr>
            <p:ph idx="1"/>
          </p:nvPr>
        </p:nvSpPr>
        <p:spPr/>
        <p:txBody>
          <a:bodyPr/>
          <a:lstStyle/>
          <a:p>
            <a:pPr lvl="0"/>
            <a:r>
              <a:rPr/>
              <a:t>Digital freight matching</a:t>
            </a:r>
          </a:p>
          <a:p>
            <a:pPr lvl="0"/>
            <a:r>
              <a:rPr/>
              <a:t>Digital courier logistics</a:t>
            </a:r>
          </a:p>
          <a:p>
            <a:pPr lvl="0"/>
            <a:r>
              <a:rPr/>
              <a:t>IoT-enabled cold chain</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to market structure from platform firms</a:t>
            </a:r>
          </a:p>
        </p:txBody>
      </p:sp>
      <p:pic>
        <p:nvPicPr>
          <p:cNvPr descr="../images/data_platform_risks.png" id="0" name="Picture 1"/>
          <p:cNvPicPr>
            <a:picLocks noGrp="1" noChangeAspect="1"/>
          </p:cNvPicPr>
          <p:nvPr/>
        </p:nvPicPr>
        <p:blipFill>
          <a:blip r:embed="rId2"/>
          <a:stretch>
            <a:fillRect/>
          </a:stretch>
        </p:blipFill>
        <p:spPr bwMode="auto">
          <a:xfrm>
            <a:off x="533400" y="1193800"/>
            <a:ext cx="8089900" cy="33909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Risks and adverse outcomes of data-driven businesses</a:t>
            </a:r>
          </a:p>
        </p:txBody>
      </p:sp>
      <p:sp>
        <p:nvSpPr>
          <p:cNvPr id="3" name="Content Placeholder 2"/>
          <p:cNvSpPr>
            <a:spLocks noGrp="1"/>
          </p:cNvSpPr>
          <p:nvPr>
            <p:ph idx="1"/>
          </p:nvPr>
        </p:nvSpPr>
        <p:spPr/>
        <p:txBody>
          <a:bodyPr/>
          <a:lstStyle/>
          <a:p>
            <a:pPr lvl="0"/>
            <a:r>
              <a:rPr/>
              <a:t>Increase propensity of dominant firms emerging</a:t>
            </a:r>
          </a:p>
          <a:p>
            <a:pPr lvl="0"/>
            <a:r>
              <a:rPr/>
              <a:t>Potential for exploitation of individuals</a:t>
            </a:r>
          </a:p>
          <a:p>
            <a:pPr lvl="0"/>
            <a:r>
              <a:rPr/>
              <a:t>Potential to increase inequality within and among countries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Session 1</dc:title>
  <dc:creator/>
  <cp:keywords/>
  <dcterms:created xsi:type="dcterms:W3CDTF">2025-12-23T23:30:58Z</dcterms:created>
  <dcterms:modified xsi:type="dcterms:W3CDTF">2025-12-23T23:30:58Z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biblio-config">
    <vt:lpwstr>True</vt:lpwstr>
  </property>
  <property fmtid="{D5CDD505-2E9C-101B-9397-08002B2CF9AE}" pid="3" name="header-includes">
    <vt:lpwstr/>
  </property>
  <property fmtid="{D5CDD505-2E9C-101B-9397-08002B2CF9AE}" pid="4" name="include-after">
    <vt:lpwstr/>
  </property>
  <property fmtid="{D5CDD505-2E9C-101B-9397-08002B2CF9AE}" pid="5" name="include-before">
    <vt:lpwstr/>
  </property>
  <property fmtid="{D5CDD505-2E9C-101B-9397-08002B2CF9AE}" pid="6" name="labels">
    <vt:lpwstr/>
  </property>
  <property fmtid="{D5CDD505-2E9C-101B-9397-08002B2CF9AE}" pid="7" name="subtitle">
    <vt:lpwstr>Global landscape of data governance institutions and frameworks</vt:lpwstr>
  </property>
  <property fmtid="{D5CDD505-2E9C-101B-9397-08002B2CF9AE}" pid="8" name="title-slide-attributes">
    <vt:lpwstr/>
  </property>
  <property fmtid="{D5CDD505-2E9C-101B-9397-08002B2CF9AE}" pid="9" name="toc-title">
    <vt:lpwstr>Table of contents</vt:lpwstr>
  </property>
</Properties>
</file>