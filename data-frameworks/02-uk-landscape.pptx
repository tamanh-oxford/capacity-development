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4.png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v.uk/government/organisations/centre-for-data-ethics-and-innovation" TargetMode="External" /><Relationship Id="rId3" Type="http://schemas.openxmlformats.org/officeDocument/2006/relationships/hyperlink" Target="https://www.turing.ac.uk/" TargetMode="Externa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recoverytrial.net/" TargetMode="External" /><Relationship Id="rId3" Type="http://schemas.openxmlformats.org/officeDocument/2006/relationships/hyperlink" Target="https://digital.nhs.uk/services/nhs-digitrials" TargetMode="External" /><Relationship Id="rId4" Type="http://schemas.openxmlformats.org/officeDocument/2006/relationships/hyperlink" Target="https://www.hdruk.ac.uk/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v.uk/guidance/ministry-of-justice-data-first" TargetMode="External" /><Relationship Id="rId3" Type="http://schemas.openxmlformats.org/officeDocument/2006/relationships/hyperlink" Target="https://www.gov.uk/government/organisations/ministry-of-justice" TargetMode="External" /><Relationship Id="rId4" Type="http://schemas.openxmlformats.org/officeDocument/2006/relationships/hyperlink" Target="https://www.ukri.org/" TargetMode="External" /><Relationship Id="rId5" Type="http://schemas.openxmlformats.org/officeDocument/2006/relationships/hyperlink" Target="https://www.ons.gov.uk/aboutus/whatwedo/statistics/requestingstatistics/secureresearchservice" TargetMode="External" /><Relationship Id="rId6" Type="http://schemas.openxmlformats.org/officeDocument/2006/relationships/hyperlink" Target="https://www.gov.uk/data-ethics-guidance/the-five-safes-framework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Case Study: The UK Data Landscape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s960_NDS_GovUK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National Data Strategy Framework</a:t>
            </a:r>
          </a:p>
        </p:txBody>
      </p:sp>
      <p:pic>
        <p:nvPicPr>
          <p:cNvPr descr="../images/nds_strategy_framework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pillars of the UK National Data Strategy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reaches its full potential only when it is high-quality, fit for purpose, and recorded in standardised formats.</a:t>
            </a:r>
          </a:p>
          <a:p>
            <a:pPr lvl="0"/>
            <a:r>
              <a:rPr/>
              <a:t>It must be stored on modern, future-proof systems that ensure it is easy to find, access, combine, and reuse.</a:t>
            </a:r>
          </a:p>
          <a:p>
            <a:pPr lvl="0"/>
            <a:r>
              <a:rPr/>
              <a:t>By raising data quality, we can use it more effectively and achieve stronger insights and improved outcomes.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Making the most of data requires a strong pool of people with data skills.</a:t>
            </a:r>
          </a:p>
          <a:p>
            <a:pPr lvl="0"/>
            <a:r>
              <a:rPr/>
              <a:t>This involves providing the right training and knowledge through the education system.</a:t>
            </a:r>
          </a:p>
          <a:p>
            <a:pPr lvl="0"/>
            <a:r>
              <a:rPr/>
              <a:t>It also means ensuring individuals can keep developing and updating their data skills throughout their lives.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availability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has the greatest impact when it is easy to access, move, and reuse.</a:t>
            </a:r>
          </a:p>
          <a:p>
            <a:pPr lvl="0"/>
            <a:r>
              <a:rPr/>
              <a:t>Achieving this involves encouraging better coordination and sharing of high-quality data among organisations in the public, private, and third sectors.</a:t>
            </a:r>
          </a:p>
          <a:p>
            <a:pPr lvl="0"/>
            <a:r>
              <a:rPr/>
              <a:t>It also requires ensuring strong and appropriate protections for the secure international flow of data.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Responsible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 we expand the use of data, it must be managed in a responsible manner.</a:t>
            </a:r>
          </a:p>
          <a:p>
            <a:pPr lvl="0"/>
            <a:r>
              <a:rPr/>
              <a:t>Data use should always be lawful, secure, fair, ethical, sustainable, and accountable.</a:t>
            </a:r>
          </a:p>
          <a:p>
            <a:pPr lvl="0"/>
            <a:r>
              <a:rPr/>
              <a:t>We must also ensure that these safeguards continue to enable innovation and research.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priority areas of action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Unlocking the value of data across the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Full potential of data is not being realised because important information is not reaching the people and places that need it.</a:t>
            </a:r>
          </a:p>
          <a:p>
            <a:pPr lvl="0"/>
            <a:r>
              <a:rPr/>
              <a:t>The initial focus is on creating the right conditions for data to be usable, accessible, and widely available throughout the economy.</a:t>
            </a:r>
          </a:p>
          <a:p>
            <a:pPr lvl="0"/>
            <a:r>
              <a:rPr/>
              <a:t>Ensure strong protection for individuals’ data rights and for the intellectual property of private enterprises.</a:t>
            </a:r>
          </a:p>
          <a:p>
            <a:pPr lvl="0"/>
            <a:r>
              <a:rPr/>
              <a:t>Careful, evidence-based approach to design a clear policy framework that identifies the government interventions needed to achieve these goals.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Securing a pro-growth and trusted data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revolution to benefit businesses of all sizes.</a:t>
            </a:r>
          </a:p>
          <a:p>
            <a:pPr lvl="0"/>
            <a:r>
              <a:rPr/>
              <a:t>Goal of creating a data regime that is easy for companies to work with and supports responsible, secure data use.</a:t>
            </a:r>
          </a:p>
          <a:p>
            <a:pPr lvl="0"/>
            <a:r>
              <a:rPr/>
              <a:t>Reducing unnecessary regulatory uncertainty or risk to help innovators drive economic growth.</a:t>
            </a:r>
          </a:p>
          <a:p>
            <a:pPr lvl="0"/>
            <a:r>
              <a:rPr/>
              <a:t>The public feels confident and empowered in how their data is used, including personal data.</a:t>
            </a:r>
          </a:p>
          <a:p>
            <a:pPr lvl="0"/>
            <a:r>
              <a:rPr/>
              <a:t>Encourage competition and innovation while maintaining high data protection standards.</a:t>
            </a:r>
          </a:p>
          <a:p>
            <a:pPr lvl="0"/>
            <a:r>
              <a:rPr/>
              <a:t>Build trust without placing unnecessary barriers on data use.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Transforming government’s use of data to drive efficiency and improve public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Significant untapped potential in how government and public services use and share data to support people.</a:t>
            </a:r>
          </a:p>
          <a:p>
            <a:pPr lvl="0"/>
            <a:r>
              <a:rPr/>
              <a:t>Improve how information is managed, used, and shared across government.</a:t>
            </a:r>
          </a:p>
          <a:p>
            <a:pPr lvl="0"/>
            <a:r>
              <a:rPr/>
              <a:t>Requires a coordinated, whole-government approach that aligns around best practices and common standards for deriving value and insight from data.</a:t>
            </a:r>
          </a:p>
          <a:p>
            <a:pPr lvl="0"/>
            <a:r>
              <a:rPr/>
              <a:t>Building a secure, connected, and interoperable data infrastructure with appropriate safeguards.</a:t>
            </a:r>
          </a:p>
          <a:p>
            <a:pPr lvl="0"/>
            <a:r>
              <a:rPr/>
              <a:t>Developing strong data skills and leadership within the public sector is essential to unlock data’s full potential.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Ensuring the security and resilience of the infrastructure on which data relies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Systems that support data must be safe and secure.</a:t>
            </a:r>
          </a:p>
          <a:p>
            <a:pPr lvl="0"/>
            <a:r>
              <a:rPr/>
              <a:t>Data use infrastructure is a critical national asset and should be protected from security threats and other risks, including service disruptions.</a:t>
            </a:r>
          </a:p>
          <a:p>
            <a:pPr lvl="0"/>
            <a:r>
              <a:rPr/>
              <a:t>Although managing these risks is partly a commercial responsibility, the government must ensure that data and its supporting infrastructure are resilient to both existing and emerging threats.</a:t>
            </a:r>
          </a:p>
          <a:p>
            <a:pPr lvl="0"/>
            <a:r>
              <a:rPr/>
              <a:t>Strengthening this resilience is essential for protecting and sustaining the growing economy.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Championing the international flow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Cross-border data flows drive global business operations, supply chains, and trade, supporting economic growth worldwide.</a:t>
            </a:r>
          </a:p>
          <a:p>
            <a:pPr lvl="0"/>
            <a:r>
              <a:rPr/>
              <a:t>Data movement also provides social benefits, such as enabling salary payments and helping people stay connected across long distances.</a:t>
            </a:r>
          </a:p>
          <a:p>
            <a:pPr lvl="0"/>
            <a:r>
              <a:rPr/>
              <a:t>Sharing health data can advance vital scientific research and support coordinated international responses to global health emergencies.</a:t>
            </a:r>
          </a:p>
          <a:p>
            <a:pPr lvl="0"/>
            <a:r>
              <a:rPr/>
              <a:t>Promote strong domestic data practices and work with international partners to avoid unnecessary barriers created by national borders or fragmented regulations.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opportunity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Boosting productivity and trade - digitally-delivered 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Exports</a:t>
            </a:r>
          </a:p>
        </p:txBody>
      </p:sp>
      <p:pic>
        <p:nvPicPr>
          <p:cNvPr descr="../images/uk_remote_services_expo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4200" y="1625600"/>
            <a:ext cx="37719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Imports</a:t>
            </a:r>
          </a:p>
        </p:txBody>
      </p:sp>
      <p:pic>
        <p:nvPicPr>
          <p:cNvPr descr="../images/uk_remote_services_impor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62500" y="1625600"/>
            <a:ext cx="37719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Boosting productivity and trade - Transport for London open data</a:t>
            </a:r>
          </a:p>
        </p:txBody>
      </p:sp>
      <p:pic>
        <p:nvPicPr>
          <p:cNvPr descr="../images/uk_tfl_open_da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096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Boosting productivity and trade - UK government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has committed to raising research and development investment, majority of which is data-intensive, to 2.4% of GDP by 2027.</a:t>
            </a:r>
          </a:p>
          <a:p>
            <a:pPr lvl="0"/>
            <a:r>
              <a:rPr/>
              <a:t>New institutions have been created, including the </a:t>
            </a:r>
            <a:r>
              <a:rPr>
                <a:hlinkClick r:id="rId2"/>
              </a:rPr>
              <a:t>Centre for Data Ethics and Innovation (CDEI)</a:t>
            </a:r>
            <a:r>
              <a:rPr/>
              <a:t> and the </a:t>
            </a:r>
            <a:r>
              <a:rPr>
                <a:hlinkClick r:id="rId3"/>
              </a:rPr>
              <a:t>Alan Turing Institute</a:t>
            </a:r>
            <a:r>
              <a:rPr/>
              <a:t>.</a:t>
            </a:r>
          </a:p>
          <a:p>
            <a:pPr lvl="0"/>
            <a:r>
              <a:rPr/>
              <a:t>The government has introduced new data science and AI conversion courses.</a:t>
            </a:r>
          </a:p>
          <a:p>
            <a:pPr lvl="0"/>
            <a:r>
              <a:rPr/>
              <a:t>It has undertaken pioneering work on </a:t>
            </a:r>
            <a:r>
              <a:rPr i="1"/>
              <a:t>“data trusts,”</a:t>
            </a:r>
            <a:r>
              <a:rPr/>
              <a:t> a new framework for data sharing.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Supporting new businesses and jobs - digital economy and transport sector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Gross value added (GVA)</a:t>
            </a:r>
          </a:p>
        </p:txBody>
      </p:sp>
      <p:pic>
        <p:nvPicPr>
          <p:cNvPr descr="../images/uk_transport_gv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47900"/>
            <a:ext cx="40386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Jobs</a:t>
            </a:r>
          </a:p>
        </p:txBody>
      </p:sp>
      <p:pic>
        <p:nvPicPr>
          <p:cNvPr descr="../images/uk_transport_job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35500" y="2070100"/>
            <a:ext cx="40386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Increasing the speed, efficiency and scope of scientific research - NHS and clinical trials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data-driven clinical trial to tackle coronavirus - the </a:t>
            </a:r>
            <a:r>
              <a:rPr>
                <a:hlinkClick r:id="rId2"/>
              </a:rPr>
              <a:t>RECOVERY</a:t>
            </a:r>
            <a:r>
              <a:rPr/>
              <a:t> trial.</a:t>
            </a:r>
          </a:p>
          <a:p>
            <a:pPr lvl="0"/>
            <a:r>
              <a:rPr/>
              <a:t>using NHS electronic health records to identify and enable individuals to participate from across the UK.</a:t>
            </a:r>
          </a:p>
          <a:p>
            <a:pPr lvl="0"/>
            <a:r>
              <a:rPr/>
              <a:t>clinical trials normally take months to set up but RECOVERY was set up in a matter of days.</a:t>
            </a:r>
          </a:p>
          <a:p>
            <a:pPr lvl="0"/>
            <a:r>
              <a:rPr/>
              <a:t>12,000 patients from 176 NHS hospital organisations were enrolled in the trial with data being tracked and analysed.</a:t>
            </a:r>
          </a:p>
          <a:p>
            <a:pPr lvl="0"/>
            <a:r>
              <a:rPr/>
              <a:t>Within 100 days, the trial identified the world’s first coronavirus treatment proven to save lives – </a:t>
            </a:r>
            <a:r>
              <a:rPr i="1"/>
              <a:t>Dexamethasone</a:t>
            </a:r>
            <a:r>
              <a:rPr/>
              <a:t>.</a:t>
            </a:r>
          </a:p>
          <a:p>
            <a:pPr lvl="0"/>
            <a:r>
              <a:rPr/>
              <a:t>RECOVERY was supported by </a:t>
            </a:r>
            <a:r>
              <a:rPr>
                <a:hlinkClick r:id="rId3"/>
              </a:rPr>
              <a:t>NHS DigiTrials</a:t>
            </a:r>
            <a:r>
              <a:rPr/>
              <a:t> and the </a:t>
            </a:r>
            <a:r>
              <a:rPr>
                <a:hlinkClick r:id="rId4"/>
              </a:rPr>
              <a:t>Health Data Research UK</a:t>
            </a:r>
            <a:r>
              <a:rPr/>
              <a:t>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Driving better delivery of policy and public services - Data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2"/>
              </a:rPr>
              <a:t>Data First</a:t>
            </a:r>
            <a:r>
              <a:rPr/>
              <a:t> is a major data-linking programme run by the </a:t>
            </a:r>
            <a:r>
              <a:rPr>
                <a:hlinkClick r:id="rId3"/>
              </a:rPr>
              <a:t>Ministry of Justice (MoJ)</a:t>
            </a:r>
            <a:r>
              <a:rPr/>
              <a:t> and funded by </a:t>
            </a:r>
            <a:r>
              <a:rPr>
                <a:hlinkClick r:id="rId4"/>
              </a:rPr>
              <a:t>UK Research and Innovation</a:t>
            </a:r>
            <a:r>
              <a:rPr/>
              <a:t>.</a:t>
            </a:r>
          </a:p>
          <a:p>
            <a:pPr lvl="0"/>
            <a:r>
              <a:rPr/>
              <a:t>It provides secure access to anonymised, linked administrative datasets from the MoJ and its agencies, with the ability to connect these to data from other departments (e.g., the Department for Education).</a:t>
            </a:r>
          </a:p>
          <a:p>
            <a:pPr lvl="0"/>
            <a:r>
              <a:rPr/>
              <a:t>The programme helps researchers analyse how people interact with the justice system over time and identify factors linked to frequent court use.</a:t>
            </a:r>
          </a:p>
          <a:p>
            <a:pPr lvl="0"/>
            <a:r>
              <a:rPr/>
              <a:t>It enables deeper insight into how individuals’ social, economic and educational backgrounds shape their justice system experiences and outcomes.</a:t>
            </a:r>
          </a:p>
          <a:p>
            <a:pPr lvl="0"/>
            <a:r>
              <a:rPr/>
              <a:t>These insights will support more effective, evidence-based policymaking, improved services, and reduced costs.</a:t>
            </a:r>
          </a:p>
          <a:p>
            <a:pPr lvl="0"/>
            <a:r>
              <a:rPr/>
              <a:t>Data is accessed through the </a:t>
            </a:r>
            <a:r>
              <a:rPr>
                <a:hlinkClick r:id="rId5"/>
              </a:rPr>
              <a:t>ONS Secure Research Server</a:t>
            </a:r>
            <a:r>
              <a:rPr/>
              <a:t>, which meets high standards of security and data protection under the </a:t>
            </a:r>
            <a:r>
              <a:rPr>
                <a:hlinkClick r:id="rId6"/>
              </a:rPr>
              <a:t>Five Safes framework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Creating a fairer society for all - ONS domestic abuse statistics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ONS domestic abuse publication combines data from multiple sources—including surveys, police records, government bodies, and support services—to provide a more complete national and local picture of domestic abuse.</a:t>
            </a:r>
          </a:p>
          <a:p>
            <a:pPr lvl="0"/>
            <a:r>
              <a:rPr/>
              <a:t>Integrating these data sources helps improve understanding of victims’ experiences and assess how the criminal justice system responds to perpetrators.</a:t>
            </a:r>
          </a:p>
          <a:p>
            <a:pPr lvl="0"/>
            <a:r>
              <a:rPr/>
              <a:t>An accompanying interactive data tool allows users to explore and compare statistics by police force area, helping inform the questions and priorities for agencies addressing domestic abuse.</a:t>
            </a:r>
          </a:p>
          <a:p>
            <a:pPr lvl="0"/>
            <a:r>
              <a:rPr/>
              <a:t>These statistics also contribute to tracking the UK’s progress toward the UN’s 17 Sustainable Development Goals under the 2030 Agenda.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</dc:title>
  <dc:creator>Ernest Guevarra</dc:creator>
  <cp:keywords/>
  <dcterms:created xsi:type="dcterms:W3CDTF">2026-01-05T15:13:47Z</dcterms:created>
  <dcterms:modified xsi:type="dcterms:W3CDTF">2026-01-05T15:13:47Z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Case Study: The UK Data Landscape</vt:lpwstr>
  </property>
  <property fmtid="{D5CDD505-2E9C-101B-9397-08002B2CF9AE}" pid="12" name="title-slide-attributes">
    <vt:lpwstr/>
  </property>
  <property fmtid="{D5CDD505-2E9C-101B-9397-08002B2CF9AE}" pid="13" name="toc-title">
    <vt:lpwstr>Table of contents</vt:lpwstr>
  </property>
</Properties>
</file>