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g" ContentType="image/jpeg"/>
  <Default Extension="png" ContentType="image/png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3" Type="http://schemas.openxmlformats.org/officeDocument/2006/relationships/viewProps" Target="viewProps.xml" /><Relationship Id="rId12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15" Type="http://schemas.openxmlformats.org/officeDocument/2006/relationships/tableStyles" Target="tableStyles.xml" /><Relationship Id="rId14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1.jpg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2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Relationship Id="rId2" Type="http://schemas.openxmlformats.org/officeDocument/2006/relationships/image" Target="../media/image3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Session 4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Case Study: The United Nations and its technological and data challenges</a:t>
            </a:r>
            <a:br/>
            <a:br/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../images/un80_logo_card_16x9_0.jp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62100" y="1193800"/>
            <a:ext cx="60325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services, lagging in a digital age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system’s technology infrastructure is fragmented, expensive, and not strong enough for today’s digital demands.</a:t>
            </a:r>
          </a:p>
          <a:p>
            <a:pPr lvl="0"/>
            <a:r>
              <a:rPr/>
              <a:t>Digital advancements, including artificial intelligence, are reshaping the world, but the UN’s tech capabilities have not kept pace.</a:t>
            </a:r>
          </a:p>
          <a:p>
            <a:pPr lvl="0"/>
            <a:r>
              <a:rPr/>
              <a:t>Over </a:t>
            </a:r>
            <a:r>
              <a:rPr b="1"/>
              <a:t>$2 billion</a:t>
            </a:r>
            <a:r>
              <a:rPr/>
              <a:t> is spent each year on software, cloud services, connectivity, and related support.</a:t>
            </a:r>
          </a:p>
          <a:p>
            <a:pPr lvl="0"/>
            <a:r>
              <a:rPr/>
              <a:t>Much of this spending happens in isolation, without scale, leading to higher costs, duplication, and weak interoperability.</a:t>
            </a:r>
          </a:p>
          <a:p>
            <a:pPr lvl="0"/>
            <a:r>
              <a:rPr/>
              <a:t>These inefficiencies slow the UN’s ability to modernise and build future-ready capabilities.</a:t>
            </a:r>
          </a:p>
          <a:p>
            <a:pPr lvl="0"/>
            <a:r>
              <a:rPr/>
              <a:t>To remain credible and effective, the UN system must accelerate its digital adaptation.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Costly and fragmented technology</a:t>
            </a:r>
          </a:p>
        </p:txBody>
      </p:sp>
      <p:pic>
        <p:nvPicPr>
          <p:cNvPr descr="../images/un80_costly_technolog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57200" y="1892300"/>
            <a:ext cx="8229600" cy="20066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aims to harness technology responsibly to transform all aspects of its work.</a:t>
            </a:r>
          </a:p>
          <a:p>
            <a:pPr lvl="0"/>
            <a:r>
              <a:rPr/>
              <a:t>Shared ICT services and the UN 2.0 Agenda will guide this transformation.</a:t>
            </a:r>
          </a:p>
          <a:p>
            <a:pPr lvl="0"/>
            <a:r>
              <a:rPr/>
              <a:t>A new </a:t>
            </a:r>
            <a:r>
              <a:rPr b="1"/>
              <a:t>Technology Accelerator Platform</a:t>
            </a:r>
            <a:r>
              <a:rPr/>
              <a:t> will act as the system’s engine for change.</a:t>
            </a:r>
          </a:p>
          <a:p>
            <a:pPr lvl="0"/>
            <a:r>
              <a:rPr/>
              <a:t>It will modernise internal UN operations.</a:t>
            </a:r>
          </a:p>
          <a:p>
            <a:pPr lvl="0"/>
            <a:r>
              <a:rPr/>
              <a:t>It will also enhance the UN’s ability to support Member States in adopting digital and AI solutions effectively and responsibly.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Fragmented data, missed opportunities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problem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UN system serves as a major custodian of global public data, statistics, and insights on topics ranging from population trends to climate risks.</a:t>
            </a:r>
          </a:p>
          <a:p>
            <a:pPr lvl="0"/>
            <a:r>
              <a:rPr/>
              <a:t>Despite this, its data platforms remain fragmented and duplicative, even as demand for faster and clearer information grows.</a:t>
            </a:r>
          </a:p>
          <a:p>
            <a:pPr lvl="0"/>
            <a:r>
              <a:rPr/>
              <a:t>Individual UN entities have built separate systems, resulting in parallel capacities that rarely connect.</a:t>
            </a:r>
          </a:p>
          <a:p>
            <a:pPr lvl="0"/>
            <a:r>
              <a:rPr/>
              <a:t>Without interoperability, data cannot be shared effectively across entities, leading to blind spots, wasted effort, and missed opportunities to address interconnected global challenges.</a:t>
            </a:r>
          </a:p>
          <a:p>
            <a:pPr lvl="0"/>
            <a:r>
              <a:rPr/>
              <a:t>Data becomes far more useful when it is connected, but the capabilities needed to achieve this are limited, under-incentivised, and often hindered by entities’ reluctance to collaborate.</a:t>
            </a:r>
          </a:p>
        </p:txBody>
      </p:sp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Multiple public portals</a:t>
            </a:r>
          </a:p>
        </p:txBody>
      </p:sp>
      <p:pic>
        <p:nvPicPr>
          <p:cNvPr descr="../images/un80_multiple_portals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2857500" y="1193800"/>
            <a:ext cx="3429000" cy="33909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solution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New data initiatives will be developed across all UN pillars integrated into a </a:t>
            </a:r>
            <a:r>
              <a:rPr b="1"/>
              <a:t>UN System Data Commons</a:t>
            </a:r>
            <a:r>
              <a:rPr/>
              <a:t> built on shared data infrastructure.</a:t>
            </a:r>
          </a:p>
          <a:p>
            <a:pPr lvl="0"/>
            <a:r>
              <a:rPr/>
              <a:t>The shared backbone will be designed for full interoperability and able to generate insights at local, regional, and global levels.</a:t>
            </a:r>
          </a:p>
          <a:p>
            <a:pPr lvl="0"/>
            <a:r>
              <a:rPr/>
              <a:t>Entities will retain only the data that must remain separate, while all shareable data will be openly shared.</a:t>
            </a:r>
          </a:p>
          <a:p>
            <a:pPr lvl="0"/>
            <a:r>
              <a:rPr/>
              <a:t>To make this transformation sustainable, interoperability will be supported by collective financing and clear governance incentives.</a:t>
            </a:r>
          </a:p>
          <a:p>
            <a:pPr lvl="0"/>
            <a:r>
              <a:rPr/>
              <a:t>This approach will help connect resources and systems more effectively, increase impact, and reduce overall costs.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Session 4</dc:title>
  <dc:creator/>
  <cp:keywords/>
  <dcterms:created xsi:type="dcterms:W3CDTF">2025-12-28T21:52:36Z</dcterms:created>
  <dcterms:modified xsi:type="dcterms:W3CDTF">2025-12-28T21:52:36Z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header-includes">
    <vt:lpwstr/>
  </property>
  <property fmtid="{D5CDD505-2E9C-101B-9397-08002B2CF9AE}" pid="4" name="include-after">
    <vt:lpwstr/>
  </property>
  <property fmtid="{D5CDD505-2E9C-101B-9397-08002B2CF9AE}" pid="5" name="include-before">
    <vt:lpwstr/>
  </property>
  <property fmtid="{D5CDD505-2E9C-101B-9397-08002B2CF9AE}" pid="6" name="labels">
    <vt:lpwstr/>
  </property>
  <property fmtid="{D5CDD505-2E9C-101B-9397-08002B2CF9AE}" pid="7" name="subtitle">
    <vt:lpwstr>Case Study: The United Nations and its technological and data challenges</vt:lpwstr>
  </property>
  <property fmtid="{D5CDD505-2E9C-101B-9397-08002B2CF9AE}" pid="8" name="title-slide-attributes">
    <vt:lpwstr/>
  </property>
  <property fmtid="{D5CDD505-2E9C-101B-9397-08002B2CF9AE}" pid="9" name="toc-title">
    <vt:lpwstr>Table of contents</vt:lpwstr>
  </property>
</Properties>
</file>