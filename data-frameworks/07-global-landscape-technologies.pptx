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7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Global landscape of available technologies for data</a:t>
            </a:r>
            <a:br/>
            <a:br/>
            <a:r>
              <a:rPr/>
              <a:t>Ernest Guevarra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images/tech_landscape_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95400" y="1193800"/>
            <a:ext cx="6540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Number of data tools and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In 2012, there were about </a:t>
            </a:r>
            <a:r>
              <a:rPr b="1"/>
              <a:t>139</a:t>
            </a:r>
            <a:r>
              <a:rPr/>
              <a:t> apps/tools/platforms relevant to data.</a:t>
            </a:r>
          </a:p>
          <a:p>
            <a:pPr lvl="0"/>
            <a:r>
              <a:rPr/>
              <a:t>In 2023, there were about </a:t>
            </a:r>
            <a:r>
              <a:rPr b="1"/>
              <a:t>1416</a:t>
            </a:r>
            <a:r>
              <a:rPr/>
              <a:t>.</a:t>
            </a:r>
          </a:p>
          <a:p>
            <a:pPr lvl="0"/>
            <a:r>
              <a:rPr/>
              <a:t>By 2024, this number increased to </a:t>
            </a:r>
            <a:r>
              <a:rPr b="1"/>
              <a:t>2000+</a:t>
            </a:r>
            <a:r>
              <a:rPr/>
              <a:t>.</a:t>
            </a:r>
          </a:p>
        </p:txBody>
      </p:sp>
      <p:pic>
        <p:nvPicPr>
          <p:cNvPr descr="../images/tech_landscape_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841500"/>
            <a:ext cx="4038600" cy="2095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Technologies and methods that support data-driven decision-making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Technology that supports data-intensive analytics: artificial intelligence, including machine learning</a:t>
            </a:r>
          </a:p>
          <a:p>
            <a:pPr lvl="0"/>
            <a:r>
              <a:rPr/>
              <a:t>Technology that collects data and actions insights from analytics: smart devices and devices connected through the Internet of Things (IoT)</a:t>
            </a:r>
          </a:p>
          <a:p>
            <a:pPr lvl="0"/>
            <a:r>
              <a:rPr/>
              <a:t>Technology that creates transparency and trust in data records: distributed ledger technology, including blockchain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Platform firms in low and middle-income countries</a:t>
            </a:r>
          </a:p>
        </p:txBody>
      </p:sp>
      <p:pic>
        <p:nvPicPr>
          <p:cNvPr descr="../images/data_platform_firm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65200" y="1193800"/>
            <a:ext cx="7226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Domestic vs Foreign-based firms</a:t>
            </a:r>
          </a:p>
        </p:txBody>
      </p:sp>
      <p:pic>
        <p:nvPicPr>
          <p:cNvPr descr="../images/data_foreign_domestic_firm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63700" y="1193800"/>
            <a:ext cx="5816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Users spend more time on Facebook, Google, and YouTube</a:t>
            </a:r>
          </a:p>
        </p:txBody>
      </p:sp>
      <p:pic>
        <p:nvPicPr>
          <p:cNvPr descr="../images/data_website_visi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73100" y="1193800"/>
            <a:ext cx="7797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Internet traffic in low and middle income countries</a:t>
            </a:r>
          </a:p>
        </p:txBody>
      </p:sp>
      <p:pic>
        <p:nvPicPr>
          <p:cNvPr descr="../images/data_global_internet_sha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95600" y="1193800"/>
            <a:ext cx="3352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lifecycle</a:t>
            </a:r>
          </a:p>
        </p:txBody>
      </p:sp>
      <p:pic>
        <p:nvPicPr>
          <p:cNvPr descr="../images/data_lifecyc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86000" y="1193800"/>
            <a:ext cx="4572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technology landscape</a:t>
            </a:r>
          </a:p>
        </p:txBody>
      </p:sp>
      <p:pic>
        <p:nvPicPr>
          <p:cNvPr descr="../images/tech_landscape_0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93800" y="1193800"/>
            <a:ext cx="6743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7</dc:title>
  <dc:creator>Ernest Guevarra</dc:creator>
  <cp:keywords/>
  <dcterms:created xsi:type="dcterms:W3CDTF">2026-01-12T14:02:31Z</dcterms:created>
  <dcterms:modified xsi:type="dcterms:W3CDTF">2026-01-12T14:02:31Z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-vi">
    <vt:lpwstr/>
  </property>
  <property fmtid="{D5CDD505-2E9C-101B-9397-08002B2CF9AE}" pid="4" name="authors">
    <vt:lpwstr/>
  </property>
  <property fmtid="{D5CDD505-2E9C-101B-9397-08002B2CF9AE}" pid="5" name="babelquarto">
    <vt:lpwstr/>
  </property>
  <property fmtid="{D5CDD505-2E9C-101B-9397-08002B2CF9AE}" pid="6" name="biblio-config">
    <vt:lpwstr>True</vt:lpwstr>
  </property>
  <property fmtid="{D5CDD505-2E9C-101B-9397-08002B2CF9AE}" pid="7" name="by-affiliation">
    <vt:lpwstr/>
  </property>
  <property fmtid="{D5CDD505-2E9C-101B-9397-08002B2CF9AE}" pid="8" name="by-author">
    <vt:lpwstr/>
  </property>
  <property fmtid="{D5CDD505-2E9C-101B-9397-08002B2CF9AE}" pid="9" name="description-vi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ang-en">
    <vt:lpwstr>true</vt:lpwstr>
  </property>
  <property fmtid="{D5CDD505-2E9C-101B-9397-08002B2CF9AE}" pid="15" name="subtitle">
    <vt:lpwstr>Global landscape of available technologies for data</vt:lpwstr>
  </property>
  <property fmtid="{D5CDD505-2E9C-101B-9397-08002B2CF9AE}" pid="16" name="title-slide-attributes">
    <vt:lpwstr/>
  </property>
  <property fmtid="{D5CDD505-2E9C-101B-9397-08002B2CF9AE}" pid="17" name="title-vi">
    <vt:lpwstr>Các khóa đào tạo phát triển năng lực dữ liệu của TOP</vt:lpwstr>
  </property>
  <property fmtid="{D5CDD505-2E9C-101B-9397-08002B2CF9AE}" pid="18" name="toc-title">
    <vt:lpwstr>Table of contents</vt:lpwstr>
  </property>
</Properties>
</file>