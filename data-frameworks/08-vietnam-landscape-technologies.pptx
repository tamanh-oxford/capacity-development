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saveSubsetFonts="1" showSpecialPlsOnTitleSld="0">
  <p:sldMasterIdLst>
    <p:sldMasterId id="2147483660" r:id="rId1"/>
  </p:sldMasterIdLst>
  <p:notesMasterIdLst>
    <p:notesMasterId r:id="rId7"/>
  </p:notesMasterIdLst>
  <p:sldIdLst>
    <p:sldId id="256" r:id="rId2"/>
    <p:sldId id="257" r:id="rId3"/>
    <p:sldId id="258" r:id="rId4"/>
    <p:sldId id="259" r:id="rId5"/>
    <p:sldId id="260" r:id="rId6"/>
  </p:sldIdLst>
  <p:sldSz cx="12192000" cy="6858000"/>
  <p:notesSz cx="6858000" cy="9144000"/>
  <p:defaultTextStyle>
    <a:defPPr>
      <a:defRPr lang="en-GB"/>
    </a:defPPr>
    <a:lvl1pPr algn="l" defTabSz="9144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9144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9144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9144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9144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9144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9144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9144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9144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2147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 horzBarState="maximized">
    <p:restoredLeft autoAdjust="0" sz="19972"/>
    <p:restoredTop sz="94660"/>
  </p:normalViewPr>
  <p:slideViewPr>
    <p:cSldViewPr snapToGrid="0">
      <p:cViewPr varScale="1">
        <p:scale>
          <a:sx d="100" n="86"/>
          <a:sy d="100" n="86"/>
        </p:scale>
        <p:origin x="96" y="888"/>
      </p:cViewPr>
      <p:guideLst/>
    </p:cSldViewPr>
  </p:slideViewPr>
  <p:notesTextViewPr>
    <p:cViewPr>
      <p:scale>
        <a:sx d="1" n="1"/>
        <a:sy d="1" n="1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notesMaster" Target="notesMasters/notesMaster1.xml" /><Relationship Id="rId10" Type="http://schemas.openxmlformats.org/officeDocument/2006/relationships/theme" Target="theme/theme1.xml" /><Relationship Id="rId9" Type="http://schemas.openxmlformats.org/officeDocument/2006/relationships/viewProps" Target="viewProps.xml" /><Relationship Id="rId1" Type="http://schemas.openxmlformats.org/officeDocument/2006/relationships/slideMaster" Target="slideMasters/slideMaster1.xml" /><Relationship Id="rId8" Type="http://schemas.openxmlformats.org/officeDocument/2006/relationships/presProps" Target="presProps.xml" /><Relationship Id="rId12" Type="http://schemas.microsoft.com/office/2015/10/relationships/revisionInfo" Target="revisionInfo.xml" /><Relationship Id="rId11" Type="http://schemas.openxmlformats.org/officeDocument/2006/relationships/tableStyles" Target="tableStyles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3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5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/>
            <a:r>
              <a:rPr/>
              <a:t>Write down the name on a metacard or sticky note.</a:t>
            </a:r>
          </a:p>
          <a:p>
            <a:pPr lvl="0" indent="0" marL="0">
              <a:buNone/>
            </a:pPr>
          </a:p>
          <a:p>
            <a:pPr lvl="0"/>
            <a:r>
              <a:rPr/>
              <a:t>Be as specific as possible.</a:t>
            </a:r>
          </a:p>
          <a:p>
            <a:pPr lvl="0" indent="0" marL="0">
              <a:buNone/>
            </a:pPr>
          </a:p>
          <a:p>
            <a:pPr lvl="0"/>
            <a:r>
              <a:rPr/>
              <a:t>Ideally, write down the exact name/brand name of the product/tool/app/software.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/>
            <a:r>
              <a:rPr/>
              <a:t>If one product/tool/app/software is used for multiple categories, write new metacards or sticky notes for that product/tool/app/software to put under the respective categories.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5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GB"/>
              <a:t>Click to edit Master title style</a:t>
            </a:r>
            <a:endParaRPr lang="en-GB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/>
              <a:t>Click to edit Master subtitle style</a:t>
            </a:r>
            <a:endParaRPr lang="en-GB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13/01/2026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85387890"/>
      </p:ext>
    </p:extLst>
  </p:cSld>
  <p:clrMapOvr>
    <a:masterClrMapping/>
  </p:clrMapOvr>
  <p:hf sldNum="0" hdr="0" ftr="0" dt="0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GB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GB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13/01/2026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49138452"/>
      </p:ext>
    </p:extLst>
  </p:cSld>
  <p:clrMapOvr>
    <a:masterClrMapping/>
  </p:clrMapOvr>
  <p:hf hdr="0" dt="0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GB"/>
              <a:t>Click to edit Master title style</a:t>
            </a:r>
            <a:endParaRPr lang="en-GB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13/01/2026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91524520"/>
      </p:ext>
    </p:extLst>
  </p:cSld>
  <p:clrMapOvr>
    <a:masterClrMapping/>
  </p:clrMapOvr>
  <p:hf hdr="0" dt="0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GB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GB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GB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13/01/2026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203092039"/>
      </p:ext>
    </p:extLst>
  </p:cSld>
  <p:clrMapOvr>
    <a:masterClrMapping/>
  </p:clrMapOvr>
  <p:hf hdr="0" dt="0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GB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GB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GB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13/01/2026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733172339"/>
      </p:ext>
    </p:extLst>
  </p:cSld>
  <p:clrMapOvr>
    <a:masterClrMapping/>
  </p:clrMapOvr>
  <p:hf hdr="0" dt="0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GB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13/01/2026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10312558"/>
      </p:ext>
    </p:extLst>
  </p:cSld>
  <p:clrMapOvr>
    <a:masterClrMapping/>
  </p:clrMapOvr>
  <p:hf hdr="0" dt="0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13/01/2026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146388984"/>
      </p:ext>
    </p:extLst>
  </p:cSld>
  <p:clrMapOvr>
    <a:masterClrMapping/>
  </p:clrMapOvr>
  <p:hf hdr="0" dt="0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GB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GB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13/01/2026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171841454"/>
      </p:ext>
    </p:extLst>
  </p:cSld>
  <p:clrMapOvr>
    <a:masterClrMapping/>
  </p:clrMapOvr>
  <p:hf hdr="0" dt="0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GB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GB"/>
              <a:t>Click icon to add picture</a:t>
            </a:r>
            <a:endParaRPr lang="en-GB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13/01/2026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18958274"/>
      </p:ext>
    </p:extLst>
  </p:cSld>
  <p:clrMapOvr>
    <a:masterClrMapping/>
  </p:clrMapOvr>
  <p:hf hdr="0" dt="0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GB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GB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13/01/2026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202905451"/>
      </p:ext>
    </p:extLst>
  </p:cSld>
  <p:clrMapOvr>
    <a:masterClrMapping/>
  </p:clrMapOvr>
  <p:hf hdr="0" dt="0"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GB"/>
              <a:t>Click to edit Master title style</a:t>
            </a:r>
            <a:endParaRPr lang="en-GB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GB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13/01/2026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479445657"/>
      </p:ext>
    </p:extLst>
  </p:cSld>
  <p:clrMapOvr>
    <a:masterClrMapping/>
  </p:clrMapOvr>
  <p:hf hdr="0" dt="0"/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GB"/>
              <a:t>Click to edit Master title style</a:t>
            </a:r>
            <a:endParaRPr dirty="0" lang="en-GB"/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dirty="0" lang="en-GB"/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46CE7D5-CF57-46EF-B807-FDD0502418D4}" type="datetimeFigureOut">
              <a:rPr lang="en-GB" smtClean="0"/>
              <a:t>13/01/2026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60954070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hf dt="0" hdr="0"/>
  <p:txStyles>
    <p:titleStyle>
      <a:lvl1pPr algn="l" defTabSz="914400" eaLnBrk="1" hangingPunct="1" latinLnBrk="0" rtl="0">
        <a:lnSpc>
          <a:spcPct val="90000"/>
        </a:lnSpc>
        <a:spcBef>
          <a:spcPct val="0"/>
        </a:spcBef>
        <a:buNone/>
        <a:defRPr kern="1200" sz="44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914400" eaLnBrk="1" hangingPunct="1" indent="-228600" latinLnBrk="0" marL="228600" rtl="0">
        <a:lnSpc>
          <a:spcPct val="90000"/>
        </a:lnSpc>
        <a:spcBef>
          <a:spcPts val="1000"/>
        </a:spcBef>
        <a:buFont charset="0" panose="020B0604020202020204" pitchFamily="34" typeface="Arial"/>
        <a:buChar char="•"/>
        <a:defRPr kern="1200" sz="2800">
          <a:solidFill>
            <a:schemeClr val="tx1"/>
          </a:solidFill>
          <a:latin typeface="+mn-lt"/>
          <a:ea typeface="+mn-ea"/>
          <a:cs typeface="+mn-cs"/>
        </a:defRPr>
      </a:lvl1pPr>
      <a:lvl2pPr algn="l" defTabSz="914400" eaLnBrk="1" hangingPunct="1" indent="-228600" latinLnBrk="0" marL="6858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2pPr>
      <a:lvl3pPr algn="l" defTabSz="914400" eaLnBrk="1" hangingPunct="1" indent="-228600" latinLnBrk="0" marL="11430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3pPr>
      <a:lvl4pPr algn="l" defTabSz="914400" eaLnBrk="1" hangingPunct="1" indent="-228600" latinLnBrk="0" marL="16002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4pPr>
      <a:lvl5pPr algn="l" defTabSz="914400" eaLnBrk="1" hangingPunct="1" indent="-228600" latinLnBrk="0" marL="20574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5pPr>
      <a:lvl6pPr algn="l" defTabSz="914400" eaLnBrk="1" hangingPunct="1" indent="-228600" latinLnBrk="0" marL="25146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6pPr>
      <a:lvl7pPr algn="l" defTabSz="914400" eaLnBrk="1" hangingPunct="1" indent="-228600" latinLnBrk="0" marL="29718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7pPr>
      <a:lvl8pPr algn="l" defTabSz="914400" eaLnBrk="1" hangingPunct="1" indent="-228600" latinLnBrk="0" marL="34290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8pPr>
      <a:lvl9pPr algn="l" defTabSz="914400" eaLnBrk="1" hangingPunct="1" indent="-228600" latinLnBrk="0" marL="38862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GB"/>
      </a:defPPr>
      <a:lvl1pPr algn="l" defTabSz="914400" eaLnBrk="1" hangingPunct="1" latinLnBrk="0" marL="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914400" eaLnBrk="1" hangingPunct="1" latinLnBrk="0" marL="457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2pPr>
      <a:lvl3pPr algn="l" defTabSz="914400" eaLnBrk="1" hangingPunct="1" latinLnBrk="0" marL="914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914400" eaLnBrk="1" hangingPunct="1" latinLnBrk="0" marL="1371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4pPr>
      <a:lvl5pPr algn="l" defTabSz="914400" eaLnBrk="1" hangingPunct="1" latinLnBrk="0" marL="18288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5pPr>
      <a:lvl6pPr algn="l" defTabSz="914400" eaLnBrk="1" hangingPunct="1" latinLnBrk="0" marL="22860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6pPr>
      <a:lvl7pPr algn="l" defTabSz="914400" eaLnBrk="1" hangingPunct="1" latinLnBrk="0" marL="2743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7pPr>
      <a:lvl8pPr algn="l" defTabSz="914400" eaLnBrk="1" hangingPunct="1" latinLnBrk="0" marL="3200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8pPr>
      <a:lvl9pPr algn="l" defTabSz="914400" eaLnBrk="1" hangingPunct="1" latinLnBrk="0" marL="3657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Session 8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524000" y="3602038"/>
            <a:ext cx="9144000" cy="1655762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The landscape of technologies for data in Vietnam</a:t>
            </a:r>
            <a:br/>
            <a:br/>
            <a:r>
              <a:rPr/>
              <a:t>Ernest Guevarra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/>
          <a:lstStyle/>
          <a:p>
            <a:pPr lvl="0" indent="0" marL="0">
              <a:buNone/>
            </a:pPr>
            <a:r>
              <a:rPr/>
              <a:t>Activity 1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Write down the name of the different data tools/apps/software that you and your team uses on a day-to-day basis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/>
          <a:lstStyle/>
          <a:p>
            <a:pPr lvl="0" indent="0" marL="0">
              <a:buNone/>
            </a:pPr>
            <a:r>
              <a:rPr/>
              <a:t>Activity 2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With the metacards or sticky notes that you have made, post them on the board or wall and put them under the appropriate technology category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 Theme">
      <a:majorFont>
        <a:latin typeface="Aptos Display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ptos" panose="020B000402020202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0</TotalTime>
  <Words>0</Words>
  <Application>Microsoft Office PowerPoint</Application>
  <PresentationFormat>Widescreen</PresentationFormat>
  <Paragraphs>0</Paragraphs>
  <Slides>9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0" baseType="lpstr"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Session 8</dc:title>
  <dc:creator>Ernest Guevarra</dc:creator>
  <cp:keywords/>
  <dcterms:created xsi:type="dcterms:W3CDTF">2026-01-14T08:09:09Z</dcterms:created>
  <dcterms:modified xsi:type="dcterms:W3CDTF">2026-01-14T08:09:09Z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ffiliations">
    <vt:lpwstr/>
  </property>
  <property fmtid="{D5CDD505-2E9C-101B-9397-08002B2CF9AE}" pid="3" name="author-vi">
    <vt:lpwstr/>
  </property>
  <property fmtid="{D5CDD505-2E9C-101B-9397-08002B2CF9AE}" pid="4" name="authors">
    <vt:lpwstr/>
  </property>
  <property fmtid="{D5CDD505-2E9C-101B-9397-08002B2CF9AE}" pid="5" name="babelquarto">
    <vt:lpwstr/>
  </property>
  <property fmtid="{D5CDD505-2E9C-101B-9397-08002B2CF9AE}" pid="6" name="biblio-config">
    <vt:lpwstr>True</vt:lpwstr>
  </property>
  <property fmtid="{D5CDD505-2E9C-101B-9397-08002B2CF9AE}" pid="7" name="by-affiliation">
    <vt:lpwstr/>
  </property>
  <property fmtid="{D5CDD505-2E9C-101B-9397-08002B2CF9AE}" pid="8" name="by-author">
    <vt:lpwstr/>
  </property>
  <property fmtid="{D5CDD505-2E9C-101B-9397-08002B2CF9AE}" pid="9" name="description-vi">
    <vt:lpwstr/>
  </property>
  <property fmtid="{D5CDD505-2E9C-101B-9397-08002B2CF9AE}" pid="10" name="header-includes">
    <vt:lpwstr/>
  </property>
  <property fmtid="{D5CDD505-2E9C-101B-9397-08002B2CF9AE}" pid="11" name="include-after">
    <vt:lpwstr/>
  </property>
  <property fmtid="{D5CDD505-2E9C-101B-9397-08002B2CF9AE}" pid="12" name="include-before">
    <vt:lpwstr/>
  </property>
  <property fmtid="{D5CDD505-2E9C-101B-9397-08002B2CF9AE}" pid="13" name="labels">
    <vt:lpwstr/>
  </property>
  <property fmtid="{D5CDD505-2E9C-101B-9397-08002B2CF9AE}" pid="14" name="lang-en">
    <vt:lpwstr>true</vt:lpwstr>
  </property>
  <property fmtid="{D5CDD505-2E9C-101B-9397-08002B2CF9AE}" pid="15" name="subtitle">
    <vt:lpwstr>The landscape of technologies for data in Vietnam</vt:lpwstr>
  </property>
  <property fmtid="{D5CDD505-2E9C-101B-9397-08002B2CF9AE}" pid="16" name="title-slide-attributes">
    <vt:lpwstr/>
  </property>
  <property fmtid="{D5CDD505-2E9C-101B-9397-08002B2CF9AE}" pid="17" name="title-vi">
    <vt:lpwstr>Các khóa đào tạo phát triển năng lực dữ liệu của TOP</vt:lpwstr>
  </property>
  <property fmtid="{D5CDD505-2E9C-101B-9397-08002B2CF9AE}" pid="18" name="toc-title">
    <vt:lpwstr>Table of contents</vt:lpwstr>
  </property>
</Properties>
</file>