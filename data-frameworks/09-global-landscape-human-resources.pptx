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Default Extension="jpe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showSpecialPlsOnTitleSld="0">
  <p:sldMasterIdLst>
    <p:sldMasterId id="2147483660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9144000"/>
  <p:defaultTextStyle>
    <a:defPPr>
      <a:defRPr lang="en-GB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14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 horzBarState="maximized">
    <p:restoredLeft autoAdjust="0" sz="19972"/>
    <p:restoredTop sz="94660"/>
  </p:normalViewPr>
  <p:slideViewPr>
    <p:cSldViewPr snapToGrid="0">
      <p:cViewPr varScale="1">
        <p:scale>
          <a:sx d="100" n="86"/>
          <a:sy d="100" n="86"/>
        </p:scale>
        <p:origin x="96" y="888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notesMaster" Target="notesMasters/notesMaster1.xml" /><Relationship Id="rId18" Type="http://schemas.openxmlformats.org/officeDocument/2006/relationships/theme" Target="theme/theme1.xml" /><Relationship Id="rId17" Type="http://schemas.openxmlformats.org/officeDocument/2006/relationships/viewProps" Target="viewProps.xml" /><Relationship Id="rId1" Type="http://schemas.openxmlformats.org/officeDocument/2006/relationships/slideMaster" Target="slideMasters/slideMaster1.xml" /><Relationship Id="rId16" Type="http://schemas.openxmlformats.org/officeDocument/2006/relationships/presProps" Target="presProps.xml" /><Relationship Id="rId20" Type="http://schemas.microsoft.com/office/2015/10/relationships/revisionInfo" Target="revisionInfo.xml" /><Relationship Id="rId19" Type="http://schemas.openxmlformats.org/officeDocument/2006/relationships/tableStyles" Target="tableStyle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Leads and approves the corporate data strategy, data governance framework, and data policies.</a:t>
            </a:r>
          </a:p>
          <a:p>
            <a:pPr lvl="0" indent="0" marL="0">
              <a:buNone/>
            </a:pPr>
          </a:p>
          <a:p>
            <a:pPr lvl="0"/>
            <a:r>
              <a:rPr/>
              <a:t>Reviews local data policies while allowing departments the flexibility to tailor their own approaches.</a:t>
            </a:r>
          </a:p>
          <a:p>
            <a:pPr lvl="0" indent="0" marL="0">
              <a:buNone/>
            </a:pPr>
          </a:p>
          <a:p>
            <a:pPr lvl="0"/>
            <a:r>
              <a:rPr/>
              <a:t>Sets priorities for corporate actions and promotes collaboration in implementing the strategy.</a:t>
            </a:r>
          </a:p>
          <a:p>
            <a:pPr lvl="0" indent="0" marL="0">
              <a:buNone/>
            </a:pPr>
          </a:p>
          <a:p>
            <a:pPr lvl="0"/>
            <a:r>
              <a:rPr/>
              <a:t>Makes strategic decisions that cannot be resolved at managerial or operational levels.</a:t>
            </a:r>
          </a:p>
          <a:p>
            <a:pPr lvl="0" indent="0" marL="0">
              <a:buNone/>
            </a:pPr>
          </a:p>
          <a:p>
            <a:pPr lvl="0"/>
            <a:r>
              <a:rPr/>
              <a:t>Monitors policy implementation and coordinates with data governance partners when needed.</a:t>
            </a:r>
          </a:p>
          <a:p>
            <a:pPr lvl="0" indent="0" marL="0">
              <a:buNone/>
            </a:pPr>
          </a:p>
          <a:p>
            <a:pPr lvl="0"/>
            <a:r>
              <a:rPr/>
              <a:t>Promotes strong data governance practices and gives visibility to related initiatives.</a:t>
            </a:r>
          </a:p>
          <a:p>
            <a:pPr lvl="0" indent="0" marL="0">
              <a:buNone/>
            </a:pPr>
          </a:p>
          <a:p>
            <a:pPr lvl="0"/>
            <a:r>
              <a:rPr/>
              <a:t>Requests contributions from departments and governance partners to support or implement data policies.</a:t>
            </a:r>
          </a:p>
          <a:p>
            <a:pPr lvl="0" indent="0" marL="0">
              <a:buNone/>
            </a:pPr>
          </a:p>
          <a:p>
            <a:pPr lvl="0"/>
            <a:r>
              <a:rPr/>
              <a:t>Advises the Information Technology and Cybersecurity Board on data policy matters.</a:t>
            </a:r>
          </a:p>
          <a:p>
            <a:pPr lvl="0" indent="0" marL="0">
              <a:buNone/>
            </a:pPr>
          </a:p>
          <a:p>
            <a:pPr lvl="0"/>
            <a:r>
              <a:rPr/>
              <a:t>Considers required human and financial resources for developing and maintaining data governance and policies.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Various committees, networks, and communities have been created to improve coordination on data issues and support the implementation of data policies within the Commission.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These groups function as </a:t>
            </a:r>
            <a:r>
              <a:rPr b="1"/>
              <a:t>data coordination groups</a:t>
            </a:r>
            <a:r>
              <a:rPr/>
              <a:t> within the corporate data governance framework.</a:t>
            </a:r>
          </a:p>
          <a:p>
            <a:pPr lvl="0" indent="0" marL="0">
              <a:buNone/>
            </a:pPr>
          </a:p>
          <a:p>
            <a:pPr lvl="0"/>
            <a:r>
              <a:rPr/>
              <a:t>A data coordination group can be any formal or informal body focused on data-related topics and must have a clearly defined mandate approved by the requesting DGs/services.</a:t>
            </a:r>
          </a:p>
          <a:p>
            <a:pPr lvl="0" indent="0" marL="0">
              <a:buNone/>
            </a:pPr>
          </a:p>
          <a:p>
            <a:pPr lvl="0"/>
            <a:r>
              <a:rPr/>
              <a:t>Some groups are permanent, while others operate for a limited time.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 IMSB oversees all existing groups and should be consulted before new groups are created.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5387890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9138452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1524520"/>
      </p:ext>
    </p:extLst>
  </p:cSld>
  <p:clrMapOvr>
    <a:masterClrMapping/>
  </p:clrMapOvr>
  <p:hf hd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03092039"/>
      </p:ext>
    </p:extLst>
  </p:cSld>
  <p:clrMapOvr>
    <a:masterClrMapping/>
  </p:clrMapOvr>
  <p:hf hd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33172339"/>
      </p:ext>
    </p:extLst>
  </p:cSld>
  <p:clrMapOvr>
    <a:masterClrMapping/>
  </p:clrMapOvr>
  <p:hf hd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10312558"/>
      </p:ext>
    </p:extLst>
  </p:cSld>
  <p:clrMapOvr>
    <a:masterClrMapping/>
  </p:clrMapOvr>
  <p:hf hd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46388984"/>
      </p:ext>
    </p:extLst>
  </p:cSld>
  <p:clrMapOvr>
    <a:masterClrMapping/>
  </p:clrMapOvr>
  <p:hf hd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71841454"/>
      </p:ext>
    </p:extLst>
  </p:cSld>
  <p:clrMapOvr>
    <a:masterClrMapping/>
  </p:clrMapOvr>
  <p:hf hd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GB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8958274"/>
      </p:ext>
    </p:extLst>
  </p:cSld>
  <p:clrMapOvr>
    <a:masterClrMapping/>
  </p:clrMapOvr>
  <p:hf hd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2905451"/>
      </p:ext>
    </p:extLst>
  </p:cSld>
  <p:clrMapOvr>
    <a:masterClrMapping/>
  </p:clrMapOvr>
  <p:hf hd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79445657"/>
      </p:ext>
    </p:extLst>
  </p:cSld>
  <p:clrMapOvr>
    <a:masterClrMapping/>
  </p:clrMapOvr>
  <p:hf hdr="0" dt="0"/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GB"/>
              <a:t>Click to edit Master title style</a:t>
            </a:r>
            <a:endParaRPr dirty="0" lang="en-GB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dirty="0" lang="en-GB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0954070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dt="0" hdr="0"/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GB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9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r>
              <a:rPr/>
              <a:t>Global landscape of human resources for data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 of roles and responsibilities for data - University of Oxford</a:t>
            </a:r>
          </a:p>
        </p:txBody>
      </p:sp>
      <p:pic>
        <p:nvPicPr>
          <p:cNvPr descr="../images/hr_roles_01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95400" y="1816100"/>
            <a:ext cx="96012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Executive Group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Offers overarching strategic guidance and decision-making by:</a:t>
            </a:r>
          </a:p>
          <a:p>
            <a:pPr lvl="1"/>
            <a:r>
              <a:rPr/>
              <a:t>Establishing policies, accountability, and responsibility for the University’s administrative data.</a:t>
            </a:r>
          </a:p>
          <a:p>
            <a:pPr lvl="1"/>
            <a:r>
              <a:rPr/>
              <a:t>Continuously evaluating the University’s capacity to meet external obligations and minimise regulatory and statutory risks, while maximising the value of its data for informed decision-making and supporting strategic goals.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Governance Group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Oversees governance policies and ensures they are followed by:</a:t>
            </a:r>
          </a:p>
          <a:p>
            <a:pPr lvl="1"/>
            <a:r>
              <a:rPr/>
              <a:t>Making sure the Data Operating Model and core data governance and quality activities give clear guidance to all data users, whether they analyse, report on, or consume data.</a:t>
            </a:r>
          </a:p>
          <a:p>
            <a:pPr lvl="1"/>
            <a:r>
              <a:rPr/>
              <a:t>Supporting improved accuracy, confidence, and efficiency in data reuse, reporting, and decision-making.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subject matter experts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Handle data in their daily roles such as creating, using, storing, defining, managing, or deleting it. They are responsible for:</a:t>
            </a:r>
          </a:p>
          <a:p>
            <a:pPr lvl="1"/>
            <a:r>
              <a:rPr/>
              <a:t>Reporting data governance progress and challenges to the Data Governance Team.</a:t>
            </a:r>
          </a:p>
          <a:p>
            <a:pPr lvl="1"/>
            <a:r>
              <a:rPr/>
              <a:t>Ensuring data integrity and security, and adhering to organisational policies and regulatory requirements.</a:t>
            </a:r>
          </a:p>
          <a:p>
            <a:pPr lvl="1"/>
            <a:r>
              <a:rPr/>
              <a:t>Applying best practices, maintaining data quality, addressing data issues, and supporting accurate, timely reporting.</a:t>
            </a:r>
          </a:p>
          <a:p>
            <a:pPr lvl="1"/>
            <a:r>
              <a:rPr/>
              <a:t>Promoting collaboration between business and technical teams to support effective, data-informed decision-making.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 of roles and responsibilities for data - OECD</a:t>
            </a:r>
          </a:p>
        </p:txBody>
      </p:sp>
      <p:pic>
        <p:nvPicPr>
          <p:cNvPr descr="../images/hr_roles_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82700" y="1816100"/>
            <a:ext cx="96266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Group roles - Information Management Steering Board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Standing subgroup of the Corporate Management Board.</a:t>
            </a:r>
          </a:p>
          <a:p>
            <a:pPr lvl="0"/>
            <a:r>
              <a:rPr/>
              <a:t>Helps the Board supervise the implementation of the Commission’s strategy for managing data, information, and knowledge, with support from the Information Management Team.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Group roles - Data coordination groups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Develops, implements, monitors, and promotes data policies within their domain, in alignment with corporate data governance.</a:t>
            </a:r>
          </a:p>
          <a:p>
            <a:pPr lvl="0"/>
            <a:r>
              <a:rPr/>
              <a:t>Creates and encourages the use of common metadata, controlled vocabularies, and data standards for their data area.</a:t>
            </a:r>
          </a:p>
          <a:p>
            <a:pPr lvl="0"/>
            <a:r>
              <a:rPr/>
              <a:t>Provides guidance, reports progress, and escalates issues to strategic leadership when necessary.</a:t>
            </a:r>
          </a:p>
          <a:p>
            <a:pPr lvl="0"/>
            <a:r>
              <a:rPr/>
              <a:t>Links business and policy needs to data assets, and identifies data gaps at corporate, interservice, or local levels.</a:t>
            </a:r>
          </a:p>
          <a:p>
            <a:pPr lvl="0"/>
            <a:r>
              <a:rPr/>
              <a:t>Works with other groups and governance partners to support or implement specific data policies and actions.</a:t>
            </a:r>
          </a:p>
          <a:p>
            <a:pPr lvl="0"/>
            <a:r>
              <a:rPr/>
              <a:t>Offers support and sharing expertise with data owners, data stewards, and other staff within their domain.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Group roles - Data governance boards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Supports the effective implementation of corporate data governance and policies.</a:t>
            </a:r>
          </a:p>
          <a:p>
            <a:pPr lvl="0"/>
            <a:r>
              <a:rPr/>
              <a:t>Ensures local data policies are created and aligned with corporate guidance.</a:t>
            </a:r>
          </a:p>
          <a:p>
            <a:pPr lvl="0"/>
            <a:r>
              <a:rPr/>
              <a:t>Monitors their department’s maturity in data governance, management, and use.</a:t>
            </a:r>
          </a:p>
          <a:p>
            <a:pPr lvl="0"/>
            <a:r>
              <a:rPr/>
              <a:t>Promotes data governance, data use (including reporting, analytics, and AI), and data literacy at all organisational levels.</a:t>
            </a:r>
          </a:p>
          <a:p>
            <a:pPr lvl="0"/>
            <a:r>
              <a:rPr/>
              <a:t>Advises on the human and financial resources needed to develop, implement, and maintain data governance and data policies.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Individual roles - Local data correspondent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Acts as the main point of contact for data management within their DG/service.</a:t>
            </a:r>
          </a:p>
          <a:p>
            <a:pPr lvl="0"/>
            <a:r>
              <a:rPr/>
              <a:t>The role may be shared or delegated to multiple people based on the department’s size and needs.</a:t>
            </a:r>
          </a:p>
          <a:p>
            <a:pPr lvl="0"/>
            <a:r>
              <a:rPr/>
              <a:t>DGs/services may establish local data governance teams to help implement data governance and data policies, providing support to the LDCs.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Individual roles - data owner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owners are managers or staff appointed by strategic leadership to take responsibility for a specific data domain or data asset.</a:t>
            </a:r>
          </a:p>
          <a:p>
            <a:pPr lvl="0"/>
            <a:r>
              <a:rPr/>
              <a:t>The term refers to business owners of data, not IT system owners or providers.</a:t>
            </a:r>
          </a:p>
          <a:p>
            <a:pPr lvl="0"/>
            <a:r>
              <a:rPr/>
              <a:t>Every data asset must have a clearly designated data owner.</a:t>
            </a:r>
          </a:p>
          <a:p>
            <a:pPr lvl="0"/>
            <a:r>
              <a:rPr/>
              <a:t>Data domains may also have one or more designated owners.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Individual roles - data steward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stewards are subject matter experts for a specific data domain or data asset.</a:t>
            </a:r>
          </a:p>
          <a:p>
            <a:pPr lvl="0"/>
            <a:r>
              <a:rPr/>
              <a:t>They are appointed by, and support, the designated data owner.</a:t>
            </a:r>
          </a:p>
          <a:p>
            <a:pPr lvl="0"/>
            <a:r>
              <a:rPr/>
              <a:t>Data stewards may operate beyond their own organisational unit if needed.</a:t>
            </a:r>
          </a:p>
          <a:p>
            <a:pPr lvl="0"/>
            <a:r>
              <a:rPr/>
              <a:t>They often work with specialised data architects on tasks such as data modelling and communicating data requirements to IT teams.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Individual roles - data user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Policy staff</a:t>
            </a:r>
            <a:r>
              <a:rPr/>
              <a:t> who use data to support policy development and decision-making.</a:t>
            </a:r>
          </a:p>
          <a:p>
            <a:pPr lvl="0"/>
            <a:r>
              <a:rPr b="1"/>
              <a:t>Data analysts</a:t>
            </a:r>
            <a:r>
              <a:rPr/>
              <a:t> who analyse, integrate, and visualise data to generate insights.</a:t>
            </a:r>
          </a:p>
          <a:p>
            <a:pPr lvl="0"/>
            <a:r>
              <a:rPr b="1"/>
              <a:t>Data or information architects</a:t>
            </a:r>
            <a:r>
              <a:rPr/>
              <a:t> who design models and architectures for managing and using data.</a:t>
            </a:r>
          </a:p>
          <a:p>
            <a:pPr lvl="0"/>
            <a:r>
              <a:rPr b="1"/>
              <a:t>Data engineers</a:t>
            </a:r>
            <a:r>
              <a:rPr/>
              <a:t> who clean, integrate, and prepare data for analysis and help define data architectures.</a:t>
            </a:r>
          </a:p>
          <a:p>
            <a:pPr lvl="0"/>
            <a:r>
              <a:rPr b="1"/>
              <a:t>Data scientists</a:t>
            </a:r>
            <a:r>
              <a:rPr/>
              <a:t> who analyse large datasets using statistics, advanced analytics, machine learning, and AI to identify patterns and insights.</a:t>
            </a:r>
          </a:p>
          <a:p>
            <a:pPr lvl="0"/>
            <a:r>
              <a:rPr b="1"/>
              <a:t>Software developers</a:t>
            </a:r>
            <a:r>
              <a:rPr/>
              <a:t> who build data pipelines, implement data architectures, create data access interfaces, and embed data policies in IT systems.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Office PowerPoint</Application>
  <PresentationFormat>Widescreen</PresentationFormat>
  <Paragraphs>0</Paragraphs>
  <Slides>9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0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9</dc:title>
  <dc:creator>Ernest Guevarra</dc:creator>
  <cp:keywords/>
  <dcterms:created xsi:type="dcterms:W3CDTF">2026-01-13T16:53:17Z</dcterms:created>
  <dcterms:modified xsi:type="dcterms:W3CDTF">2026-01-13T16:53:17Z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Global landscape of human resources for data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