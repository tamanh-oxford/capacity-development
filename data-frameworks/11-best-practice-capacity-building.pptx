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.govt.nz/toolkit/data-capability-framework/data-capability-framework-guid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ssets.publishing.service.gov.uk/media/64184bccd3bf7f79d9675dbd/Data_Maturity_Assessment_for_Government_-_FINAL_PDF.pdf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Guiding principles and best practices for data capacity building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data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everyone needs to be a data scientist.</a:t>
            </a:r>
          </a:p>
          <a:p>
            <a:pPr lvl="0"/>
            <a:r>
              <a:rPr/>
              <a:t>Data capacities in policymaking refer to how well infrastructure, systems, and people can use data effectively for decisions.</a:t>
            </a:r>
          </a:p>
          <a:p>
            <a:pPr lvl="0"/>
            <a:r>
              <a:rPr/>
              <a:t>Strengthening these abilities across different teams is essential.</a:t>
            </a:r>
          </a:p>
          <a:p>
            <a:pPr lvl="0"/>
            <a:r>
              <a:rPr/>
              <a:t>Complementary skill sets help reinforce the entire data value chain and improve overall decision-making.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Identify gaps in data skills and statistical capacities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skills</a:t>
            </a:r>
          </a:p>
        </p:txBody>
      </p:sp>
      <p:pic>
        <p:nvPicPr>
          <p:cNvPr descr="../images/hr_roles_03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85900"/>
            <a:ext cx="82296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</a:t>
            </a:r>
          </a:p>
        </p:txBody>
      </p:sp>
      <p:pic>
        <p:nvPicPr>
          <p:cNvPr descr="../images/hr_roles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81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Capability:</a:t>
            </a:r>
            <a:r>
              <a:rPr/>
              <a:t> Employ data coding and classification principles</a:t>
            </a:r>
          </a:p>
          <a:p>
            <a:pPr lvl="0"/>
            <a:r>
              <a:rPr b="1"/>
              <a:t>Catgory:</a:t>
            </a:r>
            <a:r>
              <a:rPr/>
              <a:t> Describe, Store, Use, and Save/Destroy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New</a:t>
            </a:r>
          </a:p>
          <a:p>
            <a:pPr lvl="0"/>
            <a:r>
              <a:rPr/>
              <a:t>Is aware of relevant data classifications and coding protocols, and their proper application to data in general.</a:t>
            </a:r>
          </a:p>
          <a:p>
            <a:pPr lvl="0"/>
            <a:r>
              <a:rPr/>
              <a:t>Knows who to consult for expert knowledge.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Proficient</a:t>
            </a:r>
          </a:p>
          <a:p>
            <a:pPr lvl="0"/>
            <a:r>
              <a:rPr/>
              <a:t>Has a comprehensive knowledge of data classifications and coding protocols.</a:t>
            </a:r>
          </a:p>
          <a:p>
            <a:pPr lvl="0"/>
            <a:r>
              <a:rPr/>
              <a:t>Knows where to obtain expert advice about coding and classifications as needed.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 Guide</a:t>
            </a:r>
          </a:p>
        </p:txBody>
      </p:sp>
      <p:pic>
        <p:nvPicPr>
          <p:cNvPr descr="../images/qrcode_data.govt.nz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Link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</a:t>
            </a:r>
          </a:p>
        </p:txBody>
      </p:sp>
      <p:pic>
        <p:nvPicPr>
          <p:cNvPr descr="../images/hr_roles_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8229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Themes:</a:t>
            </a:r>
            <a:r>
              <a:rPr/>
              <a:t> Uses, Data, Leadership, Culture, Tools, Skills</a:t>
            </a:r>
          </a:p>
          <a:p>
            <a:pPr lvl="0"/>
            <a:r>
              <a:rPr b="1"/>
              <a:t>Maturity Levels:</a:t>
            </a:r>
            <a:r>
              <a:rPr/>
              <a:t> Beginning, Emerging, Learning, Developing, Mastering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 - example</a:t>
            </a:r>
          </a:p>
        </p:txBody>
      </p:sp>
      <p:pic>
        <p:nvPicPr>
          <p:cNvPr descr="../images/dma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193800"/>
            <a:ext cx="675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 Guide</a:t>
            </a:r>
          </a:p>
        </p:txBody>
      </p:sp>
      <p:pic>
        <p:nvPicPr>
          <p:cNvPr descr="../images/qrcode_assets.publishing.service.gov.u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Link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Build data capacities in your team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Literacy</a:t>
            </a:r>
          </a:p>
        </p:txBody>
      </p:sp>
      <p:pic>
        <p:nvPicPr>
          <p:cNvPr descr="../images/hr_roles_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3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Skills Framework</a:t>
            </a:r>
          </a:p>
        </p:txBody>
      </p:sp>
      <p:pic>
        <p:nvPicPr>
          <p:cNvPr descr="../images/hr_roles_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787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Operationalise data capacity building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Short-term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Training workshops</a:t>
            </a:r>
          </a:p>
          <a:p>
            <a:pPr lvl="0"/>
            <a:r>
              <a:rPr/>
              <a:t>Online training resources</a:t>
            </a:r>
          </a:p>
          <a:p>
            <a:pPr lvl="0"/>
            <a:r>
              <a:rPr/>
              <a:t>Knowledge sharing on global innovations and use cases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Medium-term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Internal data champions</a:t>
            </a:r>
          </a:p>
          <a:p>
            <a:pPr lvl="0"/>
            <a:r>
              <a:rPr/>
              <a:t>Periodic data skills training</a:t>
            </a:r>
          </a:p>
          <a:p>
            <a:pPr lvl="0"/>
            <a:r>
              <a:rPr/>
              <a:t>‍Pilot data projects</a:t>
            </a:r>
          </a:p>
          <a:p>
            <a:pPr lvl="0"/>
            <a:r>
              <a:rPr/>
              <a:t>‍Build complementary skills with other stakeholders</a:t>
            </a:r>
          </a:p>
          <a:p>
            <a:pPr lvl="0"/>
            <a:r>
              <a:rPr/>
              <a:t>‍Build on local knowledge and capacities</a:t>
            </a:r>
          </a:p>
          <a:p>
            <a:pPr lvl="0"/>
            <a:r>
              <a:rPr/>
              <a:t>‍Build network of data practitioners across your organization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Embed data skills in job roles</a:t>
            </a:r>
          </a:p>
          <a:p>
            <a:pPr lvl="0"/>
            <a:r>
              <a:rPr/>
              <a:t>Institutionalize data training programs</a:t>
            </a:r>
          </a:p>
          <a:p>
            <a:pPr lvl="0"/>
            <a:r>
              <a:rPr/>
              <a:t>‍Partner with think tanks and external organizations</a:t>
            </a:r>
          </a:p>
          <a:p>
            <a:pPr lvl="0"/>
            <a:r>
              <a:rPr/>
              <a:t>‍Partner with academia and local universities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</dc:title>
  <dc:creator>Ernest Guevarra</dc:creator>
  <cp:keywords/>
  <dcterms:created xsi:type="dcterms:W3CDTF">2026-01-10T03:36:38Z</dcterms:created>
  <dcterms:modified xsi:type="dcterms:W3CDTF">2026-01-10T03:36:38Z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Guiding principles and best practices for data capacity building</vt:lpwstr>
  </property>
  <property fmtid="{D5CDD505-2E9C-101B-9397-08002B2CF9AE}" pid="12" name="title-slide-attributes">
    <vt:lpwstr/>
  </property>
  <property fmtid="{D5CDD505-2E9C-101B-9397-08002B2CF9AE}" pid="13" name="toc-title">
    <vt:lpwstr>Table of contents</vt:lpwstr>
  </property>
</Properties>
</file>