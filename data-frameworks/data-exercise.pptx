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notesMaster" Target="notesMasters/notesMaster1.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Livestock is managed in herds and there is little fuss when individuals are lost or must be sacrificed. A pet, on the other hand, is unique and precious.</a:t>
            </a:r>
          </a:p>
          <a:p>
            <a:pPr lvl="0" indent="0" marL="0">
              <a:buNone/>
            </a:pPr>
          </a:p>
          <a:p>
            <a:pPr lvl="0" indent="0" marL="0">
              <a:buNone/>
            </a:pPr>
            <a:r>
              <a:rPr/>
              <a:t>This is one of the limitations of spreadsheets in relation to creating a holistic data workflow. The tool combines the data, the code/steps, and the interface all in one software with an emphasis on just showing the end product/output to the user and the code/steps component hidden away.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will discuss the possible file organisation for this in a later slide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Exercise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Using Microsoft Excel in a more effective and efficient way</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indent="-342900" marL="342900">
              <a:buAutoNum type="arabicPeriod"/>
            </a:pPr>
            <a:r>
              <a:rPr/>
              <a:t>Mindset</a:t>
            </a:r>
          </a:p>
          <a:p>
            <a:pPr lvl="0" indent="-342900" marL="342900">
              <a:buAutoNum type="arabicPeriod"/>
            </a:pPr>
            <a:r>
              <a:rPr/>
              <a:t>Livestock not pets</a:t>
            </a:r>
          </a:p>
          <a:p>
            <a:pPr lvl="0" indent="-342900" marL="342900">
              <a:buAutoNum type="arabicPeriod"/>
            </a:pPr>
            <a:r>
              <a:rPr/>
              <a:t>Project-oriented workflow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indent="0" marL="0">
              <a:buNone/>
            </a:pPr>
            <a:r>
              <a:rPr/>
              <a:t>As our skills as data analysts grow, the surrounding systems and infrastructure become crucial for ensuring the reproducibility and long-term preservation of our work. However, we often lack formal training or mentorship in managing such systems, leading us to either get lost amidst this technology or that we begin to explore these possibilities ourselves.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a:t>
            </a:r>
          </a:p>
        </p:txBody>
      </p:sp>
      <p:sp>
        <p:nvSpPr>
          <p:cNvPr id="3" name="Content Placeholder 2"/>
          <p:cNvSpPr>
            <a:spLocks noGrp="1"/>
          </p:cNvSpPr>
          <p:nvPr>
            <p:ph idx="1"/>
          </p:nvPr>
        </p:nvSpPr>
        <p:spPr/>
        <p:txBody>
          <a:bodyPr/>
          <a:lstStyle/>
          <a:p>
            <a:pPr lvl="0"/>
            <a:r>
              <a:rPr/>
              <a:t>With this short course, we hope to help you gracefully fall into this gap.</a:t>
            </a:r>
          </a:p>
          <a:p>
            <a:pPr lvl="0"/>
            <a:r>
              <a:rPr/>
              <a:t>Don’t fret over past mistakes, but raise the bar for new work. Small but meaningful incremental changes add up over time, transforming your </a:t>
            </a:r>
            <a:r>
              <a:rPr b="1"/>
              <a:t>data quality of life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Livestock not pets</a:t>
            </a:r>
          </a:p>
        </p:txBody>
      </p:sp>
      <p:sp>
        <p:nvSpPr>
          <p:cNvPr id="3" name="Content Placeholder 2"/>
          <p:cNvSpPr>
            <a:spLocks noGrp="1"/>
          </p:cNvSpPr>
          <p:nvPr>
            <p:ph idx="1"/>
          </p:nvPr>
        </p:nvSpPr>
        <p:spPr/>
        <p:txBody>
          <a:bodyPr/>
          <a:lstStyle/>
          <a:p>
            <a:pPr lvl="0" indent="0" marL="0">
              <a:buNone/>
            </a:pPr>
            <a:r>
              <a:rPr/>
              <a:t>Think of your data processes as livestock and not pets.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Spreadsheets: save a source for your written functions</a:t>
            </a:r>
          </a:p>
        </p:txBody>
      </p:sp>
      <p:sp>
        <p:nvSpPr>
          <p:cNvPr id="3" name="Content Placeholder 2"/>
          <p:cNvSpPr>
            <a:spLocks noGrp="1"/>
          </p:cNvSpPr>
          <p:nvPr>
            <p:ph idx="1"/>
          </p:nvPr>
        </p:nvSpPr>
        <p:spPr/>
        <p:txBody>
          <a:bodyPr/>
          <a:lstStyle/>
          <a:p>
            <a:pPr lvl="0"/>
            <a:r>
              <a:rPr/>
              <a:t>Use a text editor (rather than a word processor)</a:t>
            </a:r>
          </a:p>
          <a:p>
            <a:pPr lvl="1"/>
            <a:r>
              <a:rPr/>
              <a:t>For Windows: Notepad++ - https://notepad-plus-plus.org/</a:t>
            </a:r>
          </a:p>
          <a:p>
            <a:pPr lvl="1"/>
            <a:r>
              <a:rPr/>
              <a:t>For Mac: CodeEdit - https://www.codeedit.app/</a:t>
            </a:r>
          </a:p>
          <a:p>
            <a:pPr lvl="0"/>
            <a:r>
              <a:rPr/>
              <a:t>Create a text file to associate with every spreadsheet project that you are working on.</a:t>
            </a:r>
          </a:p>
          <a:p>
            <a:pPr lvl="0"/>
            <a:r>
              <a:rPr/>
              <a:t>Save the text file within the same directory as the associated spreadsheet.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Project-oriented workflow</a:t>
            </a:r>
          </a:p>
        </p:txBody>
      </p:sp>
      <p:sp>
        <p:nvSpPr>
          <p:cNvPr id="3" name="Content Placeholder 2"/>
          <p:cNvSpPr>
            <a:spLocks noGrp="1"/>
          </p:cNvSpPr>
          <p:nvPr>
            <p:ph idx="1"/>
          </p:nvPr>
        </p:nvSpPr>
        <p:spPr/>
        <p:txBody>
          <a:bodyPr/>
          <a:lstStyle/>
          <a:p>
            <a:pPr lvl="0" indent="0" marL="0">
              <a:buNone/>
            </a:pPr>
            <a:r>
              <a:rPr/>
              <a:t>Organise work into projects.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system discipline</a:t>
            </a:r>
          </a:p>
        </p:txBody>
      </p:sp>
      <p:sp>
        <p:nvSpPr>
          <p:cNvPr id="3" name="Content Placeholder 2"/>
          <p:cNvSpPr>
            <a:spLocks noGrp="1"/>
          </p:cNvSpPr>
          <p:nvPr>
            <p:ph idx="1"/>
          </p:nvPr>
        </p:nvSpPr>
        <p:spPr/>
        <p:txBody>
          <a:bodyPr/>
          <a:lstStyle/>
          <a:p>
            <a:pPr lvl="0"/>
            <a:r>
              <a:rPr/>
              <a:t>Put all the files related to a single project in a designated folder.</a:t>
            </a:r>
          </a:p>
          <a:p>
            <a:pPr lvl="0"/>
            <a:r>
              <a:rPr/>
              <a:t>This applies to data, code, figures, notes, etc.</a:t>
            </a:r>
          </a:p>
          <a:p>
            <a:pPr lvl="0"/>
            <a:r>
              <a:rPr/>
              <a:t>Depending on project complexity, you might enforce further organization into subfolders.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naming</a:t>
            </a:r>
          </a:p>
        </p:txBody>
      </p:sp>
      <p:sp>
        <p:nvSpPr>
          <p:cNvPr id="3" name="Content Placeholder 2"/>
          <p:cNvSpPr>
            <a:spLocks noGrp="1"/>
          </p:cNvSpPr>
          <p:nvPr>
            <p:ph idx="1"/>
          </p:nvPr>
        </p:nvSpPr>
        <p:spPr/>
        <p:txBody>
          <a:bodyPr/>
          <a:lstStyle/>
          <a:p>
            <a:pPr lvl="0" indent="0" marL="0">
              <a:buNone/>
            </a:pPr>
            <a:r>
              <a:rPr/>
              <a:t>File organisation and naming are powerful weapons against chaos.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pic>
        <p:nvPicPr>
          <p:cNvPr descr="../images/file_organisation.png" id="0" name="Picture 1"/>
          <p:cNvPicPr>
            <a:picLocks noGrp="1" noChangeAspect="1"/>
          </p:cNvPicPr>
          <p:nvPr/>
        </p:nvPicPr>
        <p:blipFill>
          <a:blip r:embed="rId2"/>
          <a:stretch>
            <a:fillRect/>
          </a:stretch>
        </p:blipFill>
        <p:spPr bwMode="auto">
          <a:xfrm>
            <a:off x="457200" y="1536700"/>
            <a:ext cx="4038600" cy="2692400"/>
          </a:xfrm>
          <a:prstGeom prst="rect">
            <a:avLst/>
          </a:prstGeom>
          <a:noFill/>
          <a:ln w="9525">
            <a:noFill/>
            <a:headEnd/>
            <a:tailEnd/>
          </a:ln>
        </p:spPr>
      </p:pic>
      <p:sp>
        <p:nvSpPr>
          <p:cNvPr id="4" name="Content Placeholder 3"/>
          <p:cNvSpPr>
            <a:spLocks noGrp="1"/>
          </p:cNvSpPr>
          <p:nvPr>
            <p:ph idx="2" sz="half"/>
          </p:nvPr>
        </p:nvSpPr>
        <p:spPr/>
        <p:txBody>
          <a:bodyPr/>
          <a:lstStyle/>
          <a:p>
            <a:pPr lvl="0"/>
            <a:r>
              <a:rPr/>
              <a:t>machine-readable</a:t>
            </a:r>
          </a:p>
          <a:p>
            <a:pPr lvl="0"/>
            <a:r>
              <a:rPr/>
              <a:t>human-readable</a:t>
            </a:r>
          </a:p>
          <a:p>
            <a:pPr lvl="0"/>
            <a:r>
              <a:rPr/>
              <a:t>plays well with default ordering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avoid spaces, punctuation, accented, characters, case sensitivity.</a:t>
            </a:r>
          </a:p>
          <a:p>
            <a:pPr lvl="0"/>
            <a:r>
              <a:rPr/>
              <a:t>deliberate use of delimiters/space-holders - </a:t>
            </a:r>
            <a:r>
              <a:rPr>
                <a:latin typeface="Courier"/>
              </a:rPr>
              <a:t>"_"</a:t>
            </a:r>
            <a:r>
              <a:rPr/>
              <a:t> or </a:t>
            </a:r>
            <a:r>
              <a:rPr>
                <a:latin typeface="Courier"/>
              </a:rPr>
              <a:t>"-"</a:t>
            </a:r>
          </a:p>
          <a:p>
            <a:pPr lvl="1"/>
            <a:r>
              <a:rPr/>
              <a:t>general rule is that </a:t>
            </a:r>
            <a:r>
              <a:rPr>
                <a:latin typeface="Courier"/>
              </a:rPr>
              <a:t>"_"</a:t>
            </a:r>
            <a:r>
              <a:rPr/>
              <a:t> to delimit units of metadata while </a:t>
            </a:r>
            <a:r>
              <a:rPr>
                <a:latin typeface="Courier"/>
              </a:rPr>
              <a:t>"-"</a:t>
            </a:r>
            <a:r>
              <a:rPr/>
              <a:t> to delimit words so that they are more readable.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Machine-readable</a:t>
            </a:r>
          </a:p>
        </p:txBody>
      </p:sp>
      <p:sp>
        <p:nvSpPr>
          <p:cNvPr id="3" name="Content Placeholder 2"/>
          <p:cNvSpPr>
            <a:spLocks noGrp="1"/>
          </p:cNvSpPr>
          <p:nvPr>
            <p:ph idx="1"/>
          </p:nvPr>
        </p:nvSpPr>
        <p:spPr/>
        <p:txBody>
          <a:bodyPr/>
          <a:lstStyle/>
          <a:p>
            <a:pPr lvl="0"/>
            <a:r>
              <a:rPr/>
              <a:t>easy to search for files later</a:t>
            </a:r>
          </a:p>
          <a:p>
            <a:pPr lvl="0"/>
            <a:r>
              <a:rPr/>
              <a:t>easy to narrow file lists based on names</a:t>
            </a:r>
          </a:p>
          <a:p>
            <a:pPr lvl="0"/>
            <a:r>
              <a:rPr/>
              <a:t>easy to extract information from file names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a:r>
              <a:rPr/>
              <a:t>name contains info on content.</a:t>
            </a:r>
          </a:p>
          <a:p>
            <a:pPr lvl="0"/>
            <a:r>
              <a:rPr/>
              <a:t>use the concept of a </a:t>
            </a:r>
            <a:r>
              <a:rPr b="1"/>
              <a:t>slug</a:t>
            </a:r>
            <a:r>
              <a:rPr/>
              <a:t> used in URLs.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Human-readable</a:t>
            </a:r>
          </a:p>
        </p:txBody>
      </p:sp>
      <p:sp>
        <p:nvSpPr>
          <p:cNvPr id="3" name="Content Placeholder 2"/>
          <p:cNvSpPr>
            <a:spLocks noGrp="1"/>
          </p:cNvSpPr>
          <p:nvPr>
            <p:ph idx="1"/>
          </p:nvPr>
        </p:nvSpPr>
        <p:spPr/>
        <p:txBody>
          <a:bodyPr/>
          <a:lstStyle/>
          <a:p>
            <a:pPr lvl="0" indent="0" marL="0">
              <a:buNone/>
            </a:pPr>
            <a:r>
              <a:rPr/>
              <a:t>Easy to figure out what something is based on its name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Plays well with default ordering</a:t>
            </a:r>
          </a:p>
        </p:txBody>
      </p:sp>
      <p:sp>
        <p:nvSpPr>
          <p:cNvPr id="3" name="Content Placeholder 2"/>
          <p:cNvSpPr>
            <a:spLocks noGrp="1"/>
          </p:cNvSpPr>
          <p:nvPr>
            <p:ph idx="1"/>
          </p:nvPr>
        </p:nvSpPr>
        <p:spPr/>
        <p:txBody>
          <a:bodyPr/>
          <a:lstStyle/>
          <a:p>
            <a:pPr lvl="0"/>
            <a:r>
              <a:rPr/>
              <a:t>put something numeric first</a:t>
            </a:r>
          </a:p>
          <a:p>
            <a:pPr lvl="0"/>
            <a:r>
              <a:rPr/>
              <a:t>use ISO 8601 standard for dates</a:t>
            </a:r>
          </a:p>
          <a:p>
            <a:pPr lvl="0"/>
            <a:r>
              <a:rPr/>
              <a:t>add leading zeros to numbers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principles for file names</a:t>
            </a:r>
          </a:p>
        </p:txBody>
      </p:sp>
      <p:sp>
        <p:nvSpPr>
          <p:cNvPr id="3" name="Content Placeholder 2"/>
          <p:cNvSpPr>
            <a:spLocks noGrp="1"/>
          </p:cNvSpPr>
          <p:nvPr>
            <p:ph idx="1"/>
          </p:nvPr>
        </p:nvSpPr>
        <p:spPr/>
        <p:txBody>
          <a:bodyPr/>
          <a:lstStyle/>
          <a:p>
            <a:pPr lvl="0"/>
            <a:r>
              <a:rPr/>
              <a:t>easy to implement now</a:t>
            </a:r>
          </a:p>
          <a:p>
            <a:pPr lvl="0"/>
            <a:r>
              <a:rPr/>
              <a:t>payoffs accumulate as your skills evolve and projects get more complex</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a:t>
            </a:r>
          </a:p>
        </p:txBody>
      </p:sp>
      <p:sp>
        <p:nvSpPr>
          <p:cNvPr id="3" name="Content Placeholder 2"/>
          <p:cNvSpPr>
            <a:spLocks noGrp="1"/>
          </p:cNvSpPr>
          <p:nvPr>
            <p:ph idx="1"/>
          </p:nvPr>
        </p:nvSpPr>
        <p:spPr/>
        <p:txBody>
          <a:bodyPr/>
          <a:lstStyle/>
          <a:p>
            <a:pPr lvl="0" indent="0" marL="0">
              <a:buNone/>
            </a:pPr>
            <a:r>
              <a:rPr/>
              <a:t>The </a:t>
            </a:r>
            <a:r>
              <a:rPr>
                <a:latin typeface="Courier"/>
              </a:rPr>
              <a:t>fem</a:t>
            </a:r>
            <a:r>
              <a:rPr/>
              <a:t> data is a dataset from 118 female students consulting at the university mental health/psychiatry clinic.</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dictionary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09700"/>
                <a:gridCol w="6819900"/>
              </a:tblGrid>
              <a:tr h="0">
                <a:tc>
                  <a:txBody>
                    <a:bodyPr/>
                    <a:lstStyle/>
                    <a:p>
                      <a:pPr lvl="0" indent="0" marL="0">
                        <a:buNone/>
                      </a:pPr>
                      <a:r>
                        <a:rPr b="1"/>
                        <a:t>ID</a:t>
                      </a:r>
                    </a:p>
                  </a:txBody>
                  <a:tcPr/>
                </a:tc>
                <a:tc>
                  <a:txBody>
                    <a:bodyPr/>
                    <a:lstStyle/>
                    <a:p>
                      <a:pPr lvl="0" indent="0" marL="0">
                        <a:buNone/>
                      </a:pPr>
                      <a:r>
                        <a:rPr/>
                        <a:t>Patient ID</a:t>
                      </a:r>
                    </a:p>
                  </a:txBody>
                  <a:tcPr/>
                </a:tc>
              </a:tr>
              <a:tr h="0">
                <a:tc>
                  <a:txBody>
                    <a:bodyPr/>
                    <a:lstStyle/>
                    <a:p>
                      <a:pPr lvl="0" indent="0" marL="0">
                        <a:buNone/>
                      </a:pPr>
                      <a:r>
                        <a:rPr b="1"/>
                        <a:t>AGE</a:t>
                      </a:r>
                    </a:p>
                  </a:txBody>
                </a:tc>
                <a:tc>
                  <a:txBody>
                    <a:bodyPr/>
                    <a:lstStyle/>
                    <a:p>
                      <a:pPr lvl="0" indent="0" marL="0">
                        <a:buNone/>
                      </a:pPr>
                      <a:r>
                        <a:rPr/>
                        <a:t>Age in years</a:t>
                      </a:r>
                    </a:p>
                  </a:txBody>
                </a:tc>
              </a:tr>
              <a:tr h="0">
                <a:tc>
                  <a:txBody>
                    <a:bodyPr/>
                    <a:lstStyle/>
                    <a:p>
                      <a:pPr lvl="0" indent="0" marL="0">
                        <a:buNone/>
                      </a:pPr>
                      <a:r>
                        <a:rPr b="1"/>
                        <a:t>IQ</a:t>
                      </a:r>
                    </a:p>
                  </a:txBody>
                </a:tc>
                <a:tc>
                  <a:txBody>
                    <a:bodyPr/>
                    <a:lstStyle/>
                    <a:p>
                      <a:pPr lvl="0" indent="0" marL="0">
                        <a:buNone/>
                      </a:pPr>
                      <a:r>
                        <a:rPr/>
                        <a:t>IQ score</a:t>
                      </a:r>
                    </a:p>
                  </a:txBody>
                </a:tc>
              </a:tr>
              <a:tr h="0">
                <a:tc>
                  <a:txBody>
                    <a:bodyPr/>
                    <a:lstStyle/>
                    <a:p>
                      <a:pPr lvl="0" indent="0" marL="0">
                        <a:buNone/>
                      </a:pPr>
                      <a:r>
                        <a:rPr b="1"/>
                        <a:t>ANX</a:t>
                      </a:r>
                    </a:p>
                  </a:txBody>
                </a:tc>
                <a:tc>
                  <a:txBody>
                    <a:bodyPr/>
                    <a:lstStyle/>
                    <a:p>
                      <a:pPr lvl="0" indent="0" marL="0">
                        <a:buNone/>
                      </a:pPr>
                      <a:r>
                        <a:rPr/>
                        <a:t>Anxiety (1=none, 2=mild, 3=moderate, 4=severe)</a:t>
                      </a:r>
                    </a:p>
                  </a:txBody>
                </a:tc>
              </a:tr>
              <a:tr h="0">
                <a:tc>
                  <a:txBody>
                    <a:bodyPr/>
                    <a:lstStyle/>
                    <a:p>
                      <a:pPr lvl="0" indent="0" marL="0">
                        <a:buNone/>
                      </a:pPr>
                      <a:r>
                        <a:rPr b="1"/>
                        <a:t>DEP</a:t>
                      </a:r>
                    </a:p>
                  </a:txBody>
                </a:tc>
                <a:tc>
                  <a:txBody>
                    <a:bodyPr/>
                    <a:lstStyle/>
                    <a:p>
                      <a:pPr lvl="0" indent="0" marL="0">
                        <a:buNone/>
                      </a:pPr>
                      <a:r>
                        <a:rPr/>
                        <a:t>Depression (1=none, 2=mild, 3=moderate or severe)</a:t>
                      </a:r>
                    </a:p>
                  </a:txBody>
                </a:tc>
              </a:tr>
              <a:tr h="0">
                <a:tc>
                  <a:txBody>
                    <a:bodyPr/>
                    <a:lstStyle/>
                    <a:p>
                      <a:pPr lvl="0" indent="0" marL="0">
                        <a:buNone/>
                      </a:pPr>
                      <a:r>
                        <a:rPr b="1"/>
                        <a:t>SLP</a:t>
                      </a:r>
                    </a:p>
                  </a:txBody>
                </a:tc>
                <a:tc>
                  <a:txBody>
                    <a:bodyPr/>
                    <a:lstStyle/>
                    <a:p>
                      <a:pPr lvl="0" indent="0" marL="0">
                        <a:buNone/>
                      </a:pPr>
                      <a:r>
                        <a:rPr/>
                        <a:t>Sleeping normally (1=yes, 2=no)</a:t>
                      </a:r>
                    </a:p>
                  </a:txBody>
                </a:tc>
              </a:tr>
              <a:tr h="0">
                <a:tc>
                  <a:txBody>
                    <a:bodyPr/>
                    <a:lstStyle/>
                    <a:p>
                      <a:pPr lvl="0" indent="0" marL="0">
                        <a:buNone/>
                      </a:pPr>
                      <a:r>
                        <a:rPr b="1"/>
                        <a:t>SEX</a:t>
                      </a:r>
                    </a:p>
                  </a:txBody>
                </a:tc>
                <a:tc>
                  <a:txBody>
                    <a:bodyPr/>
                    <a:lstStyle/>
                    <a:p>
                      <a:pPr lvl="0" indent="0" marL="0">
                        <a:buNone/>
                      </a:pPr>
                      <a:r>
                        <a:rPr/>
                        <a:t>Lost interest in sex (1=yes, 2=no)</a:t>
                      </a:r>
                    </a:p>
                  </a:txBody>
                </a:tc>
              </a:tr>
              <a:tr h="0">
                <a:tc>
                  <a:txBody>
                    <a:bodyPr/>
                    <a:lstStyle/>
                    <a:p>
                      <a:pPr lvl="0" indent="0" marL="0">
                        <a:buNone/>
                      </a:pPr>
                      <a:r>
                        <a:rPr b="1"/>
                        <a:t>LIFE</a:t>
                      </a:r>
                    </a:p>
                  </a:txBody>
                </a:tc>
                <a:tc>
                  <a:txBody>
                    <a:bodyPr/>
                    <a:lstStyle/>
                    <a:p>
                      <a:pPr lvl="0" indent="0" marL="0">
                        <a:buNone/>
                      </a:pPr>
                      <a:r>
                        <a:rPr/>
                        <a:t>Considered suicide (1=yes, 2=no)</a:t>
                      </a:r>
                    </a:p>
                  </a:txBody>
                </a:tc>
              </a:tr>
              <a:tr h="0">
                <a:tc>
                  <a:txBody>
                    <a:bodyPr/>
                    <a:lstStyle/>
                    <a:p>
                      <a:pPr lvl="0" indent="0" marL="0">
                        <a:buNone/>
                      </a:pPr>
                      <a:r>
                        <a:rPr b="1"/>
                        <a:t>WT</a:t>
                      </a:r>
                    </a:p>
                  </a:txBody>
                </a:tc>
                <a:tc>
                  <a:txBody>
                    <a:bodyPr/>
                    <a:lstStyle/>
                    <a:p>
                      <a:pPr lvl="0" indent="0" marL="0">
                        <a:buNone/>
                      </a:pPr>
                      <a:r>
                        <a:rPr/>
                        <a:t>Weight change (kg) in previous 6 months</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Exercise</dc:title>
  <dc:creator/>
  <cp:keywords/>
  <dcterms:created xsi:type="dcterms:W3CDTF">2025-12-29T23:05:45Z</dcterms:created>
  <dcterms:modified xsi:type="dcterms:W3CDTF">2025-12-29T23:05:45Z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ubtitle">
    <vt:lpwstr>Using Microsoft Excel in a more effective and efficient way</vt:lpwstr>
  </property>
  <property fmtid="{D5CDD505-2E9C-101B-9397-08002B2CF9AE}" pid="8" name="title-slide-attributes">
    <vt:lpwstr/>
  </property>
  <property fmtid="{D5CDD505-2E9C-101B-9397-08002B2CF9AE}" pid="9" name="toc-title">
    <vt:lpwstr>Table of contents</vt:lpwstr>
  </property>
</Properties>
</file>