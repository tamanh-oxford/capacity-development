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will discuss the possible file organisation for this in a later slide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Exercise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Using Microsoft Excel in a more effective and efficient way</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indent="-342900" marL="342900">
              <a:buAutoNum type="arabicPeriod"/>
            </a:pPr>
            <a:r>
              <a:rPr/>
              <a:t>Mindset</a:t>
            </a:r>
          </a:p>
          <a:p>
            <a:pPr lvl="0" indent="-342900" marL="342900">
              <a:buAutoNum type="arabicPeriod"/>
            </a:pPr>
            <a:r>
              <a:rPr/>
              <a:t>Livestock not pets</a:t>
            </a:r>
          </a:p>
          <a:p>
            <a:pPr lvl="0" indent="-342900" marL="342900">
              <a:buAutoNum type="arabicPeriod"/>
            </a:pPr>
            <a:r>
              <a:rPr/>
              <a:t>Project-oriented workflow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save a source for your written functions</a:t>
            </a:r>
          </a:p>
        </p:txBody>
      </p:sp>
      <p:sp>
        <p:nvSpPr>
          <p:cNvPr id="3" name="Content Placeholder 2"/>
          <p:cNvSpPr>
            <a:spLocks noGrp="1"/>
          </p:cNvSpPr>
          <p:nvPr>
            <p:ph idx="1"/>
          </p:nvPr>
        </p:nvSpPr>
        <p:spPr/>
        <p:txBody>
          <a:bodyPr/>
          <a:lstStyle/>
          <a:p>
            <a:pPr lvl="0"/>
            <a:r>
              <a:rPr/>
              <a:t>Use a text editor (rather than a word processor)</a:t>
            </a:r>
          </a:p>
          <a:p>
            <a:pPr lvl="1"/>
            <a:r>
              <a:rPr/>
              <a:t>For Windows: Notepad++ - https://notepad-plus-plus.org/</a:t>
            </a:r>
          </a:p>
          <a:p>
            <a:pPr lvl="1"/>
            <a:r>
              <a:rPr/>
              <a:t>For Mac: CodeEdit - https://www.codeedit.app/</a:t>
            </a:r>
          </a:p>
          <a:p>
            <a:pPr lvl="0"/>
            <a:r>
              <a:rPr/>
              <a:t>Create a text file to associate with every spreadsheet project that you are working on.</a:t>
            </a:r>
          </a:p>
          <a:p>
            <a:pPr lvl="0"/>
            <a:r>
              <a:rPr/>
              <a:t>Save the text file within the same directory as the associated spreadsheet.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a:t>
            </a:r>
          </a:p>
        </p:txBody>
      </p:sp>
      <p:sp>
        <p:nvSpPr>
          <p:cNvPr id="3" name="Content Placeholder 2"/>
          <p:cNvSpPr>
            <a:spLocks noGrp="1"/>
          </p:cNvSpPr>
          <p:nvPr>
            <p:ph idx="1"/>
          </p:nvPr>
        </p:nvSpPr>
        <p:spPr/>
        <p:txBody>
          <a:bodyPr/>
          <a:lstStyle/>
          <a:p>
            <a:pPr lvl="0" indent="0" marL="0">
              <a:buNone/>
            </a:pPr>
            <a:r>
              <a:rPr/>
              <a:t>The </a:t>
            </a:r>
            <a:r>
              <a:rPr>
                <a:latin typeface="Courier"/>
              </a:rPr>
              <a:t>fem</a:t>
            </a:r>
            <a:r>
              <a:rPr/>
              <a:t> data is a dataset from 118 female students consulting at the university mental health/psychiatry clinic.</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409700"/>
                <a:gridCol w="6819900"/>
              </a:tblGrid>
              <a:tr h="0">
                <a:tc>
                  <a:txBody>
                    <a:bodyPr/>
                    <a:lstStyle/>
                    <a:p>
                      <a:pPr lvl="0" indent="0" marL="0">
                        <a:buNone/>
                      </a:pPr>
                      <a:r>
                        <a:rPr b="1"/>
                        <a:t>ID</a:t>
                      </a:r>
                    </a:p>
                  </a:txBody>
                  <a:tcPr/>
                </a:tc>
                <a:tc>
                  <a:txBody>
                    <a:bodyPr/>
                    <a:lstStyle/>
                    <a:p>
                      <a:pPr lvl="0" indent="0" marL="0">
                        <a:buNone/>
                      </a:pPr>
                      <a:r>
                        <a:rPr/>
                        <a:t>Patient ID</a:t>
                      </a:r>
                    </a:p>
                  </a:txBody>
                  <a:tcPr/>
                </a:tc>
              </a:tr>
              <a:tr h="0">
                <a:tc>
                  <a:txBody>
                    <a:bodyPr/>
                    <a:lstStyle/>
                    <a:p>
                      <a:pPr lvl="0" indent="0" marL="0">
                        <a:buNone/>
                      </a:pPr>
                      <a:r>
                        <a:rPr b="1"/>
                        <a:t>AGE</a:t>
                      </a:r>
                    </a:p>
                  </a:txBody>
                </a:tc>
                <a:tc>
                  <a:txBody>
                    <a:bodyPr/>
                    <a:lstStyle/>
                    <a:p>
                      <a:pPr lvl="0" indent="0" marL="0">
                        <a:buNone/>
                      </a:pPr>
                      <a:r>
                        <a:rPr/>
                        <a:t>Age in years</a:t>
                      </a:r>
                    </a:p>
                  </a:txBody>
                </a:tc>
              </a:tr>
              <a:tr h="0">
                <a:tc>
                  <a:txBody>
                    <a:bodyPr/>
                    <a:lstStyle/>
                    <a:p>
                      <a:pPr lvl="0" indent="0" marL="0">
                        <a:buNone/>
                      </a:pPr>
                      <a:r>
                        <a:rPr b="1"/>
                        <a:t>IQ</a:t>
                      </a:r>
                    </a:p>
                  </a:txBody>
                </a:tc>
                <a:tc>
                  <a:txBody>
                    <a:bodyPr/>
                    <a:lstStyle/>
                    <a:p>
                      <a:pPr lvl="0" indent="0" marL="0">
                        <a:buNone/>
                      </a:pPr>
                      <a:r>
                        <a:rPr/>
                        <a:t>IQ score</a:t>
                      </a:r>
                    </a:p>
                  </a:txBody>
                </a:tc>
              </a:tr>
              <a:tr h="0">
                <a:tc>
                  <a:txBody>
                    <a:bodyPr/>
                    <a:lstStyle/>
                    <a:p>
                      <a:pPr lvl="0" indent="0" marL="0">
                        <a:buNone/>
                      </a:pPr>
                      <a:r>
                        <a:rPr b="1"/>
                        <a:t>ANX</a:t>
                      </a:r>
                    </a:p>
                  </a:txBody>
                </a:tc>
                <a:tc>
                  <a:txBody>
                    <a:bodyPr/>
                    <a:lstStyle/>
                    <a:p>
                      <a:pPr lvl="0" indent="0" marL="0">
                        <a:buNone/>
                      </a:pPr>
                      <a:r>
                        <a:rPr/>
                        <a:t>Anxiety (1=none, 2=mild, 3=moderate, 4=severe)</a:t>
                      </a:r>
                    </a:p>
                  </a:txBody>
                </a:tc>
              </a:tr>
              <a:tr h="0">
                <a:tc>
                  <a:txBody>
                    <a:bodyPr/>
                    <a:lstStyle/>
                    <a:p>
                      <a:pPr lvl="0" indent="0" marL="0">
                        <a:buNone/>
                      </a:pPr>
                      <a:r>
                        <a:rPr b="1"/>
                        <a:t>DEP</a:t>
                      </a:r>
                    </a:p>
                  </a:txBody>
                </a:tc>
                <a:tc>
                  <a:txBody>
                    <a:bodyPr/>
                    <a:lstStyle/>
                    <a:p>
                      <a:pPr lvl="0" indent="0" marL="0">
                        <a:buNone/>
                      </a:pPr>
                      <a:r>
                        <a:rPr/>
                        <a:t>Depression (1=none, 2=mild, 3=moderate or severe)</a:t>
                      </a:r>
                    </a:p>
                  </a:txBody>
                </a:tc>
              </a:tr>
              <a:tr h="0">
                <a:tc>
                  <a:txBody>
                    <a:bodyPr/>
                    <a:lstStyle/>
                    <a:p>
                      <a:pPr lvl="0" indent="0" marL="0">
                        <a:buNone/>
                      </a:pPr>
                      <a:r>
                        <a:rPr b="1"/>
                        <a:t>SLP</a:t>
                      </a:r>
                    </a:p>
                  </a:txBody>
                </a:tc>
                <a:tc>
                  <a:txBody>
                    <a:bodyPr/>
                    <a:lstStyle/>
                    <a:p>
                      <a:pPr lvl="0" indent="0" marL="0">
                        <a:buNone/>
                      </a:pPr>
                      <a:r>
                        <a:rPr/>
                        <a:t>Sleeping normally (1=yes, 2=no)</a:t>
                      </a:r>
                    </a:p>
                  </a:txBody>
                </a:tc>
              </a:tr>
              <a:tr h="0">
                <a:tc>
                  <a:txBody>
                    <a:bodyPr/>
                    <a:lstStyle/>
                    <a:p>
                      <a:pPr lvl="0" indent="0" marL="0">
                        <a:buNone/>
                      </a:pPr>
                      <a:r>
                        <a:rPr b="1"/>
                        <a:t>SEX</a:t>
                      </a:r>
                    </a:p>
                  </a:txBody>
                </a:tc>
                <a:tc>
                  <a:txBody>
                    <a:bodyPr/>
                    <a:lstStyle/>
                    <a:p>
                      <a:pPr lvl="0" indent="0" marL="0">
                        <a:buNone/>
                      </a:pPr>
                      <a:r>
                        <a:rPr/>
                        <a:t>Lost interest in sex (1=yes, 2=no)</a:t>
                      </a:r>
                    </a:p>
                  </a:txBody>
                </a:tc>
              </a:tr>
              <a:tr h="0">
                <a:tc>
                  <a:txBody>
                    <a:bodyPr/>
                    <a:lstStyle/>
                    <a:p>
                      <a:pPr lvl="0" indent="0" marL="0">
                        <a:buNone/>
                      </a:pPr>
                      <a:r>
                        <a:rPr b="1"/>
                        <a:t>LIFE</a:t>
                      </a:r>
                    </a:p>
                  </a:txBody>
                </a:tc>
                <a:tc>
                  <a:txBody>
                    <a:bodyPr/>
                    <a:lstStyle/>
                    <a:p>
                      <a:pPr lvl="0" indent="0" marL="0">
                        <a:buNone/>
                      </a:pPr>
                      <a:r>
                        <a:rPr/>
                        <a:t>Considered suicide (1=yes, 2=no)</a:t>
                      </a:r>
                    </a:p>
                  </a:txBody>
                </a:tc>
              </a:tr>
              <a:tr h="0">
                <a:tc>
                  <a:txBody>
                    <a:bodyPr/>
                    <a:lstStyle/>
                    <a:p>
                      <a:pPr lvl="0" indent="0" marL="0">
                        <a:buNone/>
                      </a:pPr>
                      <a:r>
                        <a:rPr b="1"/>
                        <a:t>WT</a:t>
                      </a:r>
                    </a:p>
                  </a:txBody>
                </a:tc>
                <a:tc>
                  <a:txBody>
                    <a:bodyPr/>
                    <a:lstStyle/>
                    <a:p>
                      <a:pPr lvl="0" indent="0" marL="0">
                        <a:buNone/>
                      </a:pPr>
                      <a:r>
                        <a:rPr/>
                        <a:t>Weight change (kg) in previous 6 months</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Exercise</dc:title>
  <dc:creator/>
  <cp:keywords/>
  <dcterms:created xsi:type="dcterms:W3CDTF">2025-12-31T00:51:32Z</dcterms:created>
  <dcterms:modified xsi:type="dcterms:W3CDTF">2025-12-31T00:51:32Z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Using Microsoft Excel in a more effective and efficient way</vt:lpwstr>
  </property>
  <property fmtid="{D5CDD505-2E9C-101B-9397-08002B2CF9AE}" pid="8" name="title-slide-attributes">
    <vt:lpwstr/>
  </property>
  <property fmtid="{D5CDD505-2E9C-101B-9397-08002B2CF9AE}" pid="9" name="toc-title">
    <vt:lpwstr>Table of contents</vt:lpwstr>
  </property>
</Properties>
</file>