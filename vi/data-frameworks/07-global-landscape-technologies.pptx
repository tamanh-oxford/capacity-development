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Buổi 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Bức tranh toàn cầu về các công nghệ có sẵn cho dữ liệu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tech_landscape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1193800"/>
            <a:ext cx="654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Số lượng công cụ và công nghệ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Năm 2012, có khoảng </a:t>
            </a:r>
            <a:r>
              <a:rPr b="1"/>
              <a:t>139</a:t>
            </a:r>
            <a:r>
              <a:rPr/>
              <a:t> ứng dụng/công cụ/nền tảng liên quan đến dữ liệu.</a:t>
            </a:r>
          </a:p>
          <a:p>
            <a:pPr lvl="0"/>
            <a:r>
              <a:rPr/>
              <a:t>Đến năm 2023, con số này đã tăng lên khoảng </a:t>
            </a:r>
            <a:r>
              <a:rPr b="1"/>
              <a:t>1416</a:t>
            </a:r>
            <a:r>
              <a:rPr/>
              <a:t>.</a:t>
            </a:r>
          </a:p>
          <a:p>
            <a:pPr lvl="0"/>
            <a:r>
              <a:rPr/>
              <a:t>Đến năm 2024, con số này đã tăng lên hơn </a:t>
            </a:r>
            <a:r>
              <a:rPr b="1"/>
              <a:t>2000</a:t>
            </a:r>
            <a:r>
              <a:rPr/>
              <a:t>.</a:t>
            </a:r>
          </a:p>
        </p:txBody>
      </p:sp>
      <p:pic>
        <p:nvPicPr>
          <p:cNvPr descr="../images/tech_landscape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41500"/>
            <a:ext cx="4038600" cy="209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Công nghệ và phương pháp hỗ trợ ra quyết định dựa trên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Công nghệ hỗ trợ phân tích dữ liệu quy mô lớn: trí tuệ nhân tạo, bao gồm học máy</a:t>
            </a:r>
          </a:p>
          <a:p>
            <a:pPr lvl="0"/>
            <a:r>
              <a:rPr/>
              <a:t>Công nghệ thu thập dữ liệu và cung cấp thông tin từ phân tích: các thiết bị thông minh và thiết bị kết nối qua Internet of Things (IoT)</a:t>
            </a:r>
          </a:p>
          <a:p>
            <a:pPr lvl="0"/>
            <a:r>
              <a:rPr/>
              <a:t>Công nghệ tạo ra tính minh bạch và niềm tin trong hồ sơ dữ liệu: công nghệ sổ cái phân tán, bao gồm blockchain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Các công ty nền tảng tại các quốc gia có thu nhập thấp và trung bình</a:t>
            </a:r>
          </a:p>
        </p:txBody>
      </p:sp>
      <p:pic>
        <p:nvPicPr>
          <p:cNvPr descr="../images/data_platform_fir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65200" y="1193800"/>
            <a:ext cx="7226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Các doanh nghiệp trong nước so với các doanh nghiệp có trụ sở nước ngoài</a:t>
            </a:r>
          </a:p>
        </p:txBody>
      </p:sp>
      <p:pic>
        <p:nvPicPr>
          <p:cNvPr descr="../images/data_foreign_domestic_fir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Người dùng dành nhiều thời gian hơn trên Facebook, Google và YouTube</a:t>
            </a:r>
          </a:p>
        </p:txBody>
      </p:sp>
      <p:pic>
        <p:nvPicPr>
          <p:cNvPr descr="../images/data_website_visi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100" y="1193800"/>
            <a:ext cx="7797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Lưu lượng truy cập Internet tại các quốc gia có thu nhập thấp và trung bình</a:t>
            </a:r>
          </a:p>
        </p:txBody>
      </p:sp>
      <p:pic>
        <p:nvPicPr>
          <p:cNvPr descr="../images/data_global_internet_sh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1193800"/>
            <a:ext cx="3352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Vòng đời dữ liệu</a:t>
            </a:r>
          </a:p>
        </p:txBody>
      </p:sp>
      <p:pic>
        <p:nvPicPr>
          <p:cNvPr descr="../images/data_lifecyc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1193800"/>
            <a:ext cx="4572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Bản đồ công nghệ dữ liệu</a:t>
            </a:r>
          </a:p>
        </p:txBody>
      </p:sp>
      <p:pic>
        <p:nvPicPr>
          <p:cNvPr descr="../images/tech_landscape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93800" y="1193800"/>
            <a:ext cx="674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7</dc:title>
  <dc:creator>Ernest Guevarra</dc:creator>
  <cp:keywords/>
  <dcterms:created xsi:type="dcterms:W3CDTF">2026-01-13T09:11:31Z</dcterms:created>
  <dcterms:modified xsi:type="dcterms:W3CDTF">2026-01-13T09:11:31Z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vi">
    <vt:lpwstr>yes</vt:lpwstr>
  </property>
  <property fmtid="{D5CDD505-2E9C-101B-9397-08002B2CF9AE}" pid="15" name="subtitle">
    <vt:lpwstr>Bức tranh toàn cầu về các công nghệ có sẵn cho dữ liệu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