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 Id="rId3" Type="http://schemas.openxmlformats.org/officeDocument/2006/relationships/hyperlink" Target="https://assets.publishing.service.gov.uk/media/64184bccd3bf7f79d9675dbd/Data_Maturity_Assessment_for_Government_-_FINAL_PDF.pdf"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457200" y="1485900"/>
            <a:ext cx="8229600" cy="2806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a:p>
            <a:pPr lvl="1" indent="0" marL="342900">
              <a:buNone/>
            </a:pPr>
            <a:r>
              <a:rPr/>
              <a:t>:::</a:t>
            </a:r>
          </a:p>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a:p>
            <a:pPr lvl="0" indent="0" marL="0">
              <a:spcBef>
                <a:spcPts val="3000"/>
              </a:spcBef>
              <a:buNone/>
            </a:pPr>
            <a:r>
              <a:rPr b="1"/>
              <a:t>Chuyên gia</a:t>
            </a:r>
          </a:p>
          <a:p>
            <a:pPr lvl="0"/>
            <a:r>
              <a:rPr/>
              <a:t>Thường xuyên được người khác tham khảo ý kiến về phân loại dữ liệu và quy trình mã hóa.</a:t>
            </a:r>
          </a:p>
          <a:p>
            <a:pPr lvl="0"/>
            <a:r>
              <a:rPr/>
              <a:t>Có khả năng áp dụng các khung khái niệm để hỗ trợ phân loại dữ liệu và mã hóa.</a:t>
            </a:r>
          </a:p>
          <a:p>
            <a:pPr lvl="0" indent="0" marL="0">
              <a:spcBef>
                <a:spcPts val="3000"/>
              </a:spcBef>
              <a:buNone/>
            </a:pPr>
            <a:r>
              <a:rPr b="1"/>
              <a:t>Hướng dẫn Khung Năng lực Dữ liệu</a:t>
            </a:r>
          </a:p>
          <a:p>
            <a:pPr lvl="0" indent="0" marL="0">
              <a:buNone/>
            </a:pPr>
          </a:p>
          <a:p>
            <a:pPr lvl="0" indent="0" marL="0">
              <a:buNone/>
            </a:pPr>
            <a:r>
              <a:rPr>
                <a:hlinkClick r:id="rId2"/>
              </a:rPr>
              <a:t>Liên kết</a:t>
            </a:r>
          </a:p>
          <a:p>
            <a:pPr lvl="0" indent="0" marL="0">
              <a:spcBef>
                <a:spcPts val="3000"/>
              </a:spcBef>
              <a:buNone/>
            </a:pPr>
            <a:r>
              <a:rPr b="1"/>
              <a:t>Khung đánh giá mức độ trưởng thành dữ liệu</a:t>
            </a:r>
          </a:p>
          <a:p>
            <a:pPr lvl="0" indent="0" marL="0">
              <a:buNone/>
            </a:pPr>
          </a:p>
          <a:p>
            <a:pPr lvl="0" indent="0" marL="0">
              <a:spcBef>
                <a:spcPts val="3000"/>
              </a:spcBef>
              <a:buNone/>
            </a:pPr>
            <a:r>
              <a:rPr b="1"/>
              <a:t>Khung đánh giá mức độ trưởng thành của dữ liệu</a:t>
            </a:r>
          </a:p>
          <a:p>
            <a:pPr lvl="0"/>
            <a:r>
              <a:rPr b="1"/>
              <a:t>Các chủ đề:</a:t>
            </a:r>
            <a:r>
              <a:rPr/>
              <a:t> Ứng dụng, Dữ liệu, Lãnh đạo, Văn hóa, Công cụ, Kỹ năng</a:t>
            </a:r>
          </a:p>
          <a:p>
            <a:pPr lvl="0"/>
            <a:r>
              <a:rPr b="1"/>
              <a:t>Các cấp độ trưởng thành:</a:t>
            </a:r>
            <a:r>
              <a:rPr/>
              <a:t> Bắt đầu, Phát triển ban đầu, Học hỏi, Phát triển, Thành thạo</a:t>
            </a:r>
          </a:p>
          <a:p>
            <a:pPr lvl="0" indent="0" marL="0">
              <a:spcBef>
                <a:spcPts val="3000"/>
              </a:spcBef>
              <a:buNone/>
            </a:pPr>
            <a:r>
              <a:rPr b="1"/>
              <a:t>Khung đánh giá mức độ trưởng thành của dữ liệu - ví dụ</a:t>
            </a:r>
          </a:p>
          <a:p>
            <a:pPr lvl="0" indent="0" marL="0">
              <a:buNone/>
            </a:pPr>
          </a:p>
          <a:p>
            <a:pPr lvl="0" indent="0" marL="0">
              <a:spcBef>
                <a:spcPts val="3000"/>
              </a:spcBef>
              <a:buNone/>
            </a:pPr>
            <a:r>
              <a:rPr b="1"/>
              <a:t>Hướng dẫn Khung đánh giá mức độ trưởng thành dữ liệu</a:t>
            </a:r>
          </a:p>
          <a:p>
            <a:pPr lvl="0" indent="0" marL="0">
              <a:buNone/>
            </a:pPr>
          </a:p>
          <a:p>
            <a:pPr lvl="0" indent="0" marL="0">
              <a:buNone/>
            </a:pPr>
            <a:r>
              <a:rPr>
                <a:hlinkClick r:id="rId3"/>
              </a:rPr>
              <a:t>Liên kết</a:t>
            </a:r>
          </a:p>
          <a:p>
            <a:pPr lvl="0" indent="0" marL="0">
              <a:spcBef>
                <a:spcPts val="3000"/>
              </a:spcBef>
              <a:buNone/>
            </a:pPr>
            <a:r>
              <a:rPr b="1"/>
              <a:t>2. Xây dựng năng lực dữ liệu trong đội ngũ của bạn</a:t>
            </a:r>
          </a:p>
          <a:p>
            <a:pPr lvl="0" indent="0" marL="0">
              <a:spcBef>
                <a:spcPts val="3000"/>
              </a:spcBef>
              <a:buNone/>
            </a:pPr>
            <a:r>
              <a:rPr b="1"/>
              <a:t>Trình độ hiểu biết về dữ liệu</a:t>
            </a:r>
          </a:p>
          <a:p>
            <a:pPr lvl="0" indent="0" marL="0">
              <a:buNone/>
            </a:pPr>
          </a:p>
          <a:p>
            <a:pPr lvl="0" indent="0" marL="0">
              <a:spcBef>
                <a:spcPts val="3000"/>
              </a:spcBef>
              <a:buNone/>
            </a:pPr>
            <a:r>
              <a:rPr b="1"/>
              <a:t>Khung năng lực kỹ năng dữ liệu</a:t>
            </a:r>
          </a:p>
          <a:p>
            <a:pPr lvl="0" indent="0" marL="0">
              <a:buNone/>
            </a:pPr>
          </a:p>
          <a:p>
            <a:pPr lvl="0" indent="0" marL="0">
              <a:spcBef>
                <a:spcPts val="3000"/>
              </a:spcBef>
              <a:buNone/>
            </a:pPr>
            <a:r>
              <a:rPr b="1"/>
              <a:t>3. Triển khai xây dựng năng lực dữ liệu</a:t>
            </a:r>
          </a:p>
          <a:p>
            <a:pPr lvl="0" indent="0" marL="0">
              <a:spcBef>
                <a:spcPts val="3000"/>
              </a:spcBef>
              <a:buNone/>
            </a:pPr>
            <a:r>
              <a:rPr b="1"/>
              <a:t>Ngắn hạn</a:t>
            </a:r>
          </a:p>
          <a:p>
            <a:pPr lvl="0"/>
            <a:r>
              <a:rPr/>
              <a:t>Các buổi đào tạo</a:t>
            </a:r>
          </a:p>
          <a:p>
            <a:pPr lvl="0"/>
            <a:r>
              <a:rPr/>
              <a:t>Nguồn tài liệu đào tạo trực tuyến</a:t>
            </a:r>
          </a:p>
          <a:p>
            <a:pPr lvl="0"/>
            <a:r>
              <a:rPr/>
              <a:t>Chia sẻ kiến thức về các đổi mới toàn cầu và các trường hợp ứng dụng</a:t>
            </a:r>
          </a:p>
          <a:p>
            <a:pPr lvl="0" indent="0" marL="0">
              <a:spcBef>
                <a:spcPts val="3000"/>
              </a:spcBef>
              <a:buNone/>
            </a:pPr>
            <a:r>
              <a:rPr b="1"/>
              <a:t>Trung hạn</a:t>
            </a:r>
          </a:p>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a:p>
            <a:pPr lvl="0" indent="0" marL="0">
              <a:spcBef>
                <a:spcPts val="3000"/>
              </a:spcBef>
              <a:buNone/>
            </a:pPr>
            <a:r>
              <a:rPr b="1"/>
              <a:t>Dài hạn</a:t>
            </a:r>
          </a:p>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2026-01-13T08:45:53Z</dcterms:created>
  <dcterms:modified xsi:type="dcterms:W3CDTF">2026-01-13T08:45:53Z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