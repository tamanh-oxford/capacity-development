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g" ContentType="image/jpeg"/>
  <Default Extension="jpeg" ContentType="image/jpe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saveSubsetFonts="1" showSpecialPlsOnTitleSld="0">
  <p:sldMasterIdLst>
    <p:sldMasterId id="2147483660" r:id="rId1"/>
  </p:sldMasterIdLst>
  <p:notesMasterIdLst>
    <p:notesMasterId r:id="rId8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Lst>
  <p:sldSz cx="12192000" cy="6858000"/>
  <p:notesSz cx="6858000" cy="9144000"/>
  <p:defaultTextStyle>
    <a:defPPr>
      <a:defRPr lang="en-GB"/>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1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horzBarState="maximized">
    <p:restoredLeft autoAdjust="0" sz="19972"/>
    <p:restoredTop sz="94660"/>
  </p:normalViewPr>
  <p:slideViewPr>
    <p:cSldViewPr snapToGrid="0">
      <p:cViewPr varScale="1">
        <p:scale>
          <a:sx d="100" n="86"/>
          <a:sy d="100" n="86"/>
        </p:scale>
        <p:origin x="96" y="888"/>
      </p:cViewPr>
      <p:guideLst/>
    </p:cSldViewPr>
  </p:slideViewPr>
  <p:notesTextViewPr>
    <p:cViewPr>
      <p:scale>
        <a:sx d="1" n="1"/>
        <a:sy d="1" n="1"/>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slide" Target="slides/slide72.xml" /><Relationship Id="rId74" Type="http://schemas.openxmlformats.org/officeDocument/2006/relationships/slide" Target="slides/slide73.xml" /><Relationship Id="rId75" Type="http://schemas.openxmlformats.org/officeDocument/2006/relationships/slide" Target="slides/slide74.xml" /><Relationship Id="rId76" Type="http://schemas.openxmlformats.org/officeDocument/2006/relationships/slide" Target="slides/slide75.xml" /><Relationship Id="rId77" Type="http://schemas.openxmlformats.org/officeDocument/2006/relationships/slide" Target="slides/slide76.xml" /><Relationship Id="rId78" Type="http://schemas.openxmlformats.org/officeDocument/2006/relationships/slide" Target="slides/slide77.xml" /><Relationship Id="rId79" Type="http://schemas.openxmlformats.org/officeDocument/2006/relationships/slide" Target="slides/slide78.xml" /><Relationship Id="rId80" Type="http://schemas.openxmlformats.org/officeDocument/2006/relationships/slide" Target="slides/slide79.xml" /><Relationship Id="rId81" Type="http://schemas.openxmlformats.org/officeDocument/2006/relationships/slide" Target="slides/slide80.xml" /><Relationship Id="rId82" Type="http://schemas.openxmlformats.org/officeDocument/2006/relationships/slide" Target="slides/slide81.xml" /><Relationship Id="rId83" Type="http://schemas.openxmlformats.org/officeDocument/2006/relationships/slide" Target="slides/slide82.xml" /><Relationship Id="rId84" Type="http://schemas.openxmlformats.org/officeDocument/2006/relationships/slide" Target="slides/slide83.xml" /><Relationship Id="rId85" Type="http://schemas.openxmlformats.org/officeDocument/2006/relationships/notesMaster" Target="notesMasters/notesMaster1.xml" /><Relationship Id="rId88" Type="http://schemas.openxmlformats.org/officeDocument/2006/relationships/theme" Target="theme/theme1.xml" /><Relationship Id="rId87" Type="http://schemas.openxmlformats.org/officeDocument/2006/relationships/viewProps" Target="viewProps.xml" /><Relationship Id="rId1" Type="http://schemas.openxmlformats.org/officeDocument/2006/relationships/slideMaster" Target="slideMasters/slideMaster1.xml" /><Relationship Id="rId86" Type="http://schemas.openxmlformats.org/officeDocument/2006/relationships/presProps" Target="presProps.xml" /><Relationship Id="rId90" Type="http://schemas.microsoft.com/office/2015/10/relationships/revisionInfo" Target="revisionInfo.xml" /><Relationship Id="rId89" Type="http://schemas.openxmlformats.org/officeDocument/2006/relationships/tableStyles" Target="tableStyle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73.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Khi xem xét năm trường hợp nghiên cứu này, khuyến nghị nên bắt đầu bằng cách áp dụng khung “ai, gì, khi nào, ở đâu, như thế nào và tại sao” để có nền tảng vững chắc về chi tiết của trường hợp nghiên cứu.</a:t>
            </a:r>
          </a:p>
          <a:p>
            <a:pPr lvl="0" indent="0" marL="0">
              <a:buNone/>
            </a:pPr>
          </a:p>
          <a:p>
            <a:pPr lvl="0" indent="0" marL="0">
              <a:buNone/>
            </a:pPr>
            <a:r>
              <a:rPr/>
              <a:t>Khung “ai, gì, khi nào, ở đâu, như thế nào và tại sao” là một phương pháp hệ thống để hiểu và phân tích dữ liệu. Một thuật ngữ khác có thể được sử dụng cho khung này là metadata mô tả, tức là dữ liệu cung cấp thông tin về dữ liệu khác, nhưng không phải nội dung chính nó. Vì vậy, nếu tôi có một hình ảnh, metadata sẽ không phải là chính bức ảnh, mà là các chi tiết về ai đã chụp, khi nào hoặc ở đâu.</a:t>
            </a:r>
          </a:p>
          <a:p>
            <a:pPr lvl="0" indent="0" marL="0">
              <a:buNone/>
            </a:pPr>
          </a:p>
          <a:p>
            <a:pPr lvl="0" indent="0" marL="0">
              <a:buNone/>
            </a:pPr>
            <a:r>
              <a:rPr/>
              <a:t>Dưới đây là giải thích có cấu trúc về từng thành phần trong khung này:</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Đề cập đến các cá nhân hoặc tổ chức có liên quan đến dữ liệu. Điều này bao gồm các bên liên quan, người dùng, khách hàng, nhân viên hoặc đối tác kinh doanh có tương tác hoặc bị ảnh hưởng bởi dữ liệu. Cụ thể hơn, điều này có thể bao gồm, nhưng không giới hạn ở, thông tin về:</a:t>
            </a:r>
          </a:p>
          <a:p>
            <a:pPr lvl="0" indent="0" marL="0">
              <a:buNone/>
            </a:pPr>
          </a:p>
          <a:p>
            <a:pPr lvl="0" indent="0" marL="0">
              <a:buNone/>
            </a:pPr>
            <a:r>
              <a:rPr/>
              <a:t>Ai là chủ sở hữu dữ liệu; Ai quản lý dữ liệu; Ai thu thập dữ liệu; Ai lưu trữ dữ liệu; và, Ai bảo vệ/bảo mật dữ liệu.</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Mô tả nội dung của dữ liệu và loại, tính chất, nguồn gốc của nó. Nó xác định thông tin có sẵn, chẳng hạn như dữ liệu số, văn bản, hình ảnh, v.v., giúp hiểu rõ phạm vi và tính liên quan của dữ liệu, cũng như cách làm việc với dữ liệu.</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Liên quan đến thời gian, khoảng thời gian và/hoặc tần suất mà dữ liệu được thu thập, ghi chép hoặc phân tích.</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Chỉ định vị trí nơi dữ liệu được lưu trữ hoặc truy cập. Điều này có thể nằm trong cơ sở dữ liệu, trên máy chủ hoặc thậm chí từ các nguồn bên ngoài như thiết bị hoặc cảm biến, cung cấp thông tin về khả năng truy cập và lưu trữ dữ liệu.</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Yêu cầu xác định mục đích của việc thu thập và phân tích dữ liệu. Điều này làm rõ lý do tại sao thông tin này được thu thập, ví dụ: liệu nó được sử dụng cho báo cáo, ra quyết định, theo dõi hiệu suất hay các mục tiêu khác. Từ đó, nó hướng dẫn các hành động phù hợp dựa trên những thông tin thu được từ dữ liệu.</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Tập trung vào các phương pháp được sử dụng để thu thập, xử lý hoặc trích xuất dữ liệu. Điều này bao gồm các kỹ thuật như khảo sát, dữ liệu từ cảm biến hoặc hồ sơ hiện có, giúp đánh giá mức độ tin cậy và toàn diện của dữ liệu.</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Đàn gia súc được quản lý theo đàn và ít có sự xáo trộn khi có cá thể bị mất hoặc phải hy sinh. Ngược lại, thú cưng là duy nhất và quý giá.</a:t>
            </a:r>
          </a:p>
          <a:p>
            <a:pPr lvl="0" indent="0" marL="0">
              <a:buNone/>
            </a:pPr>
          </a:p>
          <a:p>
            <a:pPr lvl="0" indent="0" marL="0">
              <a:buNone/>
            </a:pPr>
            <a:r>
              <a:rPr/>
              <a:t>Đây là một trong những hạn chế của bảng tính khi tạo ra một quy trình làm việc dữ liệu toàn diện. Công cụ này tích hợp dữ liệu, mã/các bước thực hiện và giao diện người dùng trong một phần mềm duy nhất, với trọng tâm là hiển thị kết quả cuối cùng/đầu ra cho người dùng, trong khi thành phần mã/các bước thực hiện được ẩn đi.</a:t>
            </a:r>
          </a:p>
        </p:txBody>
      </p:sp>
      <p:sp>
        <p:nvSpPr>
          <p:cNvPr id="4" name="Slide Number Placeholder 3"/>
          <p:cNvSpPr>
            <a:spLocks noGrp="1"/>
          </p:cNvSpPr>
          <p:nvPr>
            <p:ph type="sldNum" sz="quarter" idx="10"/>
          </p:nvPr>
        </p:nvSpPr>
        <p:spPr/>
        <p:txBody>
          <a:bodyPr/>
          <a:lstStyle/>
          <a:p>
            <a:fld id="{18BDFEC3-8487-43E8-A154-7C12CBC1FFF2}" type="slidenum">
              <a:rPr lang="en-US"/>
              <a:t>73</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fld id="{846CE7D5-CF57-46EF-B807-FDD0502418D4}" type="datetimeFigureOut">
              <a:rPr lang="en-GB" smtClean="0"/>
              <a:t>13/01/2026</a:t>
            </a:fld>
            <a:endParaRPr lang="en-GB"/>
          </a:p>
        </p:txBody>
      </p:sp>
      <p:sp>
        <p:nvSpPr>
          <p:cNvPr id="6" name="Footer Placeholder 5"/>
          <p:cNvSpPr>
            <a:spLocks noGrp="1"/>
          </p:cNvSpPr>
          <p:nvPr>
            <p:ph type="ftr" sz="quarter" idx="11"/>
          </p:nvPr>
        </p:nvSpPr>
        <p:spPr/>
        <p:txBody>
          <a:bodyPr/>
          <a:lstStyle/>
          <a:p>
            <a:r>
              <a:rPr lang="en-GB"/>
              <a:t>Tâm Anh Oxford Partnership</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p:cNvSpPr>
            <a:spLocks noGrp="1"/>
          </p:cNvSpPr>
          <p:nvPr>
            <p:ph type="dt" sz="half" idx="10"/>
          </p:nvPr>
        </p:nvSpPr>
        <p:spPr/>
        <p:txBody>
          <a:bodyPr/>
          <a:lstStyle/>
          <a:p>
            <a:fld id="{846CE7D5-CF57-46EF-B807-FDD0502418D4}" type="datetimeFigureOut">
              <a:rPr lang="en-GB" smtClean="0"/>
              <a:t>13/01/2026</a:t>
            </a:fld>
            <a:endParaRPr lang="en-GB"/>
          </a:p>
        </p:txBody>
      </p:sp>
      <p:sp>
        <p:nvSpPr>
          <p:cNvPr id="8" name="Footer Placeholder 7"/>
          <p:cNvSpPr>
            <a:spLocks noGrp="1"/>
          </p:cNvSpPr>
          <p:nvPr>
            <p:ph type="ftr" sz="quarter" idx="11"/>
          </p:nvPr>
        </p:nvSpPr>
        <p:spPr/>
        <p:txBody>
          <a:bodyPr/>
          <a:lstStyle/>
          <a:p>
            <a:r>
              <a:rPr lang="en-GB"/>
              <a:t>Tâm Anh Oxford Partnership</a:t>
            </a:r>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Date Placeholder 2"/>
          <p:cNvSpPr>
            <a:spLocks noGrp="1"/>
          </p:cNvSpPr>
          <p:nvPr>
            <p:ph type="dt" sz="half" idx="10"/>
          </p:nvPr>
        </p:nvSpPr>
        <p:spPr/>
        <p:txBody>
          <a:bodyPr/>
          <a:lstStyle/>
          <a:p>
            <a:fld id="{846CE7D5-CF57-46EF-B807-FDD0502418D4}" type="datetimeFigureOut">
              <a:rPr lang="en-GB" smtClean="0"/>
              <a:t>13/01/2026</a:t>
            </a:fld>
            <a:endParaRPr lang="en-GB"/>
          </a:p>
        </p:txBody>
      </p:sp>
      <p:sp>
        <p:nvSpPr>
          <p:cNvPr id="4" name="Footer Placeholder 3"/>
          <p:cNvSpPr>
            <a:spLocks noGrp="1"/>
          </p:cNvSpPr>
          <p:nvPr>
            <p:ph type="ftr" sz="quarter" idx="11"/>
          </p:nvPr>
        </p:nvSpPr>
        <p:spPr/>
        <p:txBody>
          <a:bodyPr/>
          <a:lstStyle/>
          <a:p>
            <a:r>
              <a:rPr lang="en-GB"/>
              <a:t>Tâm Anh Oxford Partnership</a:t>
            </a:r>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13/01/2026</a:t>
            </a:fld>
            <a:endParaRPr lang="en-GB"/>
          </a:p>
        </p:txBody>
      </p:sp>
      <p:sp>
        <p:nvSpPr>
          <p:cNvPr id="3" name="Footer Placeholder 2"/>
          <p:cNvSpPr>
            <a:spLocks noGrp="1"/>
          </p:cNvSpPr>
          <p:nvPr>
            <p:ph type="ftr" sz="quarter" idx="11"/>
          </p:nvPr>
        </p:nvSpPr>
        <p:spPr/>
        <p:txBody>
          <a:bodyPr/>
          <a:lstStyle/>
          <a:p>
            <a:r>
              <a:rPr lang="en-GB"/>
              <a:t>Tâm Anh Oxford Partnership</a:t>
            </a:r>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13/01/2026</a:t>
            </a:fld>
            <a:endParaRPr lang="en-GB"/>
          </a:p>
        </p:txBody>
      </p:sp>
      <p:sp>
        <p:nvSpPr>
          <p:cNvPr id="6" name="Footer Placeholder 5"/>
          <p:cNvSpPr>
            <a:spLocks noGrp="1"/>
          </p:cNvSpPr>
          <p:nvPr>
            <p:ph type="ftr" sz="quarter" idx="11"/>
          </p:nvPr>
        </p:nvSpPr>
        <p:spPr/>
        <p:txBody>
          <a:bodyPr/>
          <a:lstStyle/>
          <a:p>
            <a:r>
              <a:rPr lang="en-GB"/>
              <a:t>Tâm Anh Oxford Partnership</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13/01/2026</a:t>
            </a:fld>
            <a:endParaRPr lang="en-GB"/>
          </a:p>
        </p:txBody>
      </p:sp>
      <p:sp>
        <p:nvSpPr>
          <p:cNvPr id="6" name="Footer Placeholder 5"/>
          <p:cNvSpPr>
            <a:spLocks noGrp="1"/>
          </p:cNvSpPr>
          <p:nvPr>
            <p:ph type="ftr" sz="quarter" idx="11"/>
          </p:nvPr>
        </p:nvSpPr>
        <p:spPr/>
        <p:txBody>
          <a:bodyPr/>
          <a:lstStyle/>
          <a:p>
            <a:r>
              <a:rPr lang="en-GB"/>
              <a:t>Tâm Anh Oxford Partnership</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hf hdr="0" dt="0"/>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anchor="ctr" bIns="45720" lIns="91440" rIns="91440" rtlCol="0" tIns="45720" vert="horz">
            <a:normAutofit/>
          </a:bodyPr>
          <a:lstStyle/>
          <a:p>
            <a:r>
              <a:rPr lang="en-GB"/>
              <a:t>Click to edit Master title style</a:t>
            </a:r>
            <a:endParaRPr dirty="0" lang="en-GB"/>
          </a:p>
        </p:txBody>
      </p:sp>
      <p:sp>
        <p:nvSpPr>
          <p:cNvPr id="3" name="Text Placeholder 2"/>
          <p:cNvSpPr>
            <a:spLocks noGrp="1"/>
          </p:cNvSpPr>
          <p:nvPr>
            <p:ph idx="1" type="body"/>
          </p:nvPr>
        </p:nvSpPr>
        <p:spPr>
          <a:xfrm>
            <a:off x="838200" y="1825625"/>
            <a:ext cx="10515600" cy="4351338"/>
          </a:xfrm>
          <a:prstGeom prst="rect">
            <a:avLst/>
          </a:prstGeom>
        </p:spPr>
        <p:txBody>
          <a:bodyPr bIns="45720" lIns="91440" rIns="91440" rtlCol="0" tIns="45720" vert="horz">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lang="en-GB"/>
          </a:p>
        </p:txBody>
      </p:sp>
      <p:sp>
        <p:nvSpPr>
          <p:cNvPr id="4" name="Date Placeholder 3"/>
          <p:cNvSpPr>
            <a:spLocks noGrp="1"/>
          </p:cNvSpPr>
          <p:nvPr>
            <p:ph idx="2" sz="half" type="dt"/>
          </p:nvPr>
        </p:nvSpPr>
        <p:spPr>
          <a:xfrm>
            <a:off x="838200" y="6356350"/>
            <a:ext cx="2743200" cy="365125"/>
          </a:xfrm>
          <a:prstGeom prst="rect">
            <a:avLst/>
          </a:prstGeom>
        </p:spPr>
        <p:txBody>
          <a:bodyPr anchor="ctr" bIns="45720" lIns="91440" rIns="91440" rtlCol="0" tIns="45720" vert="horz"/>
          <a:lstStyle>
            <a:lvl1pPr algn="l">
              <a:defRPr sz="1200">
                <a:solidFill>
                  <a:schemeClr val="tx1">
                    <a:tint val="82000"/>
                  </a:schemeClr>
                </a:solidFill>
              </a:defRPr>
            </a:lvl1pPr>
          </a:lstStyle>
          <a:p>
            <a:fld id="{846CE7D5-CF57-46EF-B807-FDD0502418D4}" type="datetimeFigureOut">
              <a:rPr lang="en-GB" smtClean="0"/>
              <a:t>13/01/2026</a:t>
            </a:fld>
            <a:endParaRPr lang="en-GB"/>
          </a:p>
        </p:txBody>
      </p:sp>
      <p:sp>
        <p:nvSpPr>
          <p:cNvPr id="5" name="Footer Placeholder 4"/>
          <p:cNvSpPr>
            <a:spLocks noGrp="1"/>
          </p:cNvSpPr>
          <p:nvPr>
            <p:ph idx="3" sz="quarter" type="ftr"/>
          </p:nvPr>
        </p:nvSpPr>
        <p:spPr>
          <a:xfrm>
            <a:off x="4038600" y="6356350"/>
            <a:ext cx="4114800" cy="365125"/>
          </a:xfrm>
          <a:prstGeom prst="rect">
            <a:avLst/>
          </a:prstGeom>
        </p:spPr>
        <p:txBody>
          <a:bodyPr anchor="ctr" bIns="45720" lIns="91440" rIns="91440" rtlCol="0" tIns="45720" vert="horz"/>
          <a:lstStyle>
            <a:lvl1pPr algn="ctr">
              <a:defRPr sz="1200">
                <a:solidFill>
                  <a:schemeClr val="tx1">
                    <a:tint val="82000"/>
                  </a:schemeClr>
                </a:solidFill>
              </a:defRPr>
            </a:lvl1pPr>
          </a:lstStyle>
          <a:p>
            <a:r>
              <a:rPr lang="en-GB"/>
              <a:t>Tâm Anh Oxford Partnership</a:t>
            </a:r>
          </a:p>
        </p:txBody>
      </p:sp>
      <p:sp>
        <p:nvSpPr>
          <p:cNvPr id="6" name="Slide Number Placeholder 5"/>
          <p:cNvSpPr>
            <a:spLocks noGrp="1"/>
          </p:cNvSpPr>
          <p:nvPr>
            <p:ph idx="4" sz="quarter" type="sldNum"/>
          </p:nvPr>
        </p:nvSpPr>
        <p:spPr>
          <a:xfrm>
            <a:off x="8610600" y="6356350"/>
            <a:ext cx="2743200" cy="365125"/>
          </a:xfrm>
          <a:prstGeom prst="rect">
            <a:avLst/>
          </a:prstGeom>
        </p:spPr>
        <p:txBody>
          <a:bodyPr anchor="ctr" bIns="45720" lIns="91440" rIns="91440" rtlCol="0" tIns="45720" vert="horz"/>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accent1="accent1" accent2="accent2" accent3="accent3" accent4="accent4" accent5="accent5" accent6="accent6" bg1="lt1" bg2="lt2" folHlink="folHlink" hlink="hlink" tx1="dk1" tx2="dk2"/>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hdr="0"/>
  <p:txStyles>
    <p:titleStyle>
      <a:lvl1pPr algn="l" defTabSz="914400" eaLnBrk="1" hangingPunct="1" latinLnBrk="0" rtl="0">
        <a:lnSpc>
          <a:spcPct val="90000"/>
        </a:lnSpc>
        <a:spcBef>
          <a:spcPct val="0"/>
        </a:spcBef>
        <a:buNone/>
        <a:defRPr kern="1200" sz="44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charset="0" panose="020B0604020202020204" pitchFamily="34" typeface="Arial"/>
        <a:buChar char="•"/>
        <a:defRPr kern="1200" sz="2800">
          <a:solidFill>
            <a:schemeClr val="tx1"/>
          </a:solidFill>
          <a:latin typeface="+mn-lt"/>
          <a:ea typeface="+mn-ea"/>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p:bodyStyle>
    <p:otherStyle>
      <a:defPPr>
        <a:defRPr lang="en-GB"/>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jp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jpg"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eusprig.org/" TargetMode="External" /><Relationship Id="rId3" Type="http://schemas.openxmlformats.org/officeDocument/2006/relationships/hyperlink" Target="https://eusprig.org/research-info/horror-stories/" TargetMode="Externa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datacarpentry.github.io/spreadsheet-ecology-lesson/02-common-mistakes" TargetMode="Externa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8.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7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5.png" /></Relationships>
</file>

<file path=ppt/slides/_rels/slide7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3.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lstStyle/>
          <a:p>
            <a:pPr lvl="0" indent="0" marL="0">
              <a:buNone/>
            </a:pPr>
            <a:r>
              <a:rPr/>
              <a:t>Quản lý Dữ liệu Nghiên cứu</a:t>
            </a:r>
          </a:p>
        </p:txBody>
      </p:sp>
      <p:sp>
        <p:nvSpPr>
          <p:cNvPr id="3" name="Subtitle 2"/>
          <p:cNvSpPr>
            <a:spLocks noGrp="1"/>
          </p:cNvSpPr>
          <p:nvPr>
            <p:ph idx="1" type="subTitle"/>
          </p:nvPr>
        </p:nvSpPr>
        <p:spPr>
          <a:xfrm>
            <a:off x="1524000" y="3602038"/>
            <a:ext cx="9144000" cy="1655762"/>
          </a:xfrm>
        </p:spPr>
        <p:txBody>
          <a:bodyPr/>
          <a:lstStyle/>
          <a:p>
            <a:pPr lvl="0" indent="0" marL="0">
              <a:buNone/>
            </a:pPr>
            <a:r>
              <a:rPr/>
              <a:t>Nguyên tắc hướng dẫn và các thực hành tốt nhất</a:t>
            </a:r>
            <a:br/>
            <a:br/>
            <a:r>
              <a:rPr/>
              <a:t>Ernest Guevarra</a:t>
            </a:r>
            <a:br/>
            <a:r>
              <a:rPr/>
              <a:t>Dr Minh Cong Tran</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Hãy đến với mọi người. Sống cùng họ. Học hỏi từ họ. Yêu thương họ.</a:t>
            </a:r>
          </a:p>
          <a:p>
            <a:pPr lvl="0" indent="0" marL="0">
              <a:spcBef>
                <a:spcPts val="3000"/>
              </a:spcBef>
              <a:buNone/>
            </a:pPr>
            <a:r>
              <a:rPr b="1"/>
              <a:t>Bắt đầu từ những gì họ biết. Xây dựng dựa trên những gì họ có.</a:t>
            </a:r>
          </a:p>
          <a:p>
            <a:pPr lvl="0" indent="0" marL="0">
              <a:spcBef>
                <a:spcPts val="3000"/>
              </a:spcBef>
              <a:buNone/>
            </a:pPr>
            <a:r>
              <a:rPr b="1"/>
              <a:t>Nhưng với những nhà lãnh đạo xuất sắc, khi công việc hoàn thành, nhiệm vụ được thực hiện, người dân sẽ nói: “Chúng tôi đã tự mình làm được”.</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Ai, gì, khi nào, ở đâu, tại sao và làm thế nào của dữ liệu</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Ai</a:t>
            </a:r>
          </a:p>
        </p:txBody>
      </p:sp>
      <p:sp>
        <p:nvSpPr>
          <p:cNvPr id="3" name="Content Placeholder 2"/>
          <p:cNvSpPr>
            <a:spLocks noGrp="1"/>
          </p:cNvSpPr>
          <p:nvPr>
            <p:ph idx="1"/>
          </p:nvPr>
        </p:nvSpPr>
        <p:spPr/>
        <p:txBody>
          <a:bodyPr/>
          <a:lstStyle/>
          <a:p>
            <a:pPr lvl="0"/>
            <a:r>
              <a:rPr/>
              <a:t>Ai là chủ sở hữu của dữ liệu;</a:t>
            </a:r>
          </a:p>
          <a:p>
            <a:pPr lvl="0"/>
            <a:r>
              <a:rPr/>
              <a:t>Ai quản lý dữ liệu;</a:t>
            </a:r>
          </a:p>
          <a:p>
            <a:pPr lvl="0"/>
            <a:r>
              <a:rPr/>
              <a:t>Ai thu thập dữ liệu;</a:t>
            </a:r>
          </a:p>
          <a:p>
            <a:pPr lvl="0"/>
            <a:r>
              <a:rPr/>
              <a:t>Ai lưu trữ dữ liệu; và,</a:t>
            </a:r>
          </a:p>
          <a:p>
            <a:pPr lvl="0"/>
            <a:r>
              <a:rPr/>
              <a:t>Ai bảo vệ/bảo mật dữ liệu.</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Cái gì</a:t>
            </a:r>
          </a:p>
        </p:txBody>
      </p:sp>
      <p:sp>
        <p:nvSpPr>
          <p:cNvPr id="3" name="Content Placeholder 2"/>
          <p:cNvSpPr>
            <a:spLocks noGrp="1"/>
          </p:cNvSpPr>
          <p:nvPr>
            <p:ph idx="1"/>
          </p:nvPr>
        </p:nvSpPr>
        <p:spPr/>
        <p:txBody>
          <a:bodyPr/>
          <a:lstStyle/>
          <a:p>
            <a:pPr lvl="0"/>
            <a:r>
              <a:rPr/>
              <a:t>dữ liệu liên quan đến điều gì;</a:t>
            </a:r>
          </a:p>
          <a:p>
            <a:pPr lvl="0"/>
            <a:r>
              <a:rPr/>
              <a:t>loại, bản chất và nguồn gốc;</a:t>
            </a:r>
          </a:p>
          <a:p>
            <a:pPr lvl="0"/>
            <a:r>
              <a:rPr/>
              <a:t>xác định thông tin có sẵn, chẳng hạn như dữ liệu số, văn bản, hình ảnh, v.v.</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Khi</a:t>
            </a:r>
          </a:p>
        </p:txBody>
      </p:sp>
      <p:sp>
        <p:nvSpPr>
          <p:cNvPr id="3" name="Content Placeholder 2"/>
          <p:cNvSpPr>
            <a:spLocks noGrp="1"/>
          </p:cNvSpPr>
          <p:nvPr>
            <p:ph idx="1"/>
          </p:nvPr>
        </p:nvSpPr>
        <p:spPr/>
        <p:txBody>
          <a:bodyPr/>
          <a:lstStyle/>
          <a:p>
            <a:pPr lvl="0"/>
            <a:r>
              <a:rPr/>
              <a:t>thời điểm;</a:t>
            </a:r>
          </a:p>
          <a:p>
            <a:pPr lvl="0"/>
            <a:r>
              <a:rPr/>
              <a:t>kỳ; và/hoặc,</a:t>
            </a:r>
          </a:p>
          <a:p>
            <a:pPr lvl="0"/>
            <a:r>
              <a:rPr/>
              <a:t>tần suất</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Nơi</a:t>
            </a:r>
          </a:p>
        </p:txBody>
      </p:sp>
      <p:sp>
        <p:nvSpPr>
          <p:cNvPr id="3" name="Content Placeholder 2"/>
          <p:cNvSpPr>
            <a:spLocks noGrp="1"/>
          </p:cNvSpPr>
          <p:nvPr>
            <p:ph idx="1"/>
          </p:nvPr>
        </p:nvSpPr>
        <p:spPr/>
        <p:txBody>
          <a:bodyPr/>
          <a:lstStyle/>
          <a:p>
            <a:pPr lvl="0"/>
            <a:r>
              <a:rPr/>
              <a:t>vị trí nơi dữ liệu được lưu trữ hoặc truy cập</a:t>
            </a:r>
          </a:p>
          <a:p>
            <a:pPr lvl="1"/>
            <a:r>
              <a:rPr/>
              <a:t>cơ sở dữ liệu;</a:t>
            </a:r>
          </a:p>
          <a:p>
            <a:pPr lvl="1"/>
            <a:r>
              <a:rPr/>
              <a:t>máy chủ;</a:t>
            </a:r>
          </a:p>
          <a:p>
            <a:pPr lvl="1"/>
            <a:r>
              <a:rPr/>
              <a:t>nguồn bên ngoài</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Tại sao</a:t>
            </a:r>
          </a:p>
        </p:txBody>
      </p:sp>
      <p:sp>
        <p:nvSpPr>
          <p:cNvPr id="3" name="Content Placeholder 2"/>
          <p:cNvSpPr>
            <a:spLocks noGrp="1"/>
          </p:cNvSpPr>
          <p:nvPr>
            <p:ph idx="1"/>
          </p:nvPr>
        </p:nvSpPr>
        <p:spPr/>
        <p:txBody>
          <a:bodyPr/>
          <a:lstStyle/>
          <a:p>
            <a:pPr lvl="0"/>
            <a:r>
              <a:rPr/>
              <a:t>Mục đích của việc thu thập và phân tích dữ liệu;</a:t>
            </a:r>
          </a:p>
          <a:p>
            <a:pPr lvl="0"/>
            <a:r>
              <a:rPr/>
              <a:t>Hướng dẫn các hành động phù hợp dựa trên mục đích đã nêu</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Làm thế nào</a:t>
            </a:r>
          </a:p>
        </p:txBody>
      </p:sp>
      <p:sp>
        <p:nvSpPr>
          <p:cNvPr id="3" name="Content Placeholder 2"/>
          <p:cNvSpPr>
            <a:spLocks noGrp="1"/>
          </p:cNvSpPr>
          <p:nvPr>
            <p:ph idx="1"/>
          </p:nvPr>
        </p:nvSpPr>
        <p:spPr/>
        <p:txBody>
          <a:bodyPr/>
          <a:lstStyle/>
          <a:p>
            <a:pPr lvl="0" indent="0" marL="0">
              <a:buNone/>
            </a:pPr>
            <a:r>
              <a:rPr/>
              <a:t>Các phương pháp được sử dụng để:</a:t>
            </a:r>
          </a:p>
          <a:p>
            <a:pPr lvl="0"/>
            <a:r>
              <a:rPr/>
              <a:t>thu thập;</a:t>
            </a:r>
          </a:p>
          <a:p>
            <a:pPr lvl="0"/>
            <a:r>
              <a:rPr/>
              <a:t>xử lý;</a:t>
            </a:r>
          </a:p>
          <a:p>
            <a:pPr lvl="0"/>
            <a:r>
              <a:rPr/>
              <a:t>trích xuất</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Bài tập nhóm</a:t>
            </a:r>
          </a:p>
        </p:txBody>
      </p:sp>
      <p:sp>
        <p:nvSpPr>
          <p:cNvPr id="3" name="Content Placeholder 2"/>
          <p:cNvSpPr>
            <a:spLocks noGrp="1"/>
          </p:cNvSpPr>
          <p:nvPr>
            <p:ph idx="1"/>
          </p:nvPr>
        </p:nvSpPr>
        <p:spPr/>
        <p:txBody>
          <a:bodyPr/>
          <a:lstStyle/>
          <a:p>
            <a:pPr lvl="0" indent="0" marL="0">
              <a:buNone/>
            </a:pPr>
            <a:r>
              <a:rPr/>
              <a:t>Dựa trên câu hỏi nghiên cứu hiện tại của bạn, xác định các yếu tố </a:t>
            </a:r>
            <a:r>
              <a:rPr b="1"/>
              <a:t>ai</a:t>
            </a:r>
            <a:r>
              <a:rPr/>
              <a:t>, </a:t>
            </a:r>
            <a:r>
              <a:rPr b="1"/>
              <a:t>gì</a:t>
            </a:r>
            <a:r>
              <a:rPr/>
              <a:t>, </a:t>
            </a:r>
            <a:r>
              <a:rPr b="1"/>
              <a:t>khi nào</a:t>
            </a:r>
            <a:r>
              <a:rPr/>
              <a:t>, </a:t>
            </a:r>
            <a:r>
              <a:rPr b="1"/>
              <a:t>nơi</a:t>
            </a:r>
            <a:r>
              <a:rPr/>
              <a:t>, </a:t>
            </a:r>
            <a:r>
              <a:rPr b="1"/>
              <a:t>tại sao</a:t>
            </a:r>
            <a:r>
              <a:rPr/>
              <a:t> và </a:t>
            </a:r>
            <a:r>
              <a:rPr b="1"/>
              <a:t>làm thế nào</a:t>
            </a:r>
            <a:r>
              <a:rPr/>
              <a:t> của dữ liệu mà bạn sẽ cần.</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Vòng đời dữ liệu</a:t>
            </a:r>
          </a:p>
        </p:txBody>
      </p:sp>
      <p:pic>
        <p:nvPicPr>
          <p:cNvPr descr="../images/data_lifecycle.png" id="0" name="Picture 1"/>
          <p:cNvPicPr>
            <a:picLocks noGrp="1" noChangeAspect="1"/>
          </p:cNvPicPr>
          <p:nvPr/>
        </p:nvPicPr>
        <p:blipFill>
          <a:blip r:embed="rId2"/>
          <a:stretch>
            <a:fillRect/>
          </a:stretch>
        </p:blipFill>
        <p:spPr bwMode="auto">
          <a:xfrm>
            <a:off x="3162300" y="1816100"/>
            <a:ext cx="5854700" cy="4343400"/>
          </a:xfrm>
          <a:prstGeom prst="rect">
            <a:avLst/>
          </a:prstGeom>
          <a:noFill/>
          <a:ln w="9525">
            <a:noFill/>
            <a:headEnd/>
            <a:tailEnd/>
          </a:ln>
        </p:spPr>
      </p:pic>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Hệ thống dữ liệu</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Hệ thống dữ liệu (so sánh)</a:t>
            </a:r>
          </a:p>
        </p:txBody>
      </p:sp>
      <p:pic>
        <p:nvPicPr>
          <p:cNvPr descr="../images/oranges.jpg" id="0" name="Picture 1"/>
          <p:cNvPicPr>
            <a:picLocks noGrp="1" noChangeAspect="1"/>
          </p:cNvPicPr>
          <p:nvPr/>
        </p:nvPicPr>
        <p:blipFill>
          <a:blip r:embed="rId2"/>
          <a:stretch>
            <a:fillRect/>
          </a:stretch>
        </p:blipFill>
        <p:spPr bwMode="auto">
          <a:xfrm>
            <a:off x="1803400" y="1816100"/>
            <a:ext cx="3251200" cy="43434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b="1"/>
              <a:t>Vấn đề 400 năm tuổi:</a:t>
            </a:r>
          </a:p>
          <a:p>
            <a:pPr lvl="0" indent="0" marL="0">
              <a:buNone/>
            </a:pPr>
            <a:r>
              <a:rPr/>
              <a:t>Cách tốt nhất để xếp chồng một tập hợp các vật thể hình cầu, chẳng hạn như một đống cam để bán, là gì?</a:t>
            </a:r>
          </a:p>
        </p:txBody>
      </p:sp>
      <p:sp>
        <p:nvSpPr>
          <p:cNvPr id="6" name="Footer Placeholder 5"/>
          <p:cNvSpPr>
            <a:spLocks noGrp="1"/>
          </p:cNvSpPr>
          <p:nvPr>
            <p:ph idx="11" sz="quarter" type="ftr"/>
          </p:nvPr>
        </p:nvSpPr>
        <p:spPr/>
        <p:txBody>
          <a:bodyPr/>
          <a:lstStyle/>
          <a:p>
            <a:r>
              <a:rPr lang="en-GB"/>
              <a:t>Tâm Anh Oxford Partnership</a:t>
            </a:r>
          </a:p>
        </p:txBody>
      </p:sp>
      <p:sp>
        <p:nvSpPr>
          <p:cNvPr id="7" name="Slide Number Placeholder 6"/>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Hệ thống dữ liệu (so sánh)</a:t>
            </a:r>
          </a:p>
        </p:txBody>
      </p:sp>
      <p:pic>
        <p:nvPicPr>
          <p:cNvPr descr="../images/orange-stack.jpeg" id="0" name="Picture 1"/>
          <p:cNvPicPr>
            <a:picLocks noGrp="1" noChangeAspect="1"/>
          </p:cNvPicPr>
          <p:nvPr/>
        </p:nvPicPr>
        <p:blipFill>
          <a:blip r:embed="rId2"/>
          <a:stretch>
            <a:fillRect/>
          </a:stretch>
        </p:blipFill>
        <p:spPr bwMode="auto">
          <a:xfrm>
            <a:off x="1879600" y="1816100"/>
            <a:ext cx="8445500" cy="4343400"/>
          </a:xfrm>
          <a:prstGeom prst="rect">
            <a:avLst/>
          </a:prstGeom>
          <a:noFill/>
          <a:ln w="9525">
            <a:noFill/>
            <a:headEnd/>
            <a:tailEnd/>
          </a:ln>
        </p:spPr>
      </p:pic>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Hệ thống dữ liệu</a:t>
            </a:r>
          </a:p>
        </p:txBody>
      </p:sp>
      <p:sp>
        <p:nvSpPr>
          <p:cNvPr id="3" name="Content Placeholder 2"/>
          <p:cNvSpPr>
            <a:spLocks noGrp="1"/>
          </p:cNvSpPr>
          <p:nvPr>
            <p:ph idx="1"/>
          </p:nvPr>
        </p:nvSpPr>
        <p:spPr/>
        <p:txBody>
          <a:bodyPr/>
          <a:lstStyle/>
          <a:p>
            <a:pPr lvl="0" indent="0" marL="0">
              <a:buNone/>
            </a:pPr>
            <a:r>
              <a:rPr/>
              <a:t>Hệ thống dữ liệu bao gồm các nền tảng quản lý và lưu trữ dữ liệu hiệu quả như </a:t>
            </a:r>
            <a:r>
              <a:rPr b="1"/>
              <a:t>cơ sở dữ liệu</a:t>
            </a:r>
            <a:r>
              <a:rPr/>
              <a:t> (quan hệ hoặc không quan hệ), </a:t>
            </a:r>
            <a:r>
              <a:rPr b="1"/>
              <a:t>hồ dữ liệu</a:t>
            </a:r>
            <a:r>
              <a:rPr/>
              <a:t> chứa lượng lớn dữ liệu, </a:t>
            </a:r>
            <a:r>
              <a:rPr b="1"/>
              <a:t>hệ thống dữ liệu lớn</a:t>
            </a:r>
            <a:r>
              <a:rPr/>
              <a:t> cho tập dữ liệu khổng lồ và </a:t>
            </a:r>
            <a:r>
              <a:rPr b="1"/>
              <a:t>công cụ phân tích kinh doanh</a:t>
            </a:r>
            <a:r>
              <a:rPr/>
              <a:t> cho phân tích.</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Hệ thống dữ liệu như một khung tổ chức cho</a:t>
            </a:r>
          </a:p>
        </p:txBody>
      </p:sp>
      <p:sp>
        <p:nvSpPr>
          <p:cNvPr id="3" name="Content Placeholder 2"/>
          <p:cNvSpPr>
            <a:spLocks noGrp="1"/>
          </p:cNvSpPr>
          <p:nvPr>
            <p:ph idx="1"/>
          </p:nvPr>
        </p:nvSpPr>
        <p:spPr/>
        <p:txBody>
          <a:bodyPr/>
          <a:lstStyle/>
          <a:p>
            <a:pPr lvl="0"/>
            <a:r>
              <a:rPr/>
              <a:t>Cấu trúc dữ liệu hiệu quả và tối ưu nhất cho …</a:t>
            </a:r>
          </a:p>
          <a:p>
            <a:pPr lvl="0"/>
            <a:r>
              <a:rPr/>
              <a:t>Các loại dữ liệu phù hợp nhất được yêu cầu/cần thiết …</a:t>
            </a:r>
          </a:p>
          <a:p>
            <a:pPr lvl="0"/>
            <a:r>
              <a:rPr/>
              <a:t>Định dạng dữ liệu tuân thủ và tương thích nhất …</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Bảo mật, an ninh và bảo vệ dữ liệu</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Bảo mật và bảo vệ dữ liệu</a:t>
            </a:r>
          </a:p>
        </p:txBody>
      </p:sp>
      <p:sp>
        <p:nvSpPr>
          <p:cNvPr id="3" name="Content Placeholder 2"/>
          <p:cNvSpPr>
            <a:spLocks noGrp="1"/>
          </p:cNvSpPr>
          <p:nvPr>
            <p:ph idx="1"/>
          </p:nvPr>
        </p:nvSpPr>
        <p:spPr/>
        <p:txBody>
          <a:bodyPr/>
          <a:lstStyle/>
          <a:p>
            <a:pPr lvl="0" indent="0" marL="0">
              <a:buNone/>
            </a:pPr>
            <a:r>
              <a:rPr b="1"/>
              <a:t>Bảo mật dữ liệu</a:t>
            </a:r>
            <a:r>
              <a:rPr/>
              <a:t> là việc bảo vệ thông tin cá nhân, đảm bảo cá nhân có quyền kiểm soát cách dữ liệu của họ được thu thập, lưu trữ và sử dụng. Nó bao gồm các nguyên tắc và thực hành quy định cách xử lý dữ liệu nhạy cảm, đặc biệt là dữ liệu cá nhân, bao gồm </a:t>
            </a:r>
            <a:r>
              <a:rPr i="1"/>
              <a:t>thu thập</a:t>
            </a:r>
            <a:r>
              <a:rPr/>
              <a:t>, </a:t>
            </a:r>
            <a:r>
              <a:rPr i="1"/>
              <a:t>lưu trữ</a:t>
            </a:r>
            <a:r>
              <a:rPr/>
              <a:t>, </a:t>
            </a:r>
            <a:r>
              <a:rPr i="1"/>
              <a:t>xóa bỏ</a:t>
            </a:r>
            <a:r>
              <a:rPr/>
              <a:t> và </a:t>
            </a:r>
            <a:r>
              <a:rPr i="1"/>
              <a:t>truy cập</a:t>
            </a:r>
            <a:r>
              <a:rPr/>
              <a:t>.</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Nguyên tắc bảo vệ dữ liệu và quyền riêng tư</a:t>
            </a:r>
          </a:p>
        </p:txBody>
      </p:sp>
      <p:sp>
        <p:nvSpPr>
          <p:cNvPr id="3" name="Content Placeholder 2"/>
          <p:cNvSpPr>
            <a:spLocks noGrp="1"/>
          </p:cNvSpPr>
          <p:nvPr>
            <p:ph idx="1"/>
          </p:nvPr>
        </p:nvSpPr>
        <p:spPr/>
        <p:txBody>
          <a:bodyPr/>
          <a:lstStyle/>
          <a:p>
            <a:pPr lvl="0"/>
            <a:r>
              <a:rPr/>
              <a:t>Các nguyên tắc cơ bản của bảo vệ dữ liệu đảm bảo rằng dữ liệu cá nhân được xử lý một cách có trách nhiệm và đạo đức. Những nguyên tắc này là thiết yếu để bảo vệ quyền riêng tư và quyền lợi của cá nhân đồng thời cho phép các tổ chức sử dụng dữ liệu một cách hiệu quả.</a:t>
            </a:r>
          </a:p>
          <a:p>
            <a:pPr lvl="0"/>
            <a:r>
              <a:rPr/>
              <a:t>Các nguyên tắc cốt lõi bao gồm: </a:t>
            </a:r>
            <a:r>
              <a:rPr i="1"/>
              <a:t>tính hợp pháp, công bằng và minh bạch</a:t>
            </a:r>
            <a:r>
              <a:rPr/>
              <a:t>; </a:t>
            </a:r>
            <a:r>
              <a:rPr i="1"/>
              <a:t>giới hạn mục đích</a:t>
            </a:r>
            <a:r>
              <a:rPr/>
              <a:t>; </a:t>
            </a:r>
            <a:r>
              <a:rPr i="1"/>
              <a:t>tối thiểu hóa dữ liệu</a:t>
            </a:r>
            <a:r>
              <a:rPr/>
              <a:t>; </a:t>
            </a:r>
            <a:r>
              <a:rPr i="1"/>
              <a:t>độ chính xác</a:t>
            </a:r>
            <a:r>
              <a:rPr/>
              <a:t>; </a:t>
            </a:r>
            <a:r>
              <a:rPr i="1"/>
              <a:t>giới hạn lưu trữ</a:t>
            </a:r>
            <a:r>
              <a:rPr/>
              <a:t>; </a:t>
            </a:r>
            <a:r>
              <a:rPr i="1"/>
              <a:t>tính toàn vẹn và bảo mật</a:t>
            </a:r>
            <a:r>
              <a:rPr/>
              <a:t>; và </a:t>
            </a:r>
            <a:r>
              <a:rPr i="1"/>
              <a:t>trách nhiệm giải trình</a:t>
            </a:r>
            <a:r>
              <a:rPr/>
              <a:t>.</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Hợp pháp, công bằng và minh bạch</a:t>
            </a:r>
          </a:p>
        </p:txBody>
      </p:sp>
      <p:sp>
        <p:nvSpPr>
          <p:cNvPr id="3" name="Content Placeholder 2"/>
          <p:cNvSpPr>
            <a:spLocks noGrp="1"/>
          </p:cNvSpPr>
          <p:nvPr>
            <p:ph idx="1"/>
          </p:nvPr>
        </p:nvSpPr>
        <p:spPr/>
        <p:txBody>
          <a:bodyPr/>
          <a:lstStyle/>
          <a:p>
            <a:pPr lvl="0"/>
            <a:r>
              <a:rPr/>
              <a:t>Phải có cơ sở pháp lý cho việc thu thập và sử dụng dữ liệu cá nhân (</a:t>
            </a:r>
            <a:r>
              <a:rPr i="1"/>
              <a:t>hợp pháp</a:t>
            </a:r>
            <a:r>
              <a:rPr/>
              <a:t>)</a:t>
            </a:r>
          </a:p>
          <a:p>
            <a:pPr lvl="0"/>
            <a:r>
              <a:rPr/>
              <a:t>Xử lý dữ liệu cá nhân theo cách mà người ta có thể hợp lý kỳ vọng, và không sử dụng nó theo cách gây hại không chính đáng cho họ (</a:t>
            </a:r>
            <a:r>
              <a:rPr i="1"/>
              <a:t>công bằng</a:t>
            </a:r>
            <a:r>
              <a:rPr/>
              <a:t>)</a:t>
            </a:r>
          </a:p>
          <a:p>
            <a:pPr lvl="0"/>
            <a:r>
              <a:rPr/>
              <a:t>Yêu cầu rằng bất kỳ thông tin và giao tiếp nào liên quan đến việc xử lý dữ liệu cá nhân phải dễ tiếp cận và dễ hiểu, và sử dụng ngôn ngữ rõ ràng và đơn giản (</a:t>
            </a:r>
            <a:r>
              <a:rPr i="1"/>
              <a:t>minh bạch</a:t>
            </a:r>
            <a:r>
              <a:rPr/>
              <a:t>)</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Giới hạn mục đích</a:t>
            </a:r>
          </a:p>
        </p:txBody>
      </p:sp>
      <p:sp>
        <p:nvSpPr>
          <p:cNvPr id="3" name="Content Placeholder 2"/>
          <p:cNvSpPr>
            <a:spLocks noGrp="1"/>
          </p:cNvSpPr>
          <p:nvPr>
            <p:ph idx="1"/>
          </p:nvPr>
        </p:nvSpPr>
        <p:spPr/>
        <p:txBody>
          <a:bodyPr/>
          <a:lstStyle/>
          <a:p>
            <a:pPr lvl="0"/>
            <a:r>
              <a:rPr/>
              <a:t>Dữ liệu cá nhân chỉ nên được thu thập chocác mục đích </a:t>
            </a:r>
            <a:r>
              <a:rPr i="1"/>
              <a:t>cụ thể</a:t>
            </a:r>
            <a:r>
              <a:rPr/>
              <a:t>, </a:t>
            </a:r>
            <a:r>
              <a:rPr i="1"/>
              <a:t>rõ ràng</a:t>
            </a:r>
            <a:r>
              <a:rPr/>
              <a:t> và </a:t>
            </a:r>
            <a:r>
              <a:rPr i="1"/>
              <a:t>hợp pháp</a:t>
            </a:r>
            <a:r>
              <a:rPr/>
              <a:t>,và không được xử lý thêm theo cách không tương thích với các mục đích đó.</a:t>
            </a:r>
          </a:p>
          <a:p>
            <a:pPr lvl="0"/>
            <a:r>
              <a:rPr/>
              <a:t>Các mục đích cụ thể mà dữ liệu cá nhân được xử lý phải </a:t>
            </a:r>
            <a:r>
              <a:rPr i="1"/>
              <a:t>rõ ràng</a:t>
            </a:r>
            <a:r>
              <a:rPr/>
              <a:t>, </a:t>
            </a:r>
            <a:r>
              <a:rPr i="1"/>
              <a:t>hợp pháp</a:t>
            </a:r>
            <a:r>
              <a:rPr/>
              <a:t> và được xác định tại thời điểm thu thập dữ liệu cá nhân.</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Tối thiểu hóa dữ liệu</a:t>
            </a:r>
          </a:p>
        </p:txBody>
      </p:sp>
      <p:sp>
        <p:nvSpPr>
          <p:cNvPr id="3" name="Content Placeholder 2"/>
          <p:cNvSpPr>
            <a:spLocks noGrp="1"/>
          </p:cNvSpPr>
          <p:nvPr>
            <p:ph idx="1"/>
          </p:nvPr>
        </p:nvSpPr>
        <p:spPr/>
        <p:txBody>
          <a:bodyPr/>
          <a:lstStyle/>
          <a:p>
            <a:pPr lvl="0"/>
            <a:r>
              <a:rPr/>
              <a:t>Việc xử lý dữ liệu cá nhân phải phù hợp, liên quan và giới hạn trong phạm vi cần thiết liên quan đến các mục đích mà chúng được xử lý.</a:t>
            </a:r>
          </a:p>
          <a:p>
            <a:pPr lvl="0"/>
            <a:r>
              <a:rPr/>
              <a:t>Dữ liệu cá nhân chỉ nên được xử lý nếu mục đích của việc xử lý không thể được thực hiện một cách hợp lý bằng các phương tiện khác.</a:t>
            </a:r>
          </a:p>
          <a:p>
            <a:pPr lvl="0"/>
            <a:r>
              <a:rPr/>
              <a:t>Điều này liên quan đến nguyên tắc </a:t>
            </a:r>
            <a:r>
              <a:rPr b="1"/>
              <a:t>giới hạn lưutrữ</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Độ chính xác</a:t>
            </a:r>
          </a:p>
        </p:txBody>
      </p:sp>
      <p:sp>
        <p:nvSpPr>
          <p:cNvPr id="3" name="Content Placeholder 2"/>
          <p:cNvSpPr>
            <a:spLocks noGrp="1"/>
          </p:cNvSpPr>
          <p:nvPr>
            <p:ph idx="1"/>
          </p:nvPr>
        </p:nvSpPr>
        <p:spPr/>
        <p:txBody>
          <a:bodyPr/>
          <a:lstStyle/>
          <a:p>
            <a:pPr lvl="0"/>
            <a:r>
              <a:rPr/>
              <a:t>Đảm bảo rằng dữ liệu cá nhân là chính xác và, khi cần thiết, được cập nhật kịp thời; thực hiện mọi biện pháp hợp lý để đảm bảo rằng dữ liệu cá nhân không chính xác, xét đến mục đích xử lý của chúng, được xóa hoặc sửa chữa mà không chậm trễ.</a:t>
            </a:r>
          </a:p>
          <a:p>
            <a:pPr lvl="0"/>
            <a:r>
              <a:rPr/>
              <a:t>Ghi chép chính xác thông tin được thu thập hoặc nhận được và nguồn gốc của thông tin đó.</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Giới hạn lưu trữ</a:t>
            </a:r>
          </a:p>
        </p:txBody>
      </p:sp>
      <p:sp>
        <p:nvSpPr>
          <p:cNvPr id="3" name="Content Placeholder 2"/>
          <p:cNvSpPr>
            <a:spLocks noGrp="1"/>
          </p:cNvSpPr>
          <p:nvPr>
            <p:ph idx="1"/>
          </p:nvPr>
        </p:nvSpPr>
        <p:spPr/>
        <p:txBody>
          <a:bodyPr/>
          <a:lstStyle/>
          <a:p>
            <a:pPr lvl="0"/>
            <a:r>
              <a:rPr/>
              <a:t>Dữ liệu cá nhân chỉ nên được lưu trữ dưới dạng cho phép xác định chủ thể dữ liệu trong thời gian cần thiết cho mục đích xử lý dữ liệu cá nhân.</a:t>
            </a:r>
          </a:p>
          <a:p>
            <a:pPr lvl="0"/>
            <a:r>
              <a:rPr/>
              <a:t>Để đảm bảo rằng dữ liệu cá nhân không được lưu trữ lâu hơn mức cần thiết, người kiểm soát dữ liệu nên thiết lập các giới hạn thời gian cho việc xóa hoặc xem xét định kỳ.</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Tính toàn vẹn và bảo mật</a:t>
            </a:r>
          </a:p>
        </p:txBody>
      </p:sp>
      <p:sp>
        <p:nvSpPr>
          <p:cNvPr id="3" name="Content Placeholder 2"/>
          <p:cNvSpPr>
            <a:spLocks noGrp="1"/>
          </p:cNvSpPr>
          <p:nvPr>
            <p:ph idx="1"/>
          </p:nvPr>
        </p:nvSpPr>
        <p:spPr/>
        <p:txBody>
          <a:bodyPr/>
          <a:lstStyle/>
          <a:p>
            <a:pPr lvl="0"/>
            <a:r>
              <a:rPr/>
              <a:t>Bảo vệ chống lại việc truy cập hoặc sử dụng trái phép hoặc bất hợp pháp dữ liệu cá nhân và thiết bị được sử dụng để xử lý, cũng như chống lại việc mất mát, hủy hoại hoặc hư hỏng ngẫu nhiên, bằng cách áp dụng các biện pháp kỹ thuật hoặc tổ chức phù hợp.</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Trách nhiệm</a:t>
            </a:r>
          </a:p>
        </p:txBody>
      </p:sp>
      <p:sp>
        <p:nvSpPr>
          <p:cNvPr id="3" name="Content Placeholder 2"/>
          <p:cNvSpPr>
            <a:spLocks noGrp="1"/>
          </p:cNvSpPr>
          <p:nvPr>
            <p:ph idx="1"/>
          </p:nvPr>
        </p:nvSpPr>
        <p:spPr/>
        <p:txBody>
          <a:bodyPr/>
          <a:lstStyle/>
          <a:p>
            <a:pPr lvl="0"/>
            <a:r>
              <a:rPr/>
              <a:t>Chịu trách nhiệm về việc xử lý dữ liệu cá nhân và cách thức tuân thủ các nguyên tắc nêu trên.</a:t>
            </a:r>
          </a:p>
          <a:p>
            <a:pPr lvl="0"/>
            <a:r>
              <a:rPr/>
              <a:t>Chứng minh (thông qua các hồ sơ và biện pháp phù hợp) việc tuân thủ</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Khung pháp lý</a:t>
            </a:r>
          </a:p>
        </p:txBody>
      </p:sp>
      <p:sp>
        <p:nvSpPr>
          <p:cNvPr id="3" name="Content Placeholder 2"/>
          <p:cNvSpPr>
            <a:spLocks noGrp="1"/>
          </p:cNvSpPr>
          <p:nvPr>
            <p:ph idx="1"/>
          </p:nvPr>
        </p:nvSpPr>
        <p:spPr/>
        <p:txBody>
          <a:bodyPr/>
          <a:lstStyle/>
          <a:p>
            <a:pPr lvl="0"/>
            <a:r>
              <a:rPr/>
              <a:t>Quy định chung về bảo vệ dữ liệu - Vương quốc Anh và Liên minh Châu Âu</a:t>
            </a:r>
          </a:p>
          <a:p>
            <a:pPr lvl="0"/>
            <a:r>
              <a:rPr/>
              <a:t>Đối với Việt Nam???</a:t>
            </a:r>
          </a:p>
          <a:p>
            <a:pPr lvl="0"/>
            <a:r>
              <a:rPr/>
              <a:t>Các khung pháp lý này tuân theo các nguyên tắc đã được mô tả trước đó</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Bảo mật dữ liệu</a:t>
            </a:r>
          </a:p>
        </p:txBody>
      </p:sp>
      <p:sp>
        <p:nvSpPr>
          <p:cNvPr id="3" name="Content Placeholder 2"/>
          <p:cNvSpPr>
            <a:spLocks noGrp="1"/>
          </p:cNvSpPr>
          <p:nvPr>
            <p:ph idx="1"/>
          </p:nvPr>
        </p:nvSpPr>
        <p:spPr/>
        <p:txBody>
          <a:bodyPr/>
          <a:lstStyle/>
          <a:p>
            <a:pPr lvl="0"/>
            <a:r>
              <a:rPr/>
              <a:t>Thực hành bảo vệ thông tin kỹ thuật số khỏi việc truy cập, sử dụng, tiết lộ, gián đoạn, sửa đổi hoặc phá hủy trái phép.</a:t>
            </a:r>
          </a:p>
          <a:p>
            <a:pPr lvl="0"/>
            <a:r>
              <a:rPr/>
              <a:t>Bao gồm các biện pháp và kỹ thuật khác nhau để đảm bảo tính bảo mật, tính toàn vẹn và tính sẵn sàng của dữ liệu trong suốt vòng đời của nó.</a:t>
            </a:r>
          </a:p>
          <a:p>
            <a:pPr lvl="0"/>
            <a:r>
              <a:rPr/>
              <a:t>Bao gồm việc bảo vệ phần cứng vật lý, phần mềm, thiết bị lưu trữ và thiết bị của người dùng, cũng như triển khai các biện pháp kiểm soát truy cập, chính sách và quy trình.</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Các lớp bảo mật dữ liệu - Lớp cá nhân/cá nhân</a:t>
            </a:r>
          </a:p>
        </p:txBody>
      </p:sp>
      <p:sp>
        <p:nvSpPr>
          <p:cNvPr id="3" name="Content Placeholder 2"/>
          <p:cNvSpPr>
            <a:spLocks noGrp="1"/>
          </p:cNvSpPr>
          <p:nvPr>
            <p:ph idx="1"/>
          </p:nvPr>
        </p:nvSpPr>
        <p:spPr/>
        <p:txBody>
          <a:bodyPr/>
          <a:lstStyle/>
          <a:p>
            <a:pPr lvl="0"/>
            <a:r>
              <a:rPr/>
              <a:t>Mỗi cá nhân chúng ta đều có trách nhiệm bảo vệ an toàn thông tin cá nhân của mình và bất kỳ thông tin nào mà chúng ta sở hữu hoặc chịu trách nhiệm.</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Các lớp bảo mật dữ liệu - Lớp tổ chức</a:t>
            </a:r>
          </a:p>
        </p:txBody>
      </p:sp>
      <p:sp>
        <p:nvSpPr>
          <p:cNvPr id="3" name="Content Placeholder 2"/>
          <p:cNvSpPr>
            <a:spLocks noGrp="1"/>
          </p:cNvSpPr>
          <p:nvPr>
            <p:ph idx="1"/>
          </p:nvPr>
        </p:nvSpPr>
        <p:spPr/>
        <p:txBody>
          <a:bodyPr/>
          <a:lstStyle/>
          <a:p>
            <a:pPr lvl="0"/>
            <a:r>
              <a:rPr/>
              <a:t>Các tổ chức chịu trách nhiệm bảo vệ thông tin cá nhân của nhân viên và/hoặc thành viên/đối tác của mình.</a:t>
            </a:r>
          </a:p>
          <a:p>
            <a:pPr lvl="0"/>
            <a:r>
              <a:rPr/>
              <a:t>Các tổ chức chịu trách nhiệm bảo mật thông tin cá nhân của người khác mà họ thu thập thông tin từ họ như một phần của dịch vụ mà họ cung cấp.</a:t>
            </a:r>
          </a:p>
          <a:p>
            <a:pPr lvl="0"/>
            <a:r>
              <a:rPr/>
              <a:t>Các tổ chức chịu trách nhiệm về bảo mật các loại thông tin khác mà họ sở hữu hoặc quản lý.</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Công cụ dữ liệu</a:t>
            </a:r>
          </a:p>
        </p:txBody>
      </p:sp>
      <p:sp>
        <p:nvSpPr>
          <p:cNvPr id="3" name="Content Placeholder 2"/>
          <p:cNvSpPr>
            <a:spLocks noGrp="1"/>
          </p:cNvSpPr>
          <p:nvPr>
            <p:ph idx="1"/>
          </p:nvPr>
        </p:nvSpPr>
        <p:spPr/>
        <p:txBody>
          <a:bodyPr/>
          <a:lstStyle/>
          <a:p>
            <a:pPr lvl="0" indent="0" marL="0">
              <a:buNone/>
            </a:pPr>
            <a:r>
              <a:rPr/>
              <a:t>Dựa trên câu hỏi nghiên cứu của bạn và câu trả lời cho bài tập trước, hãy xác định các công cụ dữ liệu mà bạn cho là cần thiết.</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Công cụ dữ liệu</a:t>
            </a:r>
          </a:p>
        </p:txBody>
      </p:sp>
      <p:sp>
        <p:nvSpPr>
          <p:cNvPr id="3" name="Content Placeholder 2"/>
          <p:cNvSpPr>
            <a:spLocks noGrp="1"/>
          </p:cNvSpPr>
          <p:nvPr>
            <p:ph idx="1"/>
          </p:nvPr>
        </p:nvSpPr>
        <p:spPr/>
        <p:txBody>
          <a:bodyPr/>
          <a:lstStyle/>
          <a:p>
            <a:pPr lvl="0"/>
            <a:r>
              <a:rPr/>
              <a:t>Lựa chọn công cụ của chúng ta hoặc các công cụ mà chúng ta được yêu cầu sử dụng sẽ quyết định cách chúng ta thực hiện các bước khác nhau trong quy trình quản lý dữ liệu.</a:t>
            </a:r>
          </a:p>
          <a:p>
            <a:pPr lvl="0"/>
            <a:r>
              <a:rPr/>
              <a:t>Do đó, các công cụ dữ liệu của chúng ta cũng ảnh hưởng đến chất lượng dữ liệu mà chúng ta thu được.</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Những rủi ro của bảng tính</a:t>
            </a:r>
          </a:p>
        </p:txBody>
      </p:sp>
      <p:sp>
        <p:nvSpPr>
          <p:cNvPr id="3" name="Content Placeholder 2"/>
          <p:cNvSpPr>
            <a:spLocks noGrp="1"/>
          </p:cNvSpPr>
          <p:nvPr>
            <p:ph idx="1"/>
          </p:nvPr>
        </p:nvSpPr>
        <p:spPr/>
        <p:txBody>
          <a:bodyPr/>
          <a:lstStyle/>
          <a:p>
            <a:pPr lvl="0"/>
            <a:r>
              <a:rPr/>
              <a:t>Nguy cơ là có thật. Nhóm </a:t>
            </a:r>
            <a:r>
              <a:rPr>
                <a:hlinkClick r:id="rId2"/>
              </a:rPr>
              <a:t>Nhóm Nghiên cứu Rủi ro Bảng tính Châu Âu (European Spreadsheet Risks Interest Group)</a:t>
            </a:r>
            <a:r>
              <a:rPr/>
              <a:t> duy trì một kho lưu trữ công khai về các </a:t>
            </a:r>
            <a:r>
              <a:rPr>
                <a:hlinkClick r:id="rId3"/>
              </a:rPr>
              <a:t>“câu chuyện kinh hoàng”</a:t>
            </a:r>
            <a:r>
              <a:rPr/>
              <a:t>.</a:t>
            </a:r>
          </a:p>
          <a:p>
            <a:pPr lvl="0"/>
            <a:r>
              <a:rPr/>
              <a:t>Nhiều nhà nghiên cứu đã phân tích tỷ lệ lỗi trong bảng tính. Trong 13 cuộc kiểm toán bảng tính thực tế, trung bình 88% chứa lỗi.</a:t>
            </a:r>
          </a:p>
          <a:p>
            <a:pPr lvl="0"/>
            <a:r>
              <a:rPr/>
              <a:t>Microsoft Excel cụ thể chuyển đổi một số kết hợp giữa ký tự và số thành ngày tháng và lưu trữ ngày tháng khác nhau giữa các hệ điều hành, điều này có thể gây ra vấn đề trong các phân tích sau đó.</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Những nguy cơ của bảng tính</a:t>
            </a:r>
          </a:p>
        </p:txBody>
      </p:sp>
      <p:sp>
        <p:nvSpPr>
          <p:cNvPr id="3" name="Content Placeholder 2"/>
          <p:cNvSpPr>
            <a:spLocks noGrp="1"/>
          </p:cNvSpPr>
          <p:nvPr>
            <p:ph idx="1"/>
          </p:nvPr>
        </p:nvSpPr>
        <p:spPr/>
        <p:txBody>
          <a:bodyPr/>
          <a:lstStyle/>
          <a:p>
            <a:pPr lvl="0"/>
            <a:r>
              <a:rPr/>
              <a:t>Bảng tính thường được sử dụng như một công cụ đa năng cho việc nhập liệu, lưu trữ, phân tích và trực quan hóa dữ liệu.</a:t>
            </a:r>
          </a:p>
          <a:p>
            <a:pPr lvl="0"/>
            <a:r>
              <a:rPr/>
              <a:t>Theo thiết kế, bảng tính được tạo ra để con người định dạng dữ liệu sao cho dễ nhìn bằng mắt thường chứ không phải để máy tính có thể đọc được.</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Bảng tính phù hợp nhất cho việc nhập liệu và lưu trữ</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Các khuyến nghị cụ thể về cách tổ chức dữ liệu bảng tính sao cho cả con người và chương trình máy tính đều có thể đọc được</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Giữ tính nhất quán</a:t>
            </a:r>
          </a:p>
        </p:txBody>
      </p:sp>
      <p:sp>
        <p:nvSpPr>
          <p:cNvPr id="3" name="Content Placeholder 2"/>
          <p:cNvSpPr>
            <a:spLocks noGrp="1"/>
          </p:cNvSpPr>
          <p:nvPr>
            <p:ph idx="1"/>
          </p:nvPr>
        </p:nvSpPr>
        <p:spPr/>
        <p:txBody>
          <a:bodyPr/>
          <a:lstStyle/>
          <a:p>
            <a:pPr lvl="0"/>
            <a:r>
              <a:rPr/>
              <a:t>Sử dụng mã nhất quán cho các biến danh mục</a:t>
            </a:r>
          </a:p>
          <a:p>
            <a:pPr lvl="0"/>
            <a:r>
              <a:rPr/>
              <a:t>Sử dụng mã cố định nhất quán cho các giá trị thiếu</a:t>
            </a:r>
          </a:p>
          <a:p>
            <a:pPr lvl="0"/>
            <a:r>
              <a:rPr/>
              <a:t>Sử dụng tên biến nhất quán</a:t>
            </a:r>
          </a:p>
          <a:p>
            <a:pPr lvl="0"/>
            <a:r>
              <a:rPr/>
              <a:t>Sử dụng các định danh nhất quán</a:t>
            </a:r>
          </a:p>
          <a:p>
            <a:pPr lvl="0"/>
            <a:r>
              <a:rPr/>
              <a:t>Sử dụng bố cục nhất quán trong nhiều tệp dữ liệu</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Đảm bảo tính nhất quán</a:t>
            </a:r>
          </a:p>
        </p:txBody>
      </p:sp>
      <p:sp>
        <p:nvSpPr>
          <p:cNvPr id="3" name="Content Placeholder 2"/>
          <p:cNvSpPr>
            <a:spLocks noGrp="1"/>
          </p:cNvSpPr>
          <p:nvPr>
            <p:ph idx="1"/>
          </p:nvPr>
        </p:nvSpPr>
        <p:spPr/>
        <p:txBody>
          <a:bodyPr/>
          <a:lstStyle/>
          <a:p>
            <a:pPr lvl="0"/>
            <a:r>
              <a:rPr/>
              <a:t>Sử dụng tên tệp nhất quán</a:t>
            </a:r>
          </a:p>
          <a:p>
            <a:pPr lvl="0"/>
            <a:r>
              <a:rPr/>
              <a:t>Sử dụng định dạng ngày tháng nhất quán (tốt nhất là định dạng ISO - YYYY-MM-DD)</a:t>
            </a:r>
          </a:p>
          <a:p>
            <a:pPr lvl="0"/>
            <a:r>
              <a:rPr/>
              <a:t>Sử dụng các cụm từ nhất quán</a:t>
            </a:r>
          </a:p>
          <a:p>
            <a:pPr lvl="0"/>
            <a:r>
              <a:rPr/>
              <a:t>Lưu ý về khoảng trắng thừa trong các ô</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Chọn tên phù hợp cho các đối tượng</a:t>
            </a:r>
          </a:p>
        </p:txBody>
      </p:sp>
      <p:sp>
        <p:nvSpPr>
          <p:cNvPr id="3" name="Content Placeholder 2"/>
          <p:cNvSpPr>
            <a:spLocks noGrp="1"/>
          </p:cNvSpPr>
          <p:nvPr>
            <p:ph idx="1"/>
          </p:nvPr>
        </p:nvSpPr>
        <p:spPr/>
        <p:txBody>
          <a:bodyPr/>
          <a:lstStyle/>
          <a:p>
            <a:pPr lvl="0"/>
            <a:r>
              <a:rPr/>
              <a:t>Tránh sử dụng khoảng trắng trong tên biến và tên tệp</a:t>
            </a:r>
          </a:p>
          <a:p>
            <a:pPr lvl="0"/>
            <a:r>
              <a:rPr/>
              <a:t>Tránh sử dụng các ký tự đặc biệt</a:t>
            </a:r>
          </a:p>
          <a:p>
            <a:pPr lvl="0"/>
            <a:r>
              <a:rPr/>
              <a:t>Ngắn gọn nhưng có ý nghĩa</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Viết ngày tháng theo định dạng YYYY-MM-DD</a:t>
            </a:r>
          </a:p>
        </p:txBody>
      </p:sp>
      <p:sp>
        <p:nvSpPr>
          <p:cNvPr id="3" name="Content Placeholder 2"/>
          <p:cNvSpPr>
            <a:spLocks noGrp="1"/>
          </p:cNvSpPr>
          <p:nvPr>
            <p:ph idx="1"/>
          </p:nvPr>
        </p:nvSpPr>
        <p:spPr/>
        <p:txBody>
          <a:bodyPr/>
          <a:lstStyle/>
          <a:p>
            <a:pPr lvl="0"/>
            <a:r>
              <a:rPr/>
              <a:t>Khuyến nghị sử dụng tiêu chuẩn toàn cầu “ISO 8601”, YYYY-MM-DD</a:t>
            </a:r>
          </a:p>
          <a:p>
            <a:pPr lvl="0"/>
            <a:r>
              <a:rPr/>
              <a:t>Cách xử lý ngày tháng của Microsoft Excel có thể gây ra vấn đề trong dữ liệu. Nó lưu trữ chúng bên trong dưới dạng số, với các quy ước khác nhau trên Windows và Mac. Do đó, quý vị có thể cần kiểm tra thủ công tính toàn vẹn của dữ liệu khi chúng được xuất ra từ Excel.</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Không để ô trống</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Chỉ đặt một mục trong ô</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Tạo thành hình chữ nhật</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Tạo từ điển dữ liệu</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Không có phép tính trong tệp dữ liệu thô</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Không sử dụng màu chữ hoặc đánh dấu làm dữ liệu</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Tạo bản sao lưu</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Sử dụng xác thực dữ liệu để tránh sai sót</a:t>
            </a:r>
          </a:p>
        </p:txBody>
      </p:sp>
      <p:sp>
        <p:nvSpPr>
          <p:cNvPr id="3" name="Content Placeholder 2"/>
          <p:cNvSpPr>
            <a:spLocks noGrp="1"/>
          </p:cNvSpPr>
          <p:nvPr>
            <p:ph idx="1"/>
          </p:nvPr>
        </p:nvSpPr>
        <p:spPr/>
        <p:txBody>
          <a:bodyPr/>
          <a:lstStyle/>
          <a:p>
            <a:pPr lvl="0" indent="0" marL="0">
              <a:buNone/>
            </a:pPr>
            <a:r>
              <a:rPr/>
              <a:t>Chúng ta sẽ thảo luận chi tiết về các lỗi xác thực trong phần sau của bộ slide này.</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Lưu dữ liệu vào các tệp văn bản thuần túy</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Các vấn đề định dạng khác trong Excel có thể được tìm thấy </a:t>
            </a:r>
            <a:r>
              <a:rPr>
                <a:hlinkClick r:id="rId2"/>
              </a:rPr>
              <a:t>tại đây</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Chúng ta cần thảo luận về việc làm sạch dữ liệu</a:t>
            </a:r>
          </a:p>
        </p:txBody>
      </p:sp>
      <p:sp>
        <p:nvSpPr>
          <p:cNvPr id="3" name="Content Placeholder 2"/>
          <p:cNvSpPr>
            <a:spLocks noGrp="1"/>
          </p:cNvSpPr>
          <p:nvPr>
            <p:ph idx="1"/>
          </p:nvPr>
        </p:nvSpPr>
        <p:spPr/>
        <p:txBody>
          <a:bodyPr/>
          <a:lstStyle/>
          <a:p>
            <a:pPr lvl="0" indent="0" marL="0">
              <a:buNone/>
            </a:pPr>
            <a:r>
              <a:rPr b="1"/>
              <a:t>Làm sạch dữ liệu</a:t>
            </a:r>
            <a:r>
              <a:rPr/>
              <a:t> là quá trình xác định và sửa chữa (hoặc loại bỏ) các bản ghi bị hỏng, không chính xác hoặc không liên quan trong tập dữ liệu, bảng hoặc cơ sở dữ liệu. Quá trình này bao gồm việc phát hiện các phần dữ liệu không đầy đủ, sai lệch hoặc không chính xác, sau đó thay thế, sửa đổi hoặc xóa dữ liệu bị ảnh hưởng.</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Nhưng làm thế nào để chúng ta biết rằng dữ liệu của mình có lỗi?</a:t>
            </a:r>
          </a:p>
        </p:txBody>
      </p:sp>
      <p:sp>
        <p:nvSpPr>
          <p:cNvPr id="3" name="Content Placeholder 2"/>
          <p:cNvSpPr>
            <a:spLocks noGrp="1"/>
          </p:cNvSpPr>
          <p:nvPr>
            <p:ph idx="1"/>
          </p:nvPr>
        </p:nvSpPr>
        <p:spPr/>
        <p:txBody>
          <a:bodyPr/>
          <a:lstStyle/>
          <a:p>
            <a:pPr lvl="0"/>
            <a:r>
              <a:rPr/>
              <a:t>Điều này phụ thuộc vào loại dữ liệu và loại lỗi mà bạn đang tìm kiếm.</a:t>
            </a:r>
          </a:p>
          <a:p>
            <a:pPr lvl="0"/>
            <a:r>
              <a:rPr/>
              <a:t>Hầu hết thời gian, khi chúng ta nói rằng chúng ta đang thực hiện làm sạch dữ liệu, chúng ta đang tìm kiếm hoặc phát hiện </a:t>
            </a:r>
            <a:r>
              <a:rPr b="1"/>
              <a:t>các lỗi về tính hợp lệ</a:t>
            </a:r>
          </a:p>
          <a:p>
            <a:pPr lvl="0"/>
            <a:r>
              <a:rPr/>
              <a:t>Độ chính xác của dữ liệu là mức độ mà các giá trị tuân thủ các quy tắc hoặc ràng buộc đã được định nghĩa. Thông thường, các lỗi này có thể được phát hiện bằng mắt thường.</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Lỗi về tính hợp lệ</a:t>
            </a:r>
          </a:p>
        </p:txBody>
      </p:sp>
      <p:sp>
        <p:nvSpPr>
          <p:cNvPr id="3" name="Content Placeholder 2"/>
          <p:cNvSpPr>
            <a:spLocks noGrp="1"/>
          </p:cNvSpPr>
          <p:nvPr>
            <p:ph idx="1"/>
          </p:nvPr>
        </p:nvSpPr>
        <p:spPr/>
        <p:txBody>
          <a:bodyPr/>
          <a:lstStyle/>
          <a:p>
            <a:pPr lvl="0"/>
            <a:r>
              <a:rPr/>
              <a:t>Lỗi loại dữ liệu - các giá trị trong một cột cụ thể phải thuộc một loại dữ liệu cụ thể</a:t>
            </a:r>
          </a:p>
          <a:p>
            <a:pPr lvl="0"/>
            <a:r>
              <a:rPr/>
              <a:t>Lỗi phạm vi - số hoặc ngày tháng phải nằm trong một phạm vi nhất định</a:t>
            </a:r>
          </a:p>
          <a:p>
            <a:pPr lvl="0"/>
            <a:r>
              <a:rPr/>
              <a:t>Lỗi giá trị thiếu - giá trị bị thiếu, đặc biệt khi giá trị đó là bắt buộc</a:t>
            </a:r>
          </a:p>
          <a:p>
            <a:pPr lvl="0"/>
            <a:r>
              <a:rPr/>
              <a:t>Lỗi giá trị duy nhất</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Lỗi hợp lệ</a:t>
            </a:r>
          </a:p>
        </p:txBody>
      </p:sp>
      <p:sp>
        <p:nvSpPr>
          <p:cNvPr id="3" name="Content Placeholder 2"/>
          <p:cNvSpPr>
            <a:spLocks noGrp="1"/>
          </p:cNvSpPr>
          <p:nvPr>
            <p:ph idx="1"/>
          </p:nvPr>
        </p:nvSpPr>
        <p:spPr/>
        <p:txBody>
          <a:bodyPr/>
          <a:lstStyle/>
          <a:p>
            <a:pPr lvl="0"/>
            <a:r>
              <a:rPr/>
              <a:t>Lỗi thành viên tập hợp - các giá trị chỉ nên thuộc về một tập hợp cụ thể các giá trị có thể có</a:t>
            </a:r>
          </a:p>
          <a:p>
            <a:pPr lvl="0"/>
            <a:r>
              <a:rPr/>
              <a:t>Lỗi giá trị mong đợi</a:t>
            </a:r>
          </a:p>
          <a:p>
            <a:pPr lvl="0"/>
            <a:r>
              <a:rPr/>
              <a:t>Xác thực giữa các trường - giá trị trong một trường xác định giá trị đúng hoặc sai trong một trường khác (ví dụ: nam giới mang thai)</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Lỗi hợp lệ thường do lỗi nhập dữ liệu/vấn đề</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Tuy nhiên, không phải tất cả các lỗi đều có thể phát hiện bằng mắt thường</a:t>
            </a:r>
          </a:p>
        </p:txBody>
      </p:sp>
      <p:sp>
        <p:nvSpPr>
          <p:cNvPr id="3" name="Content Placeholder 2"/>
          <p:cNvSpPr>
            <a:spLocks noGrp="1"/>
          </p:cNvSpPr>
          <p:nvPr>
            <p:ph idx="1"/>
          </p:nvPr>
        </p:nvSpPr>
        <p:spPr/>
        <p:txBody>
          <a:bodyPr/>
          <a:lstStyle/>
          <a:p>
            <a:pPr lvl="0"/>
            <a:r>
              <a:rPr/>
              <a:t>Một số </a:t>
            </a:r>
            <a:r>
              <a:rPr i="1"/>
              <a:t>lỗi hợp lệ</a:t>
            </a:r>
            <a:r>
              <a:rPr/>
              <a:t> và lỗi về </a:t>
            </a:r>
            <a:r>
              <a:rPr i="1"/>
              <a:t>độ chính xác</a:t>
            </a:r>
            <a:r>
              <a:rPr/>
              <a:t>, </a:t>
            </a:r>
            <a:r>
              <a:rPr i="1"/>
              <a:t>nhất quán</a:t>
            </a:r>
            <a:r>
              <a:rPr/>
              <a:t>, </a:t>
            </a:r>
            <a:r>
              <a:rPr i="1"/>
              <a:t>đồng nhất</a:t>
            </a:r>
            <a:r>
              <a:rPr/>
              <a:t> và </a:t>
            </a:r>
            <a:r>
              <a:rPr i="1"/>
              <a:t>phân phối</a:t>
            </a:r>
            <a:r>
              <a:rPr/>
              <a:t> yêu cầu phân tích dữ liệu khám phá để phát hiện.</a:t>
            </a:r>
          </a:p>
          <a:p>
            <a:pPr lvl="0"/>
            <a:r>
              <a:rPr/>
              <a:t>Chúng ta sẽ thảo luận về các lỗi này vào tuần tới trong chủ đề phân tích dữ liệu khám phá.</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Chúng ta cần thảo luận về việc tái cấu trúc dữ liệu</a:t>
            </a:r>
          </a:p>
        </p:txBody>
      </p:sp>
      <p:sp>
        <p:nvSpPr>
          <p:cNvPr id="3" name="Content Placeholder 2"/>
          <p:cNvSpPr>
            <a:spLocks noGrp="1"/>
          </p:cNvSpPr>
          <p:nvPr>
            <p:ph idx="1"/>
          </p:nvPr>
        </p:nvSpPr>
        <p:spPr/>
        <p:txBody>
          <a:bodyPr/>
          <a:lstStyle/>
          <a:p>
            <a:pPr lvl="0"/>
            <a:r>
              <a:rPr b="1"/>
              <a:t>Tái cấu trúc dữ liệu</a:t>
            </a:r>
            <a:r>
              <a:rPr/>
              <a:t> đề cập đến việc thao tác dữ liệu hiện có để làm cho nó phù hợp hơn cho phân tích, lưu trữ hoặc các mục đích khác. Nó bao gồm việc thay đổi định dạng, cấu trúc hoặc tổ chức của dữ liệu để phù hợp với các nhu cầu cụ thể, chẳng hạn như kho dữ liệu hoặc phân tích thống kê.</a:t>
            </a:r>
          </a:p>
          <a:p>
            <a:pPr lvl="0"/>
            <a:r>
              <a:rPr/>
              <a:t>Đây là một loại khác của việc làm sạch dữ liệu và đôi khi được gọi là</a:t>
            </a:r>
            <a:r>
              <a:rPr b="1"/>
              <a:t>“sắp xếp dữ liệu”.</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lstStyle/>
          <a:p>
            <a:pPr lvl="0" indent="0" marL="0">
              <a:buNone/>
            </a:pPr>
            <a:r>
              <a:rPr/>
              <a:t>Cấu trúc dữ liệu - Ví dụ 1</a:t>
            </a:r>
          </a:p>
        </p:txBody>
      </p:sp>
      <p:sp>
        <p:nvSpPr>
          <p:cNvPr id="4" name="Text Placeholder 3"/>
          <p:cNvSpPr>
            <a:spLocks noGrp="1"/>
          </p:cNvSpPr>
          <p:nvPr>
            <p:ph idx="2" sz="half" type="body"/>
          </p:nvPr>
        </p:nvSpPr>
        <p:spPr/>
        <p:txBody>
          <a:bodyPr/>
          <a:lstStyle/>
          <a:p>
            <a:pPr lvl="0" indent="0" marL="0">
              <a:buNone/>
            </a:pPr>
            <a:r>
              <a:rPr/>
              <a:t>Bảng có hai cột và ba hàng, và cả hàng và cột đều được đánh dấu.</a:t>
            </a:r>
          </a:p>
        </p:txBody>
      </p:sp>
      <p:graphicFrame>
        <p:nvGraphicFramePr>
          <p:cNvPr id="6" name="Content Placeholder 5"/>
          <p:cNvGraphicFramePr>
            <a:graphicFrameLocks noGrp="1"/>
          </p:cNvGraphicFramePr>
          <p:nvPr>
            <p:ph idx="1"/>
          </p:nvPr>
        </p:nvGraphicFramePr>
        <p:xfrm>
          <a:off x="5181600" y="977900"/>
          <a:ext cx="6172200" cy="4864100"/>
        </p:xfrm>
        <a:graphic>
          <a:graphicData uri="http://schemas.openxmlformats.org/drawingml/2006/table">
            <a:tbl>
              <a:tblPr firstRow="1" bandRow="1">
                <a:tableStyleId>{5C22544A-7EE6-4342-B048-85BDC9FD1C3A}</a:tableStyleId>
              </a:tblPr>
              <a:tblGrid>
                <a:gridCol w="2120900"/>
                <a:gridCol w="1930400"/>
                <a:gridCol w="2120900"/>
              </a:tblGrid>
              <a:tr h="0">
                <a:tc>
                  <a:txBody>
                    <a:bodyPr/>
                    <a:lstStyle/>
                    <a:p>
                      <a:pPr lvl="0" indent="0" marL="0" algn="r">
                        <a:buNone/>
                      </a:pPr>
                      <a:r>
                        <a:rPr/>
                        <a:t> </a:t>
                      </a:r>
                    </a:p>
                  </a:txBody>
                  <a:tcPr/>
                </a:tc>
                <a:tc>
                  <a:txBody>
                    <a:bodyPr/>
                    <a:lstStyle/>
                    <a:p>
                      <a:pPr lvl="0" indent="0" marL="0" algn="r">
                        <a:buNone/>
                      </a:pPr>
                      <a:r>
                        <a:rPr/>
                        <a:t>điều trị</a:t>
                      </a:r>
                    </a:p>
                  </a:txBody>
                  <a:tcPr/>
                </a:tc>
                <a:tc>
                  <a:txBody>
                    <a:bodyPr/>
                    <a:lstStyle/>
                    <a:p>
                      <a:pPr lvl="0" indent="0" marL="0" algn="r">
                        <a:buNone/>
                      </a:pPr>
                      <a:r>
                        <a:rPr/>
                        <a:t>Phương pháp điều trị B</a:t>
                      </a:r>
                    </a:p>
                  </a:txBody>
                  <a:tcPr/>
                </a:tc>
              </a:tr>
              <a:tr h="0">
                <a:tc>
                  <a:txBody>
                    <a:bodyPr/>
                    <a:lstStyle/>
                    <a:p>
                      <a:pPr lvl="0" indent="0" marL="0" algn="r">
                        <a:buNone/>
                      </a:pPr>
                      <a:r>
                        <a:rPr/>
                        <a:t>Ông John Smith</a:t>
                      </a:r>
                    </a:p>
                  </a:txBody>
                </a:tc>
                <a:tc>
                  <a:txBody>
                    <a:bodyPr/>
                    <a:lstStyle/>
                    <a:p>
                      <a:pPr lvl="0" indent="0" marL="0" algn="r">
                        <a:buNone/>
                      </a:pPr>
                      <a:r>
                        <a:rPr/>
                        <a:t> </a:t>
                      </a:r>
                    </a:p>
                  </a:txBody>
                </a:tc>
                <a:tc>
                  <a:txBody>
                    <a:bodyPr/>
                    <a:lstStyle/>
                    <a:p>
                      <a:pPr lvl="0" indent="0" marL="0" algn="r">
                        <a:buNone/>
                      </a:pPr>
                      <a:r>
                        <a:rPr/>
                        <a:t>2</a:t>
                      </a:r>
                    </a:p>
                  </a:txBody>
                </a:tc>
              </a:tr>
              <a:tr h="0">
                <a:tc>
                  <a:txBody>
                    <a:bodyPr/>
                    <a:lstStyle/>
                    <a:p>
                      <a:pPr lvl="0" indent="0" marL="0" algn="r">
                        <a:buNone/>
                      </a:pPr>
                      <a:r>
                        <a:rPr/>
                        <a:t>Jane Doe</a:t>
                      </a:r>
                    </a:p>
                  </a:txBody>
                </a:tc>
                <a:tc>
                  <a:txBody>
                    <a:bodyPr/>
                    <a:lstStyle/>
                    <a:p>
                      <a:pPr lvl="0" indent="0" marL="0" algn="r">
                        <a:buNone/>
                      </a:pPr>
                      <a:r>
                        <a:rPr/>
                        <a:t>16</a:t>
                      </a:r>
                    </a:p>
                  </a:txBody>
                </a:tc>
                <a:tc>
                  <a:txBody>
                    <a:bodyPr/>
                    <a:lstStyle/>
                    <a:p>
                      <a:pPr lvl="0" indent="0" marL="0" algn="r">
                        <a:buNone/>
                      </a:pPr>
                      <a:r>
                        <a:rPr/>
                        <a:t>11</a:t>
                      </a:r>
                    </a:p>
                  </a:txBody>
                </a:tc>
              </a:tr>
              <a:tr h="0">
                <a:tc>
                  <a:txBody>
                    <a:bodyPr/>
                    <a:lstStyle/>
                    <a:p>
                      <a:pPr lvl="0" indent="0" marL="0" algn="r">
                        <a:buNone/>
                      </a:pPr>
                      <a:r>
                        <a:rPr/>
                        <a:t>Mary Johnson</a:t>
                      </a:r>
                    </a:p>
                  </a:txBody>
                </a:tc>
                <a:tc>
                  <a:txBody>
                    <a:bodyPr/>
                    <a:lstStyle/>
                    <a:p>
                      <a:pPr lvl="0" indent="0" marL="0" algn="r">
                        <a:buNone/>
                      </a:pPr>
                      <a:r>
                        <a:rPr/>
                        <a:t>3</a:t>
                      </a:r>
                    </a:p>
                  </a:txBody>
                </a:tc>
                <a:tc>
                  <a:txBody>
                    <a:bodyPr/>
                    <a:lstStyle/>
                    <a:p>
                      <a:pPr lvl="0" indent="0" marL="0" algn="r">
                        <a:buNone/>
                      </a:pPr>
                      <a:r>
                        <a:rPr/>
                        <a:t>1</a:t>
                      </a:r>
                    </a:p>
                  </a:txBody>
                </a:tc>
              </a:tr>
            </a:tbl>
          </a:graphicData>
        </a:graphic>
      </p:graphicFrame>
      <p:sp>
        <p:nvSpPr>
          <p:cNvPr id="6" name="Footer Placeholder 5"/>
          <p:cNvSpPr>
            <a:spLocks noGrp="1"/>
          </p:cNvSpPr>
          <p:nvPr>
            <p:ph idx="11" sz="quarter" type="ftr"/>
          </p:nvPr>
        </p:nvSpPr>
        <p:spPr/>
        <p:txBody>
          <a:bodyPr/>
          <a:lstStyle/>
          <a:p>
            <a:r>
              <a:rPr lang="en-GB"/>
              <a:t>Tâm Anh Oxford Partnership</a:t>
            </a:r>
          </a:p>
        </p:txBody>
      </p:sp>
      <p:sp>
        <p:nvSpPr>
          <p:cNvPr id="7" name="Slide Number Placeholder 6"/>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lstStyle/>
          <a:p>
            <a:pPr lvl="0" indent="0" marL="0">
              <a:buNone/>
            </a:pPr>
            <a:r>
              <a:rPr/>
              <a:t>Cấu trúc dữ liệu - Ví dụ 2</a:t>
            </a:r>
          </a:p>
        </p:txBody>
      </p:sp>
      <p:sp>
        <p:nvSpPr>
          <p:cNvPr id="4" name="Text Placeholder 3"/>
          <p:cNvSpPr>
            <a:spLocks noGrp="1"/>
          </p:cNvSpPr>
          <p:nvPr>
            <p:ph idx="2" sz="half" type="body"/>
          </p:nvPr>
        </p:nvSpPr>
        <p:spPr/>
        <p:txBody>
          <a:bodyPr/>
          <a:lstStyle/>
          <a:p>
            <a:pPr lvl="0" indent="0" marL="0">
              <a:buNone/>
            </a:pPr>
            <a:r>
              <a:rPr/>
              <a:t>Các hàng và cột đã được hoán đổi vị trí. Dữ liệu vẫn giữ nguyên, nhưng bố cục đã thay đổi.</a:t>
            </a:r>
          </a:p>
        </p:txBody>
      </p:sp>
      <p:graphicFrame>
        <p:nvGraphicFramePr>
          <p:cNvPr id="6" name="Content Placeholder 5"/>
          <p:cNvGraphicFramePr>
            <a:graphicFrameLocks noGrp="1"/>
          </p:cNvGraphicFramePr>
          <p:nvPr>
            <p:ph idx="1"/>
          </p:nvPr>
        </p:nvGraphicFramePr>
        <p:xfrm>
          <a:off x="5181600" y="977900"/>
          <a:ext cx="6172200" cy="4864100"/>
        </p:xfrm>
        <a:graphic>
          <a:graphicData uri="http://schemas.openxmlformats.org/drawingml/2006/table">
            <a:tbl>
              <a:tblPr firstRow="1" bandRow="1">
                <a:tableStyleId>{5C22544A-7EE6-4342-B048-85BDC9FD1C3A}</a:tableStyleId>
              </a:tblPr>
              <a:tblGrid>
                <a:gridCol w="1790700"/>
                <a:gridCol w="1625600"/>
                <a:gridCol w="1790700"/>
                <a:gridCol w="977900"/>
              </a:tblGrid>
              <a:tr h="0">
                <a:tc>
                  <a:txBody>
                    <a:bodyPr/>
                    <a:lstStyle/>
                    <a:p>
                      <a:pPr lvl="0" indent="0" marL="0" algn="r">
                        <a:buNone/>
                      </a:pPr>
                      <a:r>
                        <a:rPr/>
                        <a:t> </a:t>
                      </a:r>
                    </a:p>
                  </a:txBody>
                  <a:tcPr/>
                </a:tc>
                <a:tc>
                  <a:txBody>
                    <a:bodyPr/>
                    <a:lstStyle/>
                    <a:p>
                      <a:pPr lvl="0" indent="0" marL="0" algn="r">
                        <a:buNone/>
                      </a:pPr>
                      <a:r>
                        <a:rPr/>
                        <a:t>John Smith</a:t>
                      </a:r>
                    </a:p>
                  </a:txBody>
                  <a:tcPr/>
                </a:tc>
                <a:tc>
                  <a:txBody>
                    <a:bodyPr/>
                    <a:lstStyle/>
                    <a:p>
                      <a:pPr lvl="0" indent="0" marL="0" algn="r">
                        <a:buNone/>
                      </a:pPr>
                      <a:r>
                        <a:rPr/>
                        <a:t>Jane Doe</a:t>
                      </a:r>
                    </a:p>
                  </a:txBody>
                  <a:tcPr/>
                </a:tc>
                <a:tc>
                  <a:txBody>
                    <a:bodyPr/>
                    <a:lstStyle/>
                    <a:p>
                      <a:pPr lvl="0" indent="0" marL="0" algn="r">
                        <a:buNone/>
                      </a:pPr>
                      <a:r>
                        <a:rPr/>
                        <a:t>Mary Johnson</a:t>
                      </a:r>
                    </a:p>
                  </a:txBody>
                  <a:tcPr/>
                </a:tc>
              </a:tr>
              <a:tr h="0">
                <a:tc>
                  <a:txBody>
                    <a:bodyPr/>
                    <a:lstStyle/>
                    <a:p>
                      <a:pPr lvl="0" indent="0" marL="0" algn="r">
                        <a:buNone/>
                      </a:pPr>
                      <a:r>
                        <a:rPr/>
                        <a:t>Phương pháp điều trị a</a:t>
                      </a:r>
                    </a:p>
                  </a:txBody>
                </a:tc>
                <a:tc>
                  <a:txBody>
                    <a:bodyPr/>
                    <a:lstStyle/>
                    <a:p>
                      <a:pPr lvl="0" indent="0" marL="0" algn="r">
                        <a:buNone/>
                      </a:pPr>
                      <a:r>
                        <a:rPr/>
                        <a:t> </a:t>
                      </a:r>
                    </a:p>
                  </a:txBody>
                </a:tc>
                <a:tc>
                  <a:txBody>
                    <a:bodyPr/>
                    <a:lstStyle/>
                    <a:p>
                      <a:pPr lvl="0" indent="0" marL="0" algn="r">
                        <a:buNone/>
                      </a:pPr>
                      <a:r>
                        <a:rPr/>
                        <a:t>16</a:t>
                      </a:r>
                    </a:p>
                  </a:txBody>
                </a:tc>
                <a:tc>
                  <a:txBody>
                    <a:bodyPr/>
                    <a:lstStyle/>
                    <a:p>
                      <a:pPr lvl="0" indent="0" marL="0" algn="r">
                        <a:buNone/>
                      </a:pPr>
                      <a:r>
                        <a:rPr/>
                        <a:t>3</a:t>
                      </a:r>
                    </a:p>
                  </a:txBody>
                </a:tc>
              </a:tr>
              <a:tr h="0">
                <a:tc>
                  <a:txBody>
                    <a:bodyPr/>
                    <a:lstStyle/>
                    <a:p>
                      <a:pPr lvl="0" indent="0" marL="0" algn="r">
                        <a:buNone/>
                      </a:pPr>
                      <a:r>
                        <a:rPr/>
                        <a:t>Phương pháp điều trị B</a:t>
                      </a:r>
                    </a:p>
                  </a:txBody>
                </a:tc>
                <a:tc>
                  <a:txBody>
                    <a:bodyPr/>
                    <a:lstStyle/>
                    <a:p>
                      <a:pPr lvl="0" indent="0" marL="0" algn="r">
                        <a:buNone/>
                      </a:pPr>
                      <a:r>
                        <a:rPr/>
                        <a:t>2</a:t>
                      </a:r>
                    </a:p>
                  </a:txBody>
                </a:tc>
                <a:tc>
                  <a:txBody>
                    <a:bodyPr/>
                    <a:lstStyle/>
                    <a:p>
                      <a:pPr lvl="0" indent="0" marL="0" algn="r">
                        <a:buNone/>
                      </a:pPr>
                      <a:r>
                        <a:rPr/>
                        <a:t>11</a:t>
                      </a:r>
                    </a:p>
                  </a:txBody>
                </a:tc>
                <a:tc>
                  <a:txBody>
                    <a:bodyPr/>
                    <a:lstStyle/>
                    <a:p>
                      <a:pPr lvl="0" indent="0" marL="0" algn="r">
                        <a:buNone/>
                      </a:pPr>
                      <a:r>
                        <a:rPr/>
                        <a:t>1</a:t>
                      </a:r>
                    </a:p>
                  </a:txBody>
                </a:tc>
              </a:tr>
            </a:tbl>
          </a:graphicData>
        </a:graphic>
      </p:graphicFrame>
      <p:sp>
        <p:nvSpPr>
          <p:cNvPr id="6" name="Footer Placeholder 5"/>
          <p:cNvSpPr>
            <a:spLocks noGrp="1"/>
          </p:cNvSpPr>
          <p:nvPr>
            <p:ph idx="11" sz="quarter" type="ftr"/>
          </p:nvPr>
        </p:nvSpPr>
        <p:spPr/>
        <p:txBody>
          <a:bodyPr/>
          <a:lstStyle/>
          <a:p>
            <a:r>
              <a:rPr lang="en-GB"/>
              <a:t>Tâm Anh Oxford Partnership</a:t>
            </a:r>
          </a:p>
        </p:txBody>
      </p:sp>
      <p:sp>
        <p:nvSpPr>
          <p:cNvPr id="7" name="Slide Number Placeholder 6"/>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Sémantique des données</a:t>
            </a:r>
          </a:p>
        </p:txBody>
      </p:sp>
      <p:sp>
        <p:nvSpPr>
          <p:cNvPr id="3" name="Content Placeholder 2"/>
          <p:cNvSpPr>
            <a:spLocks noGrp="1"/>
          </p:cNvSpPr>
          <p:nvPr>
            <p:ph idx="1"/>
          </p:nvPr>
        </p:nvSpPr>
        <p:spPr/>
        <p:txBody>
          <a:bodyPr/>
          <a:lstStyle/>
          <a:p>
            <a:pPr lvl="0"/>
            <a:r>
              <a:rPr/>
              <a:t>Bộ dữ liệu là tập hợp các </a:t>
            </a:r>
            <a:r>
              <a:rPr b="1"/>
              <a:t>giá trị</a:t>
            </a:r>
            <a:r>
              <a:rPr/>
              <a:t>, thường là số (nếu là dữ liệu định lượng) hoặc chuỗi ký tự (nếu là dữ liệu định tính).</a:t>
            </a:r>
          </a:p>
          <a:p>
            <a:pPr lvl="0"/>
            <a:r>
              <a:rPr b="1"/>
              <a:t>Các giá trị</a:t>
            </a:r>
            <a:r>
              <a:rPr/>
              <a:t>được tổ chức theo hai cách:</a:t>
            </a:r>
          </a:p>
          <a:p>
            <a:pPr lvl="1"/>
            <a:r>
              <a:rPr/>
              <a:t>Mỗi </a:t>
            </a:r>
            <a:r>
              <a:rPr i="1"/>
              <a:t>giá trị</a:t>
            </a:r>
            <a:r>
              <a:rPr/>
              <a:t> thuộc về một </a:t>
            </a:r>
            <a:r>
              <a:rPr b="1"/>
              <a:t>biến</a:t>
            </a:r>
            <a:r>
              <a:rPr/>
              <a:t> và một </a:t>
            </a:r>
            <a:r>
              <a:rPr b="1"/>
              <a:t>quan sát</a:t>
            </a:r>
            <a:r>
              <a:rPr/>
              <a:t>.</a:t>
            </a:r>
          </a:p>
          <a:p>
            <a:pPr lvl="1"/>
            <a:r>
              <a:rPr/>
              <a:t>Một </a:t>
            </a:r>
            <a:r>
              <a:rPr b="1"/>
              <a:t>biến</a:t>
            </a:r>
            <a:r>
              <a:rPr/>
              <a:t> chứa tất cả các giá trị đo lường cùng một thuộc tính cơ bản (như chiều cao, nhiệt độ, thời gian) trên các đơn vị.</a:t>
            </a:r>
          </a:p>
          <a:p>
            <a:pPr lvl="1"/>
            <a:r>
              <a:rPr/>
              <a:t>Một </a:t>
            </a:r>
            <a:r>
              <a:rPr b="1"/>
              <a:t>quan sát</a:t>
            </a:r>
            <a:r>
              <a:rPr/>
              <a:t> chứa tất cả các giá trị được đo lường trên cùng một đơn vị (như một người, một ngày, hoặc một cuộc đua) trên các thuộc tính.</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Cấu trúc dữ liệu - Ví dụ 3</a:t>
            </a:r>
          </a:p>
        </p:txBody>
      </p:sp>
      <p:graphicFrame>
        <p:nvGraphicFramePr>
          <p:cNvPr id="6" name="Content Placeholder 5"/>
          <p:cNvGraphicFramePr>
            <a:graphicFrameLocks noGrp="1"/>
          </p:cNvGraphicFramePr>
          <p:nvPr>
            <p:ph idx="1"/>
          </p:nvPr>
        </p:nvGraphicFramePr>
        <p:xfrm>
          <a:off x="838200" y="1816100"/>
          <a:ext cx="10515600" cy="4343400"/>
        </p:xfrm>
        <a:graphic>
          <a:graphicData uri="http://schemas.openxmlformats.org/drawingml/2006/table">
            <a:tbl>
              <a:tblPr firstRow="1" bandRow="1">
                <a:tableStyleId>{5C22544A-7EE6-4342-B048-85BDC9FD1C3A}</a:tableStyleId>
              </a:tblPr>
              <a:tblGrid>
                <a:gridCol w="3619500"/>
                <a:gridCol w="3289300"/>
                <a:gridCol w="3619500"/>
              </a:tblGrid>
              <a:tr h="0">
                <a:tc>
                  <a:txBody>
                    <a:bodyPr/>
                    <a:lstStyle/>
                    <a:p>
                      <a:pPr lvl="0" indent="0" marL="0" algn="r">
                        <a:buNone/>
                      </a:pPr>
                      <a:r>
                        <a:rPr/>
                        <a:t>tên</a:t>
                      </a:r>
                    </a:p>
                  </a:txBody>
                  <a:tcPr/>
                </a:tc>
                <a:tc>
                  <a:txBody>
                    <a:bodyPr/>
                    <a:lstStyle/>
                    <a:p>
                      <a:pPr lvl="0" indent="0" marL="0" algn="l">
                        <a:buNone/>
                      </a:pPr>
                      <a:r>
                        <a:rPr/>
                        <a:t>phương pháp điều trị</a:t>
                      </a:r>
                    </a:p>
                  </a:txBody>
                  <a:tcPr/>
                </a:tc>
                <a:tc>
                  <a:txBody>
                    <a:bodyPr/>
                    <a:lstStyle/>
                    <a:p>
                      <a:pPr lvl="0" indent="0" marL="0" algn="r">
                        <a:buNone/>
                      </a:pPr>
                      <a:r>
                        <a:rPr/>
                        <a:t>kết quả</a:t>
                      </a:r>
                    </a:p>
                  </a:txBody>
                  <a:tcPr/>
                </a:tc>
              </a:tr>
              <a:tr h="0">
                <a:tc>
                  <a:txBody>
                    <a:bodyPr/>
                    <a:lstStyle/>
                    <a:p>
                      <a:pPr lvl="0" indent="0" marL="0" algn="r">
                        <a:buNone/>
                      </a:pPr>
                      <a:r>
                        <a:rPr/>
                        <a:t>John Smith</a:t>
                      </a:r>
                    </a:p>
                  </a:txBody>
                </a:tc>
                <a:tc>
                  <a:txBody>
                    <a:bodyPr/>
                    <a:lstStyle/>
                    <a:p>
                      <a:pPr lvl="0" indent="0" marL="0" algn="l">
                        <a:buNone/>
                      </a:pPr>
                      <a:r>
                        <a:rPr/>
                        <a:t>a</a:t>
                      </a:r>
                    </a:p>
                  </a:txBody>
                </a:tc>
                <a:tc>
                  <a:txBody>
                    <a:bodyPr/>
                    <a:lstStyle/>
                    <a:p>
                      <a:endParaRPr/>
                    </a:p>
                  </a:txBody>
                </a:tc>
              </a:tr>
              <a:tr h="0">
                <a:tc>
                  <a:txBody>
                    <a:bodyPr/>
                    <a:lstStyle/>
                    <a:p>
                      <a:pPr lvl="0" indent="0" marL="0" algn="r">
                        <a:buNone/>
                      </a:pPr>
                      <a:r>
                        <a:rPr/>
                        <a:t>Jane Doe</a:t>
                      </a:r>
                    </a:p>
                  </a:txBody>
                </a:tc>
                <a:tc>
                  <a:txBody>
                    <a:bodyPr/>
                    <a:lstStyle/>
                    <a:p>
                      <a:pPr lvl="0" indent="0" marL="0" algn="l">
                        <a:buNone/>
                      </a:pPr>
                      <a:r>
                        <a:rPr/>
                        <a:t>a</a:t>
                      </a:r>
                    </a:p>
                  </a:txBody>
                </a:tc>
                <a:tc>
                  <a:txBody>
                    <a:bodyPr/>
                    <a:lstStyle/>
                    <a:p>
                      <a:pPr lvl="0" indent="0" marL="0" algn="r">
                        <a:buNone/>
                      </a:pPr>
                      <a:r>
                        <a:rPr/>
                        <a:t>16</a:t>
                      </a:r>
                    </a:p>
                  </a:txBody>
                </a:tc>
              </a:tr>
              <a:tr h="0">
                <a:tc>
                  <a:txBody>
                    <a:bodyPr/>
                    <a:lstStyle/>
                    <a:p>
                      <a:pPr lvl="0" indent="0" marL="0" algn="r">
                        <a:buNone/>
                      </a:pPr>
                      <a:r>
                        <a:rPr/>
                        <a:t>Mary Johnson</a:t>
                      </a:r>
                    </a:p>
                  </a:txBody>
                </a:tc>
                <a:tc>
                  <a:txBody>
                    <a:bodyPr/>
                    <a:lstStyle/>
                    <a:p>
                      <a:pPr lvl="0" indent="0" marL="0" algn="l">
                        <a:buNone/>
                      </a:pPr>
                      <a:r>
                        <a:rPr/>
                        <a:t>a</a:t>
                      </a:r>
                    </a:p>
                  </a:txBody>
                </a:tc>
                <a:tc>
                  <a:txBody>
                    <a:bodyPr/>
                    <a:lstStyle/>
                    <a:p>
                      <a:pPr lvl="0" indent="0" marL="0" algn="r">
                        <a:buNone/>
                      </a:pPr>
                      <a:r>
                        <a:rPr/>
                        <a:t>3</a:t>
                      </a:r>
                    </a:p>
                  </a:txBody>
                </a:tc>
              </a:tr>
              <a:tr h="0">
                <a:tc>
                  <a:txBody>
                    <a:bodyPr/>
                    <a:lstStyle/>
                    <a:p>
                      <a:pPr lvl="0" indent="0" marL="0" algn="r">
                        <a:buNone/>
                      </a:pPr>
                      <a:r>
                        <a:rPr/>
                        <a:t>John Smith</a:t>
                      </a:r>
                    </a:p>
                  </a:txBody>
                </a:tc>
                <a:tc>
                  <a:txBody>
                    <a:bodyPr/>
                    <a:lstStyle/>
                    <a:p>
                      <a:pPr lvl="0" indent="0" marL="0" algn="l">
                        <a:buNone/>
                      </a:pPr>
                      <a:r>
                        <a:rPr/>
                        <a:t>b</a:t>
                      </a:r>
                    </a:p>
                  </a:txBody>
                </a:tc>
                <a:tc>
                  <a:txBody>
                    <a:bodyPr/>
                    <a:lstStyle/>
                    <a:p>
                      <a:pPr lvl="0" indent="0" marL="0" algn="r">
                        <a:buNone/>
                      </a:pPr>
                      <a:r>
                        <a:rPr/>
                        <a:t>2</a:t>
                      </a:r>
                    </a:p>
                  </a:txBody>
                </a:tc>
              </a:tr>
              <a:tr h="0">
                <a:tc>
                  <a:txBody>
                    <a:bodyPr/>
                    <a:lstStyle/>
                    <a:p>
                      <a:pPr lvl="0" indent="0" marL="0" algn="r">
                        <a:buNone/>
                      </a:pPr>
                      <a:r>
                        <a:rPr/>
                        <a:t>Jane Doe</a:t>
                      </a:r>
                    </a:p>
                  </a:txBody>
                </a:tc>
                <a:tc>
                  <a:txBody>
                    <a:bodyPr/>
                    <a:lstStyle/>
                    <a:p>
                      <a:pPr lvl="0" indent="0" marL="0" algn="l">
                        <a:buNone/>
                      </a:pPr>
                      <a:r>
                        <a:rPr/>
                        <a:t>b</a:t>
                      </a:r>
                    </a:p>
                  </a:txBody>
                </a:tc>
                <a:tc>
                  <a:txBody>
                    <a:bodyPr/>
                    <a:lstStyle/>
                    <a:p>
                      <a:pPr lvl="0" indent="0" marL="0" algn="r">
                        <a:buNone/>
                      </a:pPr>
                      <a:r>
                        <a:rPr/>
                        <a:t>11</a:t>
                      </a:r>
                    </a:p>
                  </a:txBody>
                </a:tc>
              </a:tr>
              <a:tr h="0">
                <a:tc>
                  <a:txBody>
                    <a:bodyPr/>
                    <a:lstStyle/>
                    <a:p>
                      <a:pPr lvl="0" indent="0" marL="0" algn="r">
                        <a:buNone/>
                      </a:pPr>
                      <a:r>
                        <a:rPr/>
                        <a:t>Mary Johnson</a:t>
                      </a:r>
                    </a:p>
                  </a:txBody>
                </a:tc>
                <a:tc>
                  <a:txBody>
                    <a:bodyPr/>
                    <a:lstStyle/>
                    <a:p>
                      <a:pPr lvl="0" indent="0" marL="0" algn="l">
                        <a:buNone/>
                      </a:pPr>
                      <a:r>
                        <a:rPr/>
                        <a:t>b</a:t>
                      </a:r>
                    </a:p>
                  </a:txBody>
                </a:tc>
                <a:tc>
                  <a:txBody>
                    <a:bodyPr/>
                    <a:lstStyle/>
                    <a:p>
                      <a:pPr lvl="0" indent="0" marL="0" algn="r">
                        <a:buNone/>
                      </a:pPr>
                      <a:r>
                        <a:rPr/>
                        <a:t>1</a:t>
                      </a:r>
                    </a:p>
                  </a:txBody>
                </a:tc>
              </a:tr>
            </a:tbl>
          </a:graphicData>
        </a:graphic>
      </p:graphicFrame>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Cùng dữ liệu như trước nhưng biến nằm ở cột và quan sát nằm ở hàng.</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Cấu trúc dữ liệu - tóm tắt</a:t>
            </a:r>
          </a:p>
        </p:txBody>
      </p:sp>
      <p:sp>
        <p:nvSpPr>
          <p:cNvPr id="3" name="Content Placeholder 2"/>
          <p:cNvSpPr>
            <a:spLocks noGrp="1"/>
          </p:cNvSpPr>
          <p:nvPr>
            <p:ph idx="1"/>
          </p:nvPr>
        </p:nvSpPr>
        <p:spPr/>
        <p:txBody>
          <a:bodyPr/>
          <a:lstStyle/>
          <a:p>
            <a:pPr lvl="0"/>
            <a:r>
              <a:rPr/>
              <a:t>Đối với một tập dữ liệu cho trước, thường dễ dàng xác định đâu là </a:t>
            </a:r>
            <a:r>
              <a:rPr b="1"/>
              <a:t>quan sát</a:t>
            </a:r>
            <a:r>
              <a:rPr/>
              <a:t> và đâu là </a:t>
            </a:r>
            <a:r>
              <a:rPr b="1"/>
              <a:t>biến</a:t>
            </a:r>
            <a:r>
              <a:rPr/>
              <a:t>, nhưng việc định nghĩa chính xác biến và quan sát một cách tổng quát lại khá phức tạp.</a:t>
            </a:r>
          </a:p>
          <a:p>
            <a:pPr lvl="0"/>
            <a:r>
              <a:rPr/>
              <a:t>Một nguyên tắc chung là việc mô tả </a:t>
            </a:r>
            <a:r>
              <a:rPr b="1"/>
              <a:t>mối quan hệ chức năng</a:t>
            </a:r>
            <a:r>
              <a:rPr/>
              <a:t> giữa các biến sốdễ dàng hơnso với giữa các quan sát (dòng), và việc so </a:t>
            </a:r>
            <a:r>
              <a:rPr b="1"/>
              <a:t>sánh</a:t>
            </a:r>
            <a:r>
              <a:rPr/>
              <a:t> giữa các nhóm quan sátdễ dàng hơnso với giữa các nhóm cột.</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Tiêu chuẩn dữ liệu gọn gàng</a:t>
            </a:r>
          </a:p>
        </p:txBody>
      </p:sp>
      <p:sp>
        <p:nvSpPr>
          <p:cNvPr id="3" name="Content Placeholder 2"/>
          <p:cNvSpPr>
            <a:spLocks noGrp="1"/>
          </p:cNvSpPr>
          <p:nvPr>
            <p:ph idx="1"/>
          </p:nvPr>
        </p:nvSpPr>
        <p:spPr/>
        <p:txBody>
          <a:bodyPr/>
          <a:lstStyle/>
          <a:p>
            <a:pPr lvl="0"/>
            <a:r>
              <a:rPr/>
              <a:t>Cung cấp một cách tiêu chuẩn để tổ chức các giá trị dữ liệu trong một tập dữ liệu.</a:t>
            </a:r>
          </a:p>
          <a:p>
            <a:pPr lvl="0"/>
            <a:r>
              <a:rPr/>
              <a:t>Được thiết kế để hỗ trợ việc khám phá và phân tích ban đầu dữ liệu, cũng như đơn giản hóa việc phát triển các công cụ phân tích dữ liệu.</a:t>
            </a:r>
          </a:p>
          <a:p>
            <a:pPr lvl="0"/>
            <a:r>
              <a:rPr/>
              <a:t>Các nguyên tắc của dữ liệu gọn gàng có mối liên hệ chặt chẽ với các nguyên tắc của cơ sở dữ liệu quan hệ</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Định nghĩa về dữ liệu gọn gàng</a:t>
            </a:r>
          </a:p>
        </p:txBody>
      </p:sp>
      <p:sp>
        <p:nvSpPr>
          <p:cNvPr id="3" name="Content Placeholder 2"/>
          <p:cNvSpPr>
            <a:spLocks noGrp="1"/>
          </p:cNvSpPr>
          <p:nvPr>
            <p:ph idx="1"/>
          </p:nvPr>
        </p:nvSpPr>
        <p:spPr/>
        <p:txBody>
          <a:bodyPr/>
          <a:lstStyle/>
          <a:p>
            <a:pPr lvl="0"/>
            <a:r>
              <a:rPr/>
              <a:t>Dữ liệu gọn gàng là cách tiêu chuẩn để ánh xạ ý nghĩa của một tập dữ liệu với cấu trúc của nó.</a:t>
            </a:r>
          </a:p>
          <a:p>
            <a:pPr lvl="0"/>
            <a:r>
              <a:rPr/>
              <a:t>Một tập dữ liệu được coi là lộn xộn hoặc gọn gàng tùy thuộc vào cách các hàng, cột và bảng được khớp với các quan sát, biến và loại.</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Tiêu chí của dữ liệu gọn gàng</a:t>
            </a:r>
          </a:p>
        </p:txBody>
      </p:sp>
      <p:sp>
        <p:nvSpPr>
          <p:cNvPr id="3" name="Content Placeholder 2"/>
          <p:cNvSpPr>
            <a:spLocks noGrp="1"/>
          </p:cNvSpPr>
          <p:nvPr>
            <p:ph idx="1"/>
          </p:nvPr>
        </p:nvSpPr>
        <p:spPr/>
        <p:txBody>
          <a:bodyPr/>
          <a:lstStyle/>
          <a:p>
            <a:pPr lvl="0" indent="-457200" marL="457200">
              <a:buAutoNum type="arabicPeriod"/>
            </a:pPr>
            <a:r>
              <a:rPr/>
              <a:t>Mỗi biến tạo thành một cột.</a:t>
            </a:r>
          </a:p>
          <a:p>
            <a:pPr lvl="0" indent="-457200" marL="457200">
              <a:buAutoNum type="arabicPeriod"/>
            </a:pPr>
            <a:r>
              <a:rPr/>
              <a:t>Mỗi quan sát tạo thành một hàng.</a:t>
            </a:r>
          </a:p>
          <a:p>
            <a:pPr lvl="0" indent="-457200" marL="457200">
              <a:buAutoNum type="arabicPeriod"/>
            </a:pPr>
            <a:r>
              <a:rPr/>
              <a:t>Mỗi loại đơn vị quan sát tạo thành một bảng.</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Năm vấn đề phổ biến nhất với bộ dữ liệu lộn xộn</a:t>
            </a:r>
          </a:p>
        </p:txBody>
      </p:sp>
      <p:sp>
        <p:nvSpPr>
          <p:cNvPr id="3" name="Content Placeholder 2"/>
          <p:cNvSpPr>
            <a:spLocks noGrp="1"/>
          </p:cNvSpPr>
          <p:nvPr>
            <p:ph idx="1"/>
          </p:nvPr>
        </p:nvSpPr>
        <p:spPr/>
        <p:txBody>
          <a:bodyPr/>
          <a:lstStyle/>
          <a:p>
            <a:pPr lvl="0"/>
            <a:r>
              <a:rPr/>
              <a:t>Tiêu đề cột là giá trị chứ không phải tên biến</a:t>
            </a:r>
          </a:p>
          <a:p>
            <a:pPr lvl="0"/>
            <a:r>
              <a:rPr/>
              <a:t>Nhiều biến được lưu trữ trong một cột.</a:t>
            </a:r>
          </a:p>
          <a:p>
            <a:pPr lvl="0"/>
            <a:r>
              <a:rPr/>
              <a:t>Các biến được lưu trữ cả trong hàng và cột</a:t>
            </a:r>
          </a:p>
          <a:p>
            <a:pPr lvl="0"/>
            <a:r>
              <a:rPr/>
              <a:t>Nhiều loại đơn vị quan sát được lưu trữ trong cùng một bảng.</a:t>
            </a:r>
          </a:p>
          <a:p>
            <a:pPr lvl="0"/>
            <a:r>
              <a:rPr/>
              <a:t>Một đơn vị quan sát được lưu trữ trong nhiều bảng.</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Dữ liệu gọn gàng (Tidy data) tương thích cao với các cơ sở dữ liệu quan hệ và công cụ thu thập dữ liệu tuân thủ tiêu chuẩn cơ sở dữ liệu quan hệ</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Dữ liệu lộn xộn thường là kết quả của việc sử dụng các công cụ dữ liệu không có tiêu chuẩn hoặc quy tắc cụ thể về cấu trúc dữ liệu, ví dụ như Microsoft Excel.</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Quy trình làm việc với dữ liệu dựa trên dự án</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Tư duy</a:t>
            </a:r>
          </a:p>
        </p:txBody>
      </p:sp>
      <p:sp>
        <p:nvSpPr>
          <p:cNvPr id="3" name="Content Placeholder 2"/>
          <p:cNvSpPr>
            <a:spLocks noGrp="1"/>
          </p:cNvSpPr>
          <p:nvPr>
            <p:ph idx="1"/>
          </p:nvPr>
        </p:nvSpPr>
        <p:spPr/>
        <p:txBody>
          <a:bodyPr/>
          <a:lstStyle/>
          <a:p>
            <a:pPr lvl="0" indent="0" marL="0">
              <a:buNone/>
            </a:pPr>
            <a:r>
              <a:rPr/>
              <a:t>Khi kỹ năng phân tích dữ liệu của chúng ta phát triển, các hệ thống và hạ tầng xung quanh trở nên quan trọng để đảm bảo tính tái tạo và bảo tồn lâu dài cho công việc của chúng ta. Tuy nhiên, chúng ta thường thiếu đào tạo chính thức hoặc hướng dẫn trong việc quản lý các hệ thống này, dẫn đến việc chúng ta hoặc là bị lạc trong công nghệ này, hoặc là bắt đầu tự mình khám phá các khả năng này.</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Tư duy</a:t>
            </a:r>
          </a:p>
        </p:txBody>
      </p:sp>
      <p:sp>
        <p:nvSpPr>
          <p:cNvPr id="3" name="Content Placeholder 2"/>
          <p:cNvSpPr>
            <a:spLocks noGrp="1"/>
          </p:cNvSpPr>
          <p:nvPr>
            <p:ph idx="1"/>
          </p:nvPr>
        </p:nvSpPr>
        <p:spPr/>
        <p:txBody>
          <a:bodyPr/>
          <a:lstStyle/>
          <a:p>
            <a:pPr lvl="0"/>
            <a:r>
              <a:rPr/>
              <a:t>Với khóa học ngắn này nói chung và tuần thứ hai này nói riêng, chúng tôi hy vọng sẽ giúp bạn thích nghi một cách tự nhiên với khoảng trống này.</a:t>
            </a:r>
          </a:p>
          <a:p>
            <a:pPr lvl="0"/>
            <a:r>
              <a:rPr/>
              <a:t>Đừng lo lắng về những sai lầm trong quá khứ, mà hãy nâng cao tiêu chuẩn cho công việc mới. Những thay đổi nhỏ nhưng có ý nghĩa theo thời gian sẽ tích lũy, cải thiện </a:t>
            </a:r>
            <a:r>
              <a:rPr b="1"/>
              <a:t>chất lượng dữ liệu</a:t>
            </a:r>
            <a:r>
              <a:rPr/>
              <a:t> của bạn.</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Gia súc chứ không phải thú cưng</a:t>
            </a:r>
          </a:p>
        </p:txBody>
      </p:sp>
      <p:sp>
        <p:nvSpPr>
          <p:cNvPr id="3" name="Content Placeholder 2"/>
          <p:cNvSpPr>
            <a:spLocks noGrp="1"/>
          </p:cNvSpPr>
          <p:nvPr>
            <p:ph idx="1"/>
          </p:nvPr>
        </p:nvSpPr>
        <p:spPr/>
        <p:txBody>
          <a:bodyPr/>
          <a:lstStyle/>
          <a:p>
            <a:pPr lvl="0" indent="0" marL="0">
              <a:buNone/>
            </a:pPr>
            <a:r>
              <a:rPr/>
              <a:t>Hãy xem các quy trình dữ liệu của bạn như gia súc chứ không phải thú cưng.</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Quy trình làm việc hướng dự án</a:t>
            </a:r>
          </a:p>
        </p:txBody>
      </p:sp>
      <p:sp>
        <p:nvSpPr>
          <p:cNvPr id="3" name="Content Placeholder 2"/>
          <p:cNvSpPr>
            <a:spLocks noGrp="1"/>
          </p:cNvSpPr>
          <p:nvPr>
            <p:ph idx="1"/>
          </p:nvPr>
        </p:nvSpPr>
        <p:spPr/>
        <p:txBody>
          <a:bodyPr/>
          <a:lstStyle/>
          <a:p>
            <a:pPr lvl="0" indent="0" marL="0">
              <a:buNone/>
            </a:pPr>
            <a:r>
              <a:rPr/>
              <a:t>Tổ chức công việc thành các dự án.</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Kỷ luật hệ thống tệp</a:t>
            </a:r>
          </a:p>
        </p:txBody>
      </p:sp>
      <p:sp>
        <p:nvSpPr>
          <p:cNvPr id="3" name="Content Placeholder 2"/>
          <p:cNvSpPr>
            <a:spLocks noGrp="1"/>
          </p:cNvSpPr>
          <p:nvPr>
            <p:ph idx="1"/>
          </p:nvPr>
        </p:nvSpPr>
        <p:spPr/>
        <p:txBody>
          <a:bodyPr/>
          <a:lstStyle/>
          <a:p>
            <a:pPr lvl="0"/>
            <a:r>
              <a:rPr/>
              <a:t>Đặt tất cả các tệp liên quan đến một dự án duy nhất vào một thư mục được chỉ định.</a:t>
            </a:r>
          </a:p>
          <a:p>
            <a:pPr lvl="0"/>
            <a:r>
              <a:rPr/>
              <a:t>Điều này áp dụng cho dữ liệu, mã, hình ảnh, ghi chú, v.v.</a:t>
            </a:r>
          </a:p>
          <a:p>
            <a:pPr lvl="0"/>
            <a:r>
              <a:rPr/>
              <a:t>Tùy thuộc vào độ phức tạp của dự án, bạn có thể áp dụng tổ chức thêm vào các thư mục con.</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trong đặt tên tệp</a:t>
            </a:r>
          </a:p>
        </p:txBody>
      </p:sp>
      <p:sp>
        <p:nvSpPr>
          <p:cNvPr id="3" name="Content Placeholder 2"/>
          <p:cNvSpPr>
            <a:spLocks noGrp="1"/>
          </p:cNvSpPr>
          <p:nvPr>
            <p:ph idx="1"/>
          </p:nvPr>
        </p:nvSpPr>
        <p:spPr/>
        <p:txBody>
          <a:bodyPr/>
          <a:lstStyle/>
          <a:p>
            <a:pPr lvl="0" indent="0" marL="0">
              <a:buNone/>
            </a:pPr>
            <a:r>
              <a:rPr/>
              <a:t>Tổ chức và đặt tên tệp là công cụ mạnh mẽ để chống lại sự lộn xộn.</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Ba nguyên tắc cho tên tệp</a:t>
            </a:r>
          </a:p>
        </p:txBody>
      </p:sp>
      <p:pic>
        <p:nvPicPr>
          <p:cNvPr descr="../images/file_organisation.png" id="0" name="Picture 1"/>
          <p:cNvPicPr>
            <a:picLocks noGrp="1" noChangeAspect="1"/>
          </p:cNvPicPr>
          <p:nvPr/>
        </p:nvPicPr>
        <p:blipFill>
          <a:blip r:embed="rId2"/>
          <a:stretch>
            <a:fillRect/>
          </a:stretch>
        </p:blipFill>
        <p:spPr bwMode="auto">
          <a:xfrm>
            <a:off x="838200" y="2260600"/>
            <a:ext cx="5181600" cy="3467100"/>
          </a:xfrm>
          <a:prstGeom prst="rect">
            <a:avLst/>
          </a:prstGeom>
          <a:noFill/>
          <a:ln w="9525">
            <a:noFill/>
            <a:headEnd/>
            <a:tailEnd/>
          </a:ln>
        </p:spPr>
      </p:pic>
      <p:sp>
        <p:nvSpPr>
          <p:cNvPr id="4" name="Content Placeholder 3"/>
          <p:cNvSpPr>
            <a:spLocks noGrp="1"/>
          </p:cNvSpPr>
          <p:nvPr>
            <p:ph idx="2" sz="half"/>
          </p:nvPr>
        </p:nvSpPr>
        <p:spPr/>
        <p:txBody>
          <a:bodyPr/>
          <a:lstStyle/>
          <a:p>
            <a:pPr lvl="0"/>
            <a:r>
              <a:rPr/>
              <a:t>có thể đọc được bằng máy</a:t>
            </a:r>
          </a:p>
          <a:p>
            <a:pPr lvl="0"/>
            <a:r>
              <a:rPr/>
              <a:t>dễ đọc cho con người</a:t>
            </a:r>
          </a:p>
          <a:p>
            <a:pPr lvl="0"/>
            <a:r>
              <a:rPr/>
              <a:t>Hoạt động hiệu quả với thứ tự mặc định</a:t>
            </a:r>
          </a:p>
        </p:txBody>
      </p:sp>
      <p:sp>
        <p:nvSpPr>
          <p:cNvPr id="6" name="Footer Placeholder 5"/>
          <p:cNvSpPr>
            <a:spLocks noGrp="1"/>
          </p:cNvSpPr>
          <p:nvPr>
            <p:ph idx="11" sz="quarter" type="ftr"/>
          </p:nvPr>
        </p:nvSpPr>
        <p:spPr/>
        <p:txBody>
          <a:bodyPr/>
          <a:lstStyle/>
          <a:p>
            <a:r>
              <a:rPr lang="en-GB"/>
              <a:t>Tâm Anh Oxford Partnership</a:t>
            </a:r>
          </a:p>
        </p:txBody>
      </p:sp>
      <p:sp>
        <p:nvSpPr>
          <p:cNvPr id="7" name="Slide Number Placeholder 6"/>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Dễ đọc cho máy tính</a:t>
            </a:r>
          </a:p>
        </p:txBody>
      </p:sp>
      <p:sp>
        <p:nvSpPr>
          <p:cNvPr id="3" name="Content Placeholder 2"/>
          <p:cNvSpPr>
            <a:spLocks noGrp="1"/>
          </p:cNvSpPr>
          <p:nvPr>
            <p:ph idx="1"/>
          </p:nvPr>
        </p:nvSpPr>
        <p:spPr/>
        <p:txBody>
          <a:bodyPr/>
          <a:lstStyle/>
          <a:p>
            <a:pPr lvl="0"/>
            <a:r>
              <a:rPr/>
              <a:t>Tránh sử dụng khoảng trắng, dấu câu, ký tự có dấu, và phân biệt chữ hoa chữ thường.</a:t>
            </a:r>
          </a:p>
          <a:p>
            <a:pPr lvl="0"/>
            <a:r>
              <a:rPr/>
              <a:t>Sử dụng có chủ đích các ký tự phân cách/ký tự giữ chỗ - </a:t>
            </a:r>
            <a:r>
              <a:rPr>
                <a:latin typeface="Courier"/>
              </a:rPr>
              <a:t>"_"</a:t>
            </a:r>
            <a:r>
              <a:rPr/>
              <a:t> hoặc </a:t>
            </a:r>
            <a:r>
              <a:rPr>
                <a:latin typeface="Courier"/>
              </a:rPr>
              <a:t>"-"</a:t>
            </a:r>
          </a:p>
          <a:p>
            <a:pPr lvl="1"/>
            <a:r>
              <a:rPr/>
              <a:t>Quy tắc chung là sử dụng </a:t>
            </a:r>
            <a:r>
              <a:rPr>
                <a:latin typeface="Courier"/>
              </a:rPr>
              <a:t>"_"</a:t>
            </a:r>
            <a:r>
              <a:rPr/>
              <a:t> để phân tách các đơn vị metadata, trong khi </a:t>
            </a:r>
            <a:r>
              <a:rPr>
                <a:latin typeface="Courier"/>
              </a:rPr>
              <a:t>"-"</a:t>
            </a:r>
            <a:r>
              <a:rPr/>
              <a:t> để phân tách các từ, giúp dễ đọc hơn.</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Dễ đọc cho máy tính</a:t>
            </a:r>
          </a:p>
        </p:txBody>
      </p:sp>
      <p:sp>
        <p:nvSpPr>
          <p:cNvPr id="3" name="Content Placeholder 2"/>
          <p:cNvSpPr>
            <a:spLocks noGrp="1"/>
          </p:cNvSpPr>
          <p:nvPr>
            <p:ph idx="1"/>
          </p:nvPr>
        </p:nvSpPr>
        <p:spPr/>
        <p:txBody>
          <a:bodyPr/>
          <a:lstStyle/>
          <a:p>
            <a:pPr lvl="0"/>
            <a:r>
              <a:rPr/>
              <a:t>Dễ dàng tìm kiếm tệp sau này</a:t>
            </a:r>
          </a:p>
          <a:p>
            <a:pPr lvl="0"/>
            <a:r>
              <a:rPr/>
              <a:t>Dễ dàng lọc danh sách tệp dựa trên tên</a:t>
            </a:r>
          </a:p>
          <a:p>
            <a:pPr lvl="0"/>
            <a:r>
              <a:rPr/>
              <a:t>Dễ dàng trích xuất thông tin từ tên tệp</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Dễ đọc cho con người</a:t>
            </a:r>
          </a:p>
        </p:txBody>
      </p:sp>
      <p:sp>
        <p:nvSpPr>
          <p:cNvPr id="3" name="Content Placeholder 2"/>
          <p:cNvSpPr>
            <a:spLocks noGrp="1"/>
          </p:cNvSpPr>
          <p:nvPr>
            <p:ph idx="1"/>
          </p:nvPr>
        </p:nvSpPr>
        <p:spPr/>
        <p:txBody>
          <a:bodyPr/>
          <a:lstStyle/>
          <a:p>
            <a:pPr lvl="0"/>
            <a:r>
              <a:rPr/>
              <a:t>Tên tệp chứa thông tin về nội dung.</a:t>
            </a:r>
          </a:p>
          <a:p>
            <a:pPr lvl="0"/>
            <a:r>
              <a:rPr/>
              <a:t>Sử dụng khái niệm “</a:t>
            </a:r>
            <a:r>
              <a:rPr b="1"/>
              <a:t>slug</a:t>
            </a:r>
            <a:r>
              <a:rPr/>
              <a:t>” được sử dụng trong URL.</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có thể đọc được bởi con người</a:t>
            </a:r>
          </a:p>
        </p:txBody>
      </p:sp>
      <p:sp>
        <p:nvSpPr>
          <p:cNvPr id="3" name="Content Placeholder 2"/>
          <p:cNvSpPr>
            <a:spLocks noGrp="1"/>
          </p:cNvSpPr>
          <p:nvPr>
            <p:ph idx="1"/>
          </p:nvPr>
        </p:nvSpPr>
        <p:spPr/>
        <p:txBody>
          <a:bodyPr/>
          <a:lstStyle/>
          <a:p>
            <a:pPr lvl="0" indent="0" marL="0">
              <a:buNone/>
            </a:pPr>
            <a:r>
              <a:rPr/>
              <a:t>Dễ dàng xác định nội dung dựa trên tên của nó</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Hoạt động tốt với thứ tự mặc định</a:t>
            </a:r>
          </a:p>
        </p:txBody>
      </p:sp>
      <p:sp>
        <p:nvSpPr>
          <p:cNvPr id="3" name="Content Placeholder 2"/>
          <p:cNvSpPr>
            <a:spLocks noGrp="1"/>
          </p:cNvSpPr>
          <p:nvPr>
            <p:ph idx="1"/>
          </p:nvPr>
        </p:nvSpPr>
        <p:spPr/>
        <p:txBody>
          <a:bodyPr/>
          <a:lstStyle/>
          <a:p>
            <a:pPr lvl="0"/>
            <a:r>
              <a:rPr/>
              <a:t>Đặt số trước tiên</a:t>
            </a:r>
          </a:p>
          <a:p>
            <a:pPr lvl="0"/>
            <a:r>
              <a:rPr/>
              <a:t>Sử dụng tiêu chuẩn ISO 8601 cho ngày tháng</a:t>
            </a:r>
          </a:p>
          <a:p>
            <a:pPr lvl="0"/>
            <a:r>
              <a:rPr/>
              <a:t>Thêm số 0 ở đầu cho các số</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Ba nguyên tắc cho tên tệp</a:t>
            </a:r>
          </a:p>
        </p:txBody>
      </p:sp>
      <p:sp>
        <p:nvSpPr>
          <p:cNvPr id="3" name="Content Placeholder 2"/>
          <p:cNvSpPr>
            <a:spLocks noGrp="1"/>
          </p:cNvSpPr>
          <p:nvPr>
            <p:ph idx="1"/>
          </p:nvPr>
        </p:nvSpPr>
        <p:spPr/>
        <p:txBody>
          <a:bodyPr/>
          <a:lstStyle/>
          <a:p>
            <a:pPr lvl="0"/>
            <a:r>
              <a:rPr/>
              <a:t>Dễ dàng triển khai ngay bây giờ</a:t>
            </a:r>
          </a:p>
          <a:p>
            <a:pPr lvl="0"/>
            <a:r>
              <a:rPr/>
              <a:t>Lợi ích sẽ tích lũy khi kỹ năng của bạn phát triển và các dự án trở nên phức tạp hơn</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Quản lý Dữ liệu Nghiên cứu</dc:title>
  <dc:creator>Ernest Guevarra; Dr Minh Cong Tran</dc:creator>
  <cp:keywords/>
  <dcterms:created xsi:type="dcterms:W3CDTF">2026-01-13T21:57:26Z</dcterms:created>
  <dcterms:modified xsi:type="dcterms:W3CDTF">2026-01-13T21:57:26Z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vi">
    <vt:lpwstr/>
  </property>
  <property fmtid="{D5CDD505-2E9C-101B-9397-08002B2CF9AE}" pid="4" name="authors">
    <vt:lpwstr/>
  </property>
  <property fmtid="{D5CDD505-2E9C-101B-9397-08002B2CF9AE}" pid="5" name="babelquarto">
    <vt:lpwstr/>
  </property>
  <property fmtid="{D5CDD505-2E9C-101B-9397-08002B2CF9AE}" pid="6" name="biblio-config">
    <vt:lpwstr>True</vt:lpwstr>
  </property>
  <property fmtid="{D5CDD505-2E9C-101B-9397-08002B2CF9AE}" pid="7" name="by-affiliation">
    <vt:lpwstr/>
  </property>
  <property fmtid="{D5CDD505-2E9C-101B-9397-08002B2CF9AE}" pid="8" name="by-author">
    <vt:lpwstr/>
  </property>
  <property fmtid="{D5CDD505-2E9C-101B-9397-08002B2CF9AE}" pid="9" name="description-vi">
    <vt:lpwstr/>
  </property>
  <property fmtid="{D5CDD505-2E9C-101B-9397-08002B2CF9AE}" pid="10" name="header-includes">
    <vt:lpwstr/>
  </property>
  <property fmtid="{D5CDD505-2E9C-101B-9397-08002B2CF9AE}" pid="11" name="include-after">
    <vt:lpwstr/>
  </property>
  <property fmtid="{D5CDD505-2E9C-101B-9397-08002B2CF9AE}" pid="12" name="include-before">
    <vt:lpwstr/>
  </property>
  <property fmtid="{D5CDD505-2E9C-101B-9397-08002B2CF9AE}" pid="13" name="labels">
    <vt:lpwstr/>
  </property>
  <property fmtid="{D5CDD505-2E9C-101B-9397-08002B2CF9AE}" pid="14" name="lang-vi">
    <vt:lpwstr>yes</vt:lpwstr>
  </property>
  <property fmtid="{D5CDD505-2E9C-101B-9397-08002B2CF9AE}" pid="15" name="subtitle">
    <vt:lpwstr>Nguyên tắc hướng dẫn và các thực hành tốt nhất</vt:lpwstr>
  </property>
  <property fmtid="{D5CDD505-2E9C-101B-9397-08002B2CF9AE}" pid="16" name="title-slide-attributes">
    <vt:lpwstr/>
  </property>
  <property fmtid="{D5CDD505-2E9C-101B-9397-08002B2CF9AE}" pid="17" name="title-vi">
    <vt:lpwstr>Các khóa đào tạo phát triển năng lực dữ liệu của TOP</vt:lpwstr>
  </property>
  <property fmtid="{D5CDD505-2E9C-101B-9397-08002B2CF9AE}" pid="18" name="toc-title">
    <vt:lpwstr>Table of contents</vt:lpwstr>
  </property>
</Properties>
</file>