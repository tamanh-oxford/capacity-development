
<file path=[Content_Types].xml><?xml version="1.0" encoding="utf-8"?>
<Types xmlns="http://schemas.openxmlformats.org/package/2006/content-types">
  <Default Extension="xml" ContentType="application/xml"/>
  <Default Extension="rels" ContentType="application/vnd.openxmlformats-package.relationships+xml"/>
  <Default Extension="jpg" ContentType="image/jpeg"/>
  <Default Extension="png" ContentType="image/png"/>
  <Default Extension="jpeg" ContentType="image/jpeg"/>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notesMasters/notesMaster1.xml" ContentType="application/vnd.openxmlformats-officedocument.presentationml.notesMaster+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saveSubsetFonts="1" showSpecialPlsOnTitleSld="0">
  <p:sldMasterIdLst>
    <p:sldMasterId id="2147483660" r:id="rId1"/>
  </p:sldMasterIdLst>
  <p:notesMasterIdLst>
    <p:notesMasterId r:id="rId3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Lst>
  <p:sldSz cx="12192000" cy="6858000"/>
  <p:notesSz cx="6858000" cy="9144000"/>
  <p:defaultTextStyle>
    <a:defPPr>
      <a:defRPr lang="en-GB"/>
    </a:defPPr>
    <a:lvl1pPr algn="l" defTabSz="914400" eaLnBrk="1" hangingPunct="1" latinLnBrk="0" marL="0" rtl="0">
      <a:defRPr kern="1200" sz="1800">
        <a:solidFill>
          <a:schemeClr val="tx1"/>
        </a:solidFill>
        <a:latin typeface="+mn-lt"/>
        <a:ea typeface="+mn-ea"/>
        <a:cs typeface="+mn-cs"/>
      </a:defRPr>
    </a:lvl1pPr>
    <a:lvl2pPr algn="l" defTabSz="914400" eaLnBrk="1" hangingPunct="1" latinLnBrk="0" marL="457200" rtl="0">
      <a:defRPr kern="1200" sz="1800">
        <a:solidFill>
          <a:schemeClr val="tx1"/>
        </a:solidFill>
        <a:latin typeface="+mn-lt"/>
        <a:ea typeface="+mn-ea"/>
        <a:cs typeface="+mn-cs"/>
      </a:defRPr>
    </a:lvl2pPr>
    <a:lvl3pPr algn="l" defTabSz="914400" eaLnBrk="1" hangingPunct="1" latinLnBrk="0" marL="914400" rtl="0">
      <a:defRPr kern="1200" sz="1800">
        <a:solidFill>
          <a:schemeClr val="tx1"/>
        </a:solidFill>
        <a:latin typeface="+mn-lt"/>
        <a:ea typeface="+mn-ea"/>
        <a:cs typeface="+mn-cs"/>
      </a:defRPr>
    </a:lvl3pPr>
    <a:lvl4pPr algn="l" defTabSz="914400" eaLnBrk="1" hangingPunct="1" latinLnBrk="0" marL="1371600" rtl="0">
      <a:defRPr kern="1200" sz="1800">
        <a:solidFill>
          <a:schemeClr val="tx1"/>
        </a:solidFill>
        <a:latin typeface="+mn-lt"/>
        <a:ea typeface="+mn-ea"/>
        <a:cs typeface="+mn-cs"/>
      </a:defRPr>
    </a:lvl4pPr>
    <a:lvl5pPr algn="l" defTabSz="914400" eaLnBrk="1" hangingPunct="1" latinLnBrk="0" marL="1828800" rtl="0">
      <a:defRPr kern="1200" sz="1800">
        <a:solidFill>
          <a:schemeClr val="tx1"/>
        </a:solidFill>
        <a:latin typeface="+mn-lt"/>
        <a:ea typeface="+mn-ea"/>
        <a:cs typeface="+mn-cs"/>
      </a:defRPr>
    </a:lvl5pPr>
    <a:lvl6pPr algn="l" defTabSz="914400" eaLnBrk="1" hangingPunct="1" latinLnBrk="0" marL="2286000" rtl="0">
      <a:defRPr kern="1200" sz="1800">
        <a:solidFill>
          <a:schemeClr val="tx1"/>
        </a:solidFill>
        <a:latin typeface="+mn-lt"/>
        <a:ea typeface="+mn-ea"/>
        <a:cs typeface="+mn-cs"/>
      </a:defRPr>
    </a:lvl6pPr>
    <a:lvl7pPr algn="l" defTabSz="914400" eaLnBrk="1" hangingPunct="1" latinLnBrk="0" marL="2743200" rtl="0">
      <a:defRPr kern="1200" sz="1800">
        <a:solidFill>
          <a:schemeClr val="tx1"/>
        </a:solidFill>
        <a:latin typeface="+mn-lt"/>
        <a:ea typeface="+mn-ea"/>
        <a:cs typeface="+mn-cs"/>
      </a:defRPr>
    </a:lvl7pPr>
    <a:lvl8pPr algn="l" defTabSz="914400" eaLnBrk="1" hangingPunct="1" latinLnBrk="0" marL="3200400" rtl="0">
      <a:defRPr kern="1200" sz="1800">
        <a:solidFill>
          <a:schemeClr val="tx1"/>
        </a:solidFill>
        <a:latin typeface="+mn-lt"/>
        <a:ea typeface="+mn-ea"/>
        <a:cs typeface="+mn-cs"/>
      </a:defRPr>
    </a:lvl8pPr>
    <a:lvl9pPr algn="l" defTabSz="9144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214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horzBarState="maximized">
    <p:restoredLeft autoAdjust="0" sz="19972"/>
    <p:restoredTop sz="94660"/>
  </p:normalViewPr>
  <p:slideViewPr>
    <p:cSldViewPr snapToGrid="0">
      <p:cViewPr varScale="1">
        <p:scale>
          <a:sx d="100" n="86"/>
          <a:sy d="100" n="86"/>
        </p:scale>
        <p:origin x="96" y="888"/>
      </p:cViewPr>
      <p:guideLst/>
    </p:cSldViewPr>
  </p:slideViewPr>
  <p:notesTextViewPr>
    <p:cViewPr>
      <p:scale>
        <a:sx d="1" n="1"/>
        <a:sy d="1" n="1"/>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slide" Target="slides/slide21.xml" /><Relationship Id="rId23" Type="http://schemas.openxmlformats.org/officeDocument/2006/relationships/slide" Target="slides/slide22.xml" /><Relationship Id="rId24" Type="http://schemas.openxmlformats.org/officeDocument/2006/relationships/slide" Target="slides/slide23.xml" /><Relationship Id="rId25" Type="http://schemas.openxmlformats.org/officeDocument/2006/relationships/slide" Target="slides/slide24.xml" /><Relationship Id="rId26" Type="http://schemas.openxmlformats.org/officeDocument/2006/relationships/slide" Target="slides/slide25.xml" /><Relationship Id="rId27" Type="http://schemas.openxmlformats.org/officeDocument/2006/relationships/slide" Target="slides/slide26.xml" /><Relationship Id="rId28" Type="http://schemas.openxmlformats.org/officeDocument/2006/relationships/slide" Target="slides/slide27.xml" /><Relationship Id="rId29" Type="http://schemas.openxmlformats.org/officeDocument/2006/relationships/slide" Target="slides/slide28.xml" /><Relationship Id="rId30" Type="http://schemas.openxmlformats.org/officeDocument/2006/relationships/slide" Target="slides/slide29.xml" /><Relationship Id="rId31" Type="http://schemas.openxmlformats.org/officeDocument/2006/relationships/slide" Target="slides/slide30.xml" /><Relationship Id="rId32" Type="http://schemas.openxmlformats.org/officeDocument/2006/relationships/slide" Target="slides/slide31.xml" /><Relationship Id="rId33" Type="http://schemas.openxmlformats.org/officeDocument/2006/relationships/slide" Target="slides/slide32.xml" /><Relationship Id="rId34" Type="http://schemas.openxmlformats.org/officeDocument/2006/relationships/slide" Target="slides/slide33.xml" /><Relationship Id="rId35" Type="http://schemas.openxmlformats.org/officeDocument/2006/relationships/slide" Target="slides/slide34.xml" /><Relationship Id="rId36" Type="http://schemas.openxmlformats.org/officeDocument/2006/relationships/notesMaster" Target="notesMasters/notesMaster1.xml" /><Relationship Id="rId39" Type="http://schemas.openxmlformats.org/officeDocument/2006/relationships/theme" Target="theme/theme1.xml" /><Relationship Id="rId38" Type="http://schemas.openxmlformats.org/officeDocument/2006/relationships/viewProps" Target="viewProps.xml" /><Relationship Id="rId1" Type="http://schemas.openxmlformats.org/officeDocument/2006/relationships/slideMaster" Target="slideMasters/slideMaster1.xml" /><Relationship Id="rId37" Type="http://schemas.openxmlformats.org/officeDocument/2006/relationships/presProps" Target="presProps.xml" /><Relationship Id="rId41" Type="http://schemas.microsoft.com/office/2015/10/relationships/revisionInfo" Target="revisionInfo.xml" /><Relationship Id="rId40" Type="http://schemas.openxmlformats.org/officeDocument/2006/relationships/tableStyles" Target="tableStyles.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9C1CCF-B725-44A7-AA57-5E433BD85C9F}" type="datetimeFigureOut">
              <a:rPr lang="en-US" smtClean="0"/>
              <a:t>1/2/22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BDFEC3-8487-43E8-A154-7C12CBC1FFF2}" type="slidenum">
              <a:rPr lang="en-US" smtClean="0"/>
              <a:t>‹#›</a:t>
            </a:fld>
            <a:endParaRPr lang="en-US"/>
          </a:p>
        </p:txBody>
      </p:sp>
    </p:spTree>
    <p:extLst>
      <p:ext uri="{BB962C8B-B14F-4D97-AF65-F5344CB8AC3E}">
        <p14:creationId xmlns:p14="http://schemas.microsoft.com/office/powerpoint/2010/main" val="3782709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2.xml.rels><?xml version="1.0" encoding="UTF-8"?><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3.xml.rels><?xml version="1.0" encoding="UTF-8"?><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4.xml.rels><?xml version="1.0" encoding="UTF-8"?><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5.xml.rels><?xml version="1.0" encoding="UTF-8"?><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6.xml.rels><?xml version="1.0" encoding="UTF-8"?><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_rels/notesSlide7.xml.rels><?xml version="1.0" encoding="UTF-8"?><Relationships xmlns="http://schemas.openxmlformats.org/package/2006/relationships"><Relationship Id="rId2" Type="http://schemas.openxmlformats.org/officeDocument/2006/relationships/slide" Target="../slides/slide14.xml" /><Relationship Id="rId1" Type="http://schemas.openxmlformats.org/officeDocument/2006/relationships/notesMaster" Target="../notesMasters/notesMaster1.xml" /></Relationships>
</file>

<file path=ppt/notesSlides/_rels/notesSlide8.xml.rels><?xml version="1.0" encoding="UTF-8"?><Relationships xmlns="http://schemas.openxmlformats.org/package/2006/relationships"><Relationship Id="rId2" Type="http://schemas.openxmlformats.org/officeDocument/2006/relationships/slide" Target="../slides/slide15.xml" /><Relationship Id="rId1" Type="http://schemas.openxmlformats.org/officeDocument/2006/relationships/notesMaster" Target="../notesMasters/notesMaster1.xml" /></Relationships>
</file>

<file path=ppt/notesSlides/_rels/notesSlide9.xml.rels><?xml version="1.0" encoding="UTF-8"?><Relationships xmlns="http://schemas.openxmlformats.org/package/2006/relationships"><Relationship Id="rId2" Type="http://schemas.openxmlformats.org/officeDocument/2006/relationships/slide" Target="../slides/slide16.xml" /><Relationship Id="rId1" Type="http://schemas.openxmlformats.org/officeDocument/2006/relationships/notesMaster" Target="../notesMasters/notesMaster1.xml" /></Relationships>
</file>

<file path=ppt/notesSlides/_rels/notesSlide10.xml.rels><?xml version="1.0" encoding="UTF-8"?><Relationships xmlns="http://schemas.openxmlformats.org/package/2006/relationships"><Relationship Id="rId2" Type="http://schemas.openxmlformats.org/officeDocument/2006/relationships/slide" Target="../slides/slide17.xml" /><Relationship Id="rId1" Type="http://schemas.openxmlformats.org/officeDocument/2006/relationships/notesMaster" Target="../notesMasters/notesMaster1.xml" /></Relationships>
</file>

<file path=ppt/notesSlides/_rels/notesSlide11.xml.rels><?xml version="1.0" encoding="UTF-8"?><Relationships xmlns="http://schemas.openxmlformats.org/package/2006/relationships"><Relationship Id="rId2" Type="http://schemas.openxmlformats.org/officeDocument/2006/relationships/slide" Target="../slides/slide18.xml" /><Relationship Id="rId1" Type="http://schemas.openxmlformats.org/officeDocument/2006/relationships/notesMaster" Target="../notesMasters/notesMaster1.xml" /></Relationships>
</file>

<file path=ppt/notesSlides/_rels/notesSlide12.xml.rels><?xml version="1.0" encoding="UTF-8"?><Relationships xmlns="http://schemas.openxmlformats.org/package/2006/relationships"><Relationship Id="rId2" Type="http://schemas.openxmlformats.org/officeDocument/2006/relationships/slide" Target="../slides/slide19.xml" /><Relationship Id="rId1" Type="http://schemas.openxmlformats.org/officeDocument/2006/relationships/notesMaster" Target="../notesMasters/notesMaster1.xml" /></Relationships>
</file>

<file path=ppt/notesSlides/_rels/notesSlide13.xml.rels><?xml version="1.0" encoding="UTF-8"?><Relationships xmlns="http://schemas.openxmlformats.org/package/2006/relationships"><Relationship Id="rId2" Type="http://schemas.openxmlformats.org/officeDocument/2006/relationships/slide" Target="../slides/slide20.xml" /><Relationship Id="rId1" Type="http://schemas.openxmlformats.org/officeDocument/2006/relationships/notesMaster" Target="../notesMasters/notesMaster1.xml" /></Relationships>
</file>

<file path=ppt/notesSlides/_rels/notesSlide14.xml.rels><?xml version="1.0" encoding="UTF-8"?><Relationships xmlns="http://schemas.openxmlformats.org/package/2006/relationships"><Relationship Id="rId2" Type="http://schemas.openxmlformats.org/officeDocument/2006/relationships/slide" Target="../slides/slide21.xml" /><Relationship Id="rId1" Type="http://schemas.openxmlformats.org/officeDocument/2006/relationships/notesMaster" Target="../notesMasters/notesMaster1.xml" /></Relationships>
</file>

<file path=ppt/notesSlides/_rels/notesSlide15.xml.rels><?xml version="1.0" encoding="UTF-8"?><Relationships xmlns="http://schemas.openxmlformats.org/package/2006/relationships"><Relationship Id="rId2" Type="http://schemas.openxmlformats.org/officeDocument/2006/relationships/slide" Target="../slides/slide22.xml" /><Relationship Id="rId1" Type="http://schemas.openxmlformats.org/officeDocument/2006/relationships/notesMaster" Target="../notesMasters/notesMaster1.xml" /></Relationships>
</file>

<file path=ppt/notesSlides/_rels/notesSlide16.xml.rels><?xml version="1.0" encoding="UTF-8"?><Relationships xmlns="http://schemas.openxmlformats.org/package/2006/relationships"><Relationship Id="rId2" Type="http://schemas.openxmlformats.org/officeDocument/2006/relationships/slide" Target="../slides/slide23.xml" /><Relationship Id="rId1" Type="http://schemas.openxmlformats.org/officeDocument/2006/relationships/notesMaster" Target="../notesMasters/notesMaster1.xml" /></Relationships>
</file>

<file path=ppt/notesSlides/_rels/notesSlide17.xml.rels><?xml version="1.0" encoding="UTF-8"?><Relationships xmlns="http://schemas.openxmlformats.org/package/2006/relationships"><Relationship Id="rId2" Type="http://schemas.openxmlformats.org/officeDocument/2006/relationships/slide" Target="../slides/slide24.xml" /><Relationship Id="rId1" Type="http://schemas.openxmlformats.org/officeDocument/2006/relationships/notesMaster" Target="../notesMasters/notesMaster1.xml" /></Relationships>
</file>

<file path=ppt/notesSlides/_rels/notesSlide18.xml.rels><?xml version="1.0" encoding="UTF-8"?><Relationships xmlns="http://schemas.openxmlformats.org/package/2006/relationships"><Relationship Id="rId2" Type="http://schemas.openxmlformats.org/officeDocument/2006/relationships/slide" Target="../slides/slide25.xml" /><Relationship Id="rId1" Type="http://schemas.openxmlformats.org/officeDocument/2006/relationships/notesMaster" Target="../notesMasters/notesMaster1.xml" /></Relationships>
</file>

<file path=ppt/notesSlides/_rels/notesSlide19.xml.rels><?xml version="1.0" encoding="UTF-8"?><Relationships xmlns="http://schemas.openxmlformats.org/package/2006/relationships"><Relationship Id="rId2" Type="http://schemas.openxmlformats.org/officeDocument/2006/relationships/slide" Target="../slides/slide26.xml" /><Relationship Id="rId1" Type="http://schemas.openxmlformats.org/officeDocument/2006/relationships/notesMaster" Target="../notesMasters/notesMaster1.xml" /></Relationships>
</file>

<file path=ppt/notesSlides/_rels/notesSlide20.xml.rels><?xml version="1.0" encoding="UTF-8"?><Relationships xmlns="http://schemas.openxmlformats.org/package/2006/relationships"><Relationship Id="rId2" Type="http://schemas.openxmlformats.org/officeDocument/2006/relationships/slide" Target="../slides/slide27.xml" /><Relationship Id="rId1" Type="http://schemas.openxmlformats.org/officeDocument/2006/relationships/notesMaster" Target="../notesMasters/notesMaster1.xml" /></Relationships>
</file>

<file path=ppt/notesSlides/_rels/notesSlide21.xml.rels><?xml version="1.0" encoding="UTF-8"?><Relationships xmlns="http://schemas.openxmlformats.org/package/2006/relationships"><Relationship Id="rId2" Type="http://schemas.openxmlformats.org/officeDocument/2006/relationships/slide" Target="../slides/slide28.xml" /><Relationship Id="rId1" Type="http://schemas.openxmlformats.org/officeDocument/2006/relationships/notesMaster" Target="../notesMasters/notesMaster1.xml" /></Relationships>
</file>

<file path=ppt/notesSlides/_rels/notesSlide22.xml.rels><?xml version="1.0" encoding="UTF-8"?><Relationships xmlns="http://schemas.openxmlformats.org/package/2006/relationships"><Relationship Id="rId2" Type="http://schemas.openxmlformats.org/officeDocument/2006/relationships/slide" Target="../slides/slide29.xml" /><Relationship Id="rId1" Type="http://schemas.openxmlformats.org/officeDocument/2006/relationships/notesMaster" Target="../notesMasters/notesMaster1.xml" /></Relationships>
</file>

<file path=ppt/notesSlides/_rels/notesSlide23.xml.rels><?xml version="1.0" encoding="UTF-8"?><Relationships xmlns="http://schemas.openxmlformats.org/package/2006/relationships"><Relationship Id="rId2" Type="http://schemas.openxmlformats.org/officeDocument/2006/relationships/slide" Target="../slides/slide30.xml" /><Relationship Id="rId1" Type="http://schemas.openxmlformats.org/officeDocument/2006/relationships/notesMaster" Target="../notesMasters/notesMaster1.xml" /></Relationships>
</file>

<file path=ppt/notesSlides/_rels/notesSlide24.xml.rels><?xml version="1.0" encoding="UTF-8"?><Relationships xmlns="http://schemas.openxmlformats.org/package/2006/relationships"><Relationship Id="rId2" Type="http://schemas.openxmlformats.org/officeDocument/2006/relationships/slide" Target="../slides/slide31.xml" /><Relationship Id="rId1" Type="http://schemas.openxmlformats.org/officeDocument/2006/relationships/notesMaster" Target="../notesMasters/notesMaster1.xml" /></Relationships>
</file>

<file path=ppt/notesSlides/_rels/notesSlide25.xml.rels><?xml version="1.0" encoding="UTF-8"?><Relationships xmlns="http://schemas.openxmlformats.org/package/2006/relationships"><Relationship Id="rId2" Type="http://schemas.openxmlformats.org/officeDocument/2006/relationships/slide" Target="../slides/slide32.xml" /><Relationship Id="rId1" Type="http://schemas.openxmlformats.org/officeDocument/2006/relationships/notesMaster" Target="../notesMasters/notesMaster1.xml" /></Relationships>
</file>

<file path=ppt/notesSlides/_rels/notesSlide26.xml.rels><?xml version="1.0" encoding="UTF-8"?><Relationships xmlns="http://schemas.openxmlformats.org/package/2006/relationships"><Relationship Id="rId2" Type="http://schemas.openxmlformats.org/officeDocument/2006/relationships/slide" Target="../slides/slide33.xml" /><Relationship Id="rId1" Type="http://schemas.openxmlformats.org/officeDocument/2006/relationships/notesMaster" Target="../notesMasters/notesMaster1.xml" /></Relationships>
</file>

<file path=ppt/notesSlides/_rels/notesSlide27.xml.rels><?xml version="1.0" encoding="UTF-8"?><Relationships xmlns="http://schemas.openxmlformats.org/package/2006/relationships"><Relationship Id="rId2" Type="http://schemas.openxmlformats.org/officeDocument/2006/relationships/slide" Target="../slides/slide34.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In the next 4 slides, I will lay some proposed foundational concepts and definitions upon which the rest of the sessions for today will be built upon.</a:t>
            </a:r>
          </a:p>
        </p:txBody>
      </p:sp>
      <p:sp>
        <p:nvSpPr>
          <p:cNvPr id="4" name="Slide Number Placeholder 3"/>
          <p:cNvSpPr>
            <a:spLocks noGrp="1"/>
          </p:cNvSpPr>
          <p:nvPr>
            <p:ph type="sldNum" sz="quarter" idx="10"/>
          </p:nvPr>
        </p:nvSpPr>
        <p:spPr/>
        <p:txBody>
          <a:bodyPr/>
          <a:lstStyle/>
          <a:p>
            <a:fld id="{18BDFEC3-8487-43E8-A154-7C12CBC1FFF2}" type="slidenum">
              <a:rPr lang="en-US"/>
              <a:t>2</a:t>
            </a:fld>
            <a:endParaRPr lang="en-US"/>
          </a:p>
        </p:txBody>
      </p:sp>
    </p:spTree>
  </p:cSld>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Data refers to information about people, systems, and the world around us. It includes personal and population-level information about individuals, records about organisations and public services, and data describing locations and the environment. It also encompasses information generated by digital interactions and by connected technologies such as sensors and the Internet of Things.</a:t>
            </a:r>
          </a:p>
        </p:txBody>
      </p:sp>
      <p:sp>
        <p:nvSpPr>
          <p:cNvPr id="4" name="Slide Number Placeholder 3"/>
          <p:cNvSpPr>
            <a:spLocks noGrp="1"/>
          </p:cNvSpPr>
          <p:nvPr>
            <p:ph type="sldNum" sz="quarter" idx="10"/>
          </p:nvPr>
        </p:nvSpPr>
        <p:spPr/>
        <p:txBody>
          <a:bodyPr/>
          <a:lstStyle/>
          <a:p>
            <a:fld id="{18BDFEC3-8487-43E8-A154-7C12CBC1FFF2}" type="slidenum">
              <a:rPr lang="en-US"/>
              <a:t>3</a:t>
            </a:fld>
            <a:endParaRPr lang="en-US"/>
          </a:p>
        </p:txBody>
      </p:sp>
    </p:spTree>
  </p:cSld>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A system of robust legal frameworks, ethical guidelines, standards, and processes that ensures an organisation’s data is accurate, consistent, secure, and compliant throughout its lifecycle.</a:t>
            </a:r>
          </a:p>
          <a:p>
            <a:pPr lvl="0" indent="0" marL="0">
              <a:buNone/>
            </a:pPr>
          </a:p>
          <a:p>
            <a:pPr lvl="0" indent="0" marL="0">
              <a:buNone/>
            </a:pPr>
            <a:r>
              <a:rPr/>
              <a:t>Getting the right data to the right people at the right time in the right format.</a:t>
            </a:r>
          </a:p>
        </p:txBody>
      </p:sp>
      <p:sp>
        <p:nvSpPr>
          <p:cNvPr id="4" name="Slide Number Placeholder 3"/>
          <p:cNvSpPr>
            <a:spLocks noGrp="1"/>
          </p:cNvSpPr>
          <p:nvPr>
            <p:ph type="sldNum" sz="quarter" idx="10"/>
          </p:nvPr>
        </p:nvSpPr>
        <p:spPr/>
        <p:txBody>
          <a:bodyPr/>
          <a:lstStyle/>
          <a:p>
            <a:fld id="{18BDFEC3-8487-43E8-A154-7C12CBC1FFF2}" type="slidenum">
              <a:rPr lang="en-US"/>
              <a:t>4</a:t>
            </a:fld>
            <a:endParaRPr lang="en-US"/>
          </a:p>
        </p:txBody>
      </p:sp>
    </p:spTree>
  </p:cSld>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data lifecycle describes the stages that data goes through from creation to disposal. While models vary, it typically includes these key phases:</a:t>
            </a:r>
          </a:p>
          <a:p>
            <a:pPr lvl="0" indent="0" marL="0">
              <a:buNone/>
            </a:pPr>
          </a:p>
          <a:p>
            <a:pPr lvl="0" indent="0" marL="0">
              <a:buNone/>
            </a:pPr>
            <a:r>
              <a:rPr/>
              <a:t>Creation / Collection – Data is generated or gathered from sources such as people, systems, sensors, or surveys.</a:t>
            </a:r>
          </a:p>
          <a:p>
            <a:pPr lvl="0" indent="0" marL="0">
              <a:buNone/>
            </a:pPr>
          </a:p>
          <a:p>
            <a:pPr lvl="0" indent="0" marL="0">
              <a:buNone/>
            </a:pPr>
            <a:r>
              <a:rPr/>
              <a:t>Processing – Data is cleaned, validated, organised, and transformed into a usable format.</a:t>
            </a:r>
          </a:p>
          <a:p>
            <a:pPr lvl="0" indent="0" marL="0">
              <a:buNone/>
            </a:pPr>
          </a:p>
          <a:p>
            <a:pPr lvl="0" indent="0" marL="0">
              <a:buNone/>
            </a:pPr>
            <a:r>
              <a:rPr/>
              <a:t>Storage – Data is securely stored in databases, data warehouses, or other systems.</a:t>
            </a:r>
          </a:p>
          <a:p>
            <a:pPr lvl="0" indent="0" marL="0">
              <a:buNone/>
            </a:pPr>
          </a:p>
          <a:p>
            <a:pPr lvl="0" indent="0" marL="0">
              <a:buNone/>
            </a:pPr>
            <a:r>
              <a:rPr/>
              <a:t>Use / Analysis – Data is accessed, analysed, and used to produce insights, support decisions, or deliver services.</a:t>
            </a:r>
          </a:p>
          <a:p>
            <a:pPr lvl="0" indent="0" marL="0">
              <a:buNone/>
            </a:pPr>
          </a:p>
          <a:p>
            <a:pPr lvl="0" indent="0" marL="0">
              <a:buNone/>
            </a:pPr>
            <a:r>
              <a:rPr/>
              <a:t>Sharing / Publication – Data is shared with others, internally or externally, in line with legal, ethical, and security requirements.</a:t>
            </a:r>
          </a:p>
          <a:p>
            <a:pPr lvl="0" indent="0" marL="0">
              <a:buNone/>
            </a:pPr>
          </a:p>
          <a:p>
            <a:pPr lvl="0" indent="0" marL="0">
              <a:buNone/>
            </a:pPr>
            <a:r>
              <a:rPr/>
              <a:t>Archiving / Retention – Data that is no longer actively used is retained for legal, historical, or reference purposes.</a:t>
            </a:r>
          </a:p>
          <a:p>
            <a:pPr lvl="0" indent="0" marL="0">
              <a:buNone/>
            </a:pPr>
          </a:p>
          <a:p>
            <a:pPr lvl="0" indent="0" marL="0">
              <a:buNone/>
            </a:pPr>
            <a:r>
              <a:rPr/>
              <a:t>Disposal / Deletion – Data is securely destroyed or deleted when it is no longer needed.</a:t>
            </a:r>
          </a:p>
          <a:p>
            <a:pPr lvl="0" indent="0" marL="0">
              <a:buNone/>
            </a:pPr>
          </a:p>
          <a:p>
            <a:pPr lvl="0" indent="0" marL="0">
              <a:buNone/>
            </a:pPr>
            <a:r>
              <a:rPr/>
              <a:t>Across all stages, governance, security, privacy, and quality management apply to ensure data is used responsibly and effectively.</a:t>
            </a:r>
          </a:p>
          <a:p>
            <a:pPr lvl="0" indent="0" marL="0">
              <a:buNone/>
            </a:pPr>
          </a:p>
          <a:p>
            <a:pPr lvl="0" indent="0" marL="0">
              <a:buNone/>
            </a:pPr>
            <a:r>
              <a:rPr/>
              <a:t>The data lifecycle depicts the potential circularity of data use, reuse, and repurposing, as long as data can be made safely accessible across a wide array of users and unless explicit steps are taken to destroy the data. This demonstrates the inexhaustible/unrival nature of data – they can be used and reused repeatedly by companies and governments for different purposes without depleting them. Hence the potential to extract value from data is significant.</a:t>
            </a:r>
          </a:p>
        </p:txBody>
      </p:sp>
      <p:sp>
        <p:nvSpPr>
          <p:cNvPr id="4" name="Slide Number Placeholder 3"/>
          <p:cNvSpPr>
            <a:spLocks noGrp="1"/>
          </p:cNvSpPr>
          <p:nvPr>
            <p:ph type="sldNum" sz="quarter" idx="10"/>
          </p:nvPr>
        </p:nvSpPr>
        <p:spPr/>
        <p:txBody>
          <a:bodyPr/>
          <a:lstStyle/>
          <a:p>
            <a:fld id="{18BDFEC3-8487-43E8-A154-7C12CBC1FFF2}" type="slidenum">
              <a:rPr lang="en-US"/>
              <a:t>5</a:t>
            </a:fld>
            <a:endParaRPr lang="en-US"/>
          </a:p>
        </p:txBody>
      </p:sp>
    </p:spTree>
  </p:cSld>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We now will define and differentiate the concepts of public and private intent data.</a:t>
            </a:r>
          </a:p>
        </p:txBody>
      </p:sp>
      <p:sp>
        <p:nvSpPr>
          <p:cNvPr id="4" name="Slide Number Placeholder 3"/>
          <p:cNvSpPr>
            <a:spLocks noGrp="1"/>
          </p:cNvSpPr>
          <p:nvPr>
            <p:ph type="sldNum" sz="quarter" idx="10"/>
          </p:nvPr>
        </p:nvSpPr>
        <p:spPr/>
        <p:txBody>
          <a:bodyPr/>
          <a:lstStyle/>
          <a:p>
            <a:fld id="{18BDFEC3-8487-43E8-A154-7C12CBC1FFF2}" type="slidenum">
              <a:rPr lang="en-US"/>
              <a:t>6</a:t>
            </a:fld>
            <a:endParaRPr lang="en-US"/>
          </a:p>
        </p:txBody>
      </p:sp>
    </p:spTree>
  </p:cSld>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Public intent data is data collected to support the public good, particularly for developing, implementing, and evaluating public policy. Governments are the main producers of this data through activities such as censuses, surveys, and administrative records, but it is also contributed by citizens, civil society, NGOs, academic and international organizations, and, in some cases, private firms.</a:t>
            </a:r>
          </a:p>
          <a:p>
            <a:pPr lvl="0" indent="0" marL="0">
              <a:buNone/>
            </a:pPr>
          </a:p>
          <a:p>
            <a:pPr lvl="0" indent="0" marL="0">
              <a:buNone/>
            </a:pPr>
            <a:r>
              <a:rPr/>
              <a:t>Private intent data is data collected by the private sector as part of routine business processes. These are often referred to as digital footprints - like website visits, searches, content downloads, and social activity—that reveal a person’s or company’s specific interests, needs, and potential purchase intentions, helping businesses personalize marketing, identify high-value leads, and predict buying behaviour, though its collection and use raise privacy concerns and require careful ethical handling and consent.</a:t>
            </a:r>
          </a:p>
        </p:txBody>
      </p:sp>
      <p:sp>
        <p:nvSpPr>
          <p:cNvPr id="4" name="Slide Number Placeholder 3"/>
          <p:cNvSpPr>
            <a:spLocks noGrp="1"/>
          </p:cNvSpPr>
          <p:nvPr>
            <p:ph type="sldNum" sz="quarter" idx="10"/>
          </p:nvPr>
        </p:nvSpPr>
        <p:spPr/>
        <p:txBody>
          <a:bodyPr/>
          <a:lstStyle/>
          <a:p>
            <a:fld id="{18BDFEC3-8487-43E8-A154-7C12CBC1FFF2}" type="slidenum">
              <a:rPr lang="en-US"/>
              <a:t>7</a:t>
            </a:fld>
            <a:endParaRPr lang="en-US"/>
          </a:p>
        </p:txBody>
      </p:sp>
    </p:spTree>
  </p:cSld>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Now, we will dig deeper into public intent data.</a:t>
            </a:r>
          </a:p>
        </p:txBody>
      </p:sp>
      <p:sp>
        <p:nvSpPr>
          <p:cNvPr id="4" name="Slide Number Placeholder 3"/>
          <p:cNvSpPr>
            <a:spLocks noGrp="1"/>
          </p:cNvSpPr>
          <p:nvPr>
            <p:ph type="sldNum" sz="quarter" idx="10"/>
          </p:nvPr>
        </p:nvSpPr>
        <p:spPr/>
        <p:txBody>
          <a:bodyPr/>
          <a:lstStyle/>
          <a:p>
            <a:fld id="{18BDFEC3-8487-43E8-A154-7C12CBC1FFF2}" type="slidenum">
              <a:rPr lang="en-US"/>
              <a:t>14</a:t>
            </a:fld>
            <a:endParaRPr lang="en-US"/>
          </a:p>
        </p:txBody>
      </p:sp>
    </p:spTree>
  </p:cSld>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Administrative</a:t>
            </a:r>
            <a:r>
              <a:rPr/>
              <a:t> - Administrative data are generated through official registration and record-keeping processes, typically by national authorities, and include records such as vital events, identification systems, and population, health, education, tax, and trade data. They also cover data used to manage government programs and services, with digital technologies creating new administrative data sources, such as information collected through smartphone applications used by inspectors.</a:t>
            </a:r>
          </a:p>
          <a:p>
            <a:pPr lvl="0" indent="0" marL="0">
              <a:buNone/>
            </a:pPr>
          </a:p>
          <a:p>
            <a:pPr lvl="0" indent="0" marL="0">
              <a:buNone/>
            </a:pPr>
            <a:r>
              <a:rPr b="1"/>
              <a:t>Census data</a:t>
            </a:r>
            <a:r>
              <a:rPr/>
              <a:t> - Censuses systematically collect information on an entire population such as individuals, households, or businesses with population and housing censuses in particular providing comprehensive data on all residents and their key socioeconomic characteristics.</a:t>
            </a:r>
          </a:p>
          <a:p>
            <a:pPr lvl="0" indent="0" marL="0">
              <a:buNone/>
            </a:pPr>
          </a:p>
          <a:p>
            <a:pPr lvl="0" indent="0" marL="0">
              <a:buNone/>
            </a:pPr>
            <a:r>
              <a:rPr b="1"/>
              <a:t>Surveys</a:t>
            </a:r>
            <a:r>
              <a:rPr/>
              <a:t> - Sample surveys collect detailed and frequent information from a representative subset of the population, often based on census data. They cover areas such as households, farms, businesses, labour, and health, and are a key source for official statistics like unemployment and national accounts, often used alongside administrative and census data.</a:t>
            </a:r>
          </a:p>
          <a:p>
            <a:pPr lvl="0" indent="0" marL="0">
              <a:buNone/>
            </a:pPr>
          </a:p>
          <a:p>
            <a:pPr lvl="0" indent="0" marL="0">
              <a:buNone/>
            </a:pPr>
            <a:r>
              <a:rPr b="1"/>
              <a:t>Citizen-generated data</a:t>
            </a:r>
            <a:r>
              <a:rPr/>
              <a:t> - Citizen-generated data are created by individuals to address gaps or concerns in existing data and play an important role in monitoring, accountability, and problem-solving related to citizens’ needs.</a:t>
            </a:r>
          </a:p>
          <a:p>
            <a:pPr lvl="0" indent="0" marL="0">
              <a:buNone/>
            </a:pPr>
          </a:p>
          <a:p>
            <a:pPr lvl="0" indent="0" marL="0">
              <a:buNone/>
            </a:pPr>
            <a:r>
              <a:rPr b="1"/>
              <a:t>Machine-generated data</a:t>
            </a:r>
            <a:r>
              <a:rPr/>
              <a:t> - Machine-generated data are automatically produced by sensors, applications, or computer processes without human input. They often come from connected devices, such as air pollution sensors, that form part of the Internet of Things.</a:t>
            </a:r>
          </a:p>
          <a:p>
            <a:pPr lvl="0" indent="0" marL="0">
              <a:buNone/>
            </a:pPr>
          </a:p>
          <a:p>
            <a:pPr lvl="0" indent="0" marL="0">
              <a:buNone/>
            </a:pPr>
            <a:r>
              <a:rPr b="1"/>
              <a:t>Geospatial data</a:t>
            </a:r>
            <a:r>
              <a:rPr/>
              <a:t> - Geospatial data link different types of information to specific locations. Public intent geospatial data include satellite imagery, weather data, and property and land information.</a:t>
            </a:r>
          </a:p>
        </p:txBody>
      </p:sp>
      <p:sp>
        <p:nvSpPr>
          <p:cNvPr id="4" name="Slide Number Placeholder 3"/>
          <p:cNvSpPr>
            <a:spLocks noGrp="1"/>
          </p:cNvSpPr>
          <p:nvPr>
            <p:ph type="sldNum" sz="quarter" idx="10"/>
          </p:nvPr>
        </p:nvSpPr>
        <p:spPr/>
        <p:txBody>
          <a:bodyPr/>
          <a:lstStyle/>
          <a:p>
            <a:fld id="{18BDFEC3-8487-43E8-A154-7C12CBC1FFF2}" type="slidenum">
              <a:rPr lang="en-US"/>
              <a:t>15</a:t>
            </a:fld>
            <a:endParaRPr lang="en-US"/>
          </a:p>
        </p:txBody>
      </p:sp>
    </p:spTree>
  </p:cSld>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There are several conditions that should be in place to maximize the value of public intent data. The data need to be (1) produced with adequate spatial and temporal coverage (complete, timely, and frequent); (2) high in quality (granular, accurate, and comparable); (3) easy to use (accessible, understandable, and interoperable); and (4) safe to use (impartial, confidential, and appropriate). With these features, development-related data have the potential to transform development outcomes.</a:t>
            </a:r>
          </a:p>
        </p:txBody>
      </p:sp>
      <p:sp>
        <p:nvSpPr>
          <p:cNvPr id="4" name="Slide Number Placeholder 3"/>
          <p:cNvSpPr>
            <a:spLocks noGrp="1"/>
          </p:cNvSpPr>
          <p:nvPr>
            <p:ph type="sldNum" sz="quarter" idx="10"/>
          </p:nvPr>
        </p:nvSpPr>
        <p:spPr/>
        <p:txBody>
          <a:bodyPr/>
          <a:lstStyle/>
          <a:p>
            <a:fld id="{18BDFEC3-8487-43E8-A154-7C12CBC1FFF2}" type="slidenum">
              <a:rPr lang="en-US"/>
              <a:t>16</a:t>
            </a:fld>
            <a:endParaRPr lang="en-US"/>
          </a:p>
        </p:txBody>
      </p:sp>
    </p:spTree>
  </p:cSld>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For this potential of data to be realised, the data must be used explicitly to generate public good, including through the three pathways.</a:t>
            </a:r>
          </a:p>
          <a:p>
            <a:pPr lvl="0" indent="0" marL="0">
              <a:buNone/>
            </a:pPr>
          </a:p>
          <a:p>
            <a:pPr lvl="0" indent="-457200" marL="457200">
              <a:buAutoNum type="arabicPeriod"/>
            </a:pPr>
            <a:r>
              <a:rPr/>
              <a:t>Improving service delivery</a:t>
            </a:r>
          </a:p>
          <a:p>
            <a:pPr lvl="0" indent="0" marL="0">
              <a:buNone/>
            </a:pPr>
          </a:p>
          <a:p>
            <a:pPr lvl="1"/>
            <a:r>
              <a:rPr/>
              <a:t>Increasing access to government services – this requires data representative of all residents. Using administrative data such as foundational identification systems like national IDs, civil registries, and digital IDs helps ensure comprehensive population coverage and equitable access.</a:t>
            </a:r>
          </a:p>
          <a:p>
            <a:pPr lvl="0" indent="0" marL="0">
              <a:buNone/>
            </a:pPr>
          </a:p>
          <a:p>
            <a:pPr lvl="1"/>
            <a:r>
              <a:rPr/>
              <a:t>Better preparing for and responding to emergencies</a:t>
            </a:r>
          </a:p>
          <a:p>
            <a:pPr lvl="0" indent="0" marL="0">
              <a:buNone/>
            </a:pPr>
          </a:p>
          <a:p>
            <a:pPr lvl="1"/>
            <a:r>
              <a:rPr/>
              <a:t>Generating useful knowledge</a:t>
            </a:r>
          </a:p>
          <a:p>
            <a:pPr lvl="0" indent="0" marL="0">
              <a:buNone/>
            </a:pPr>
          </a:p>
          <a:p>
            <a:pPr lvl="0" indent="-457200" marL="457200">
              <a:buAutoNum type="arabicPeriod"/>
            </a:pPr>
            <a:r>
              <a:rPr/>
              <a:t>Prioritising scarce resources</a:t>
            </a:r>
          </a:p>
          <a:p>
            <a:pPr lvl="0" indent="0" marL="0">
              <a:buNone/>
            </a:pPr>
          </a:p>
          <a:p>
            <a:pPr lvl="1"/>
            <a:r>
              <a:rPr/>
              <a:t>Targeting - When public intent data is detailed and linked to specific individuals or locations, it can be used to better target resources and promote inclusion. For example, granular data from Demographic and Health Surveys has played a significant role in shaping public policy on issues such as HIV/AIDS and gender-based violence. Sex-disaggregated survey data have informed laws, education programs, and support services. For example, in Vietnam, survey findings on widespread gender-based violence prompted public debate, influenced the National Strategy on Gender Equality, and led to the creation of counselling, health, legal, and shelter services for affected women.</a:t>
            </a:r>
          </a:p>
          <a:p>
            <a:pPr lvl="0" indent="0" marL="0">
              <a:buNone/>
            </a:pPr>
          </a:p>
          <a:p>
            <a:pPr lvl="1"/>
            <a:r>
              <a:rPr/>
              <a:t>Saving resources – interoperability in administrative data and government records can be used to help government save resources through increase in taxation revenue (Tanzania) and increase efficiencies in the public welfare system (Argentina)</a:t>
            </a:r>
          </a:p>
          <a:p>
            <a:pPr lvl="0" indent="0" marL="0">
              <a:buNone/>
            </a:pPr>
          </a:p>
          <a:p>
            <a:pPr lvl="1"/>
            <a:r>
              <a:rPr/>
              <a:t>Monitoring progress</a:t>
            </a:r>
          </a:p>
          <a:p>
            <a:pPr lvl="0" indent="0" marL="0">
              <a:buNone/>
            </a:pPr>
          </a:p>
          <a:p>
            <a:pPr lvl="0" indent="-457200" marL="457200">
              <a:buAutoNum type="arabicPeriod"/>
            </a:pPr>
            <a:r>
              <a:rPr/>
              <a:t>Holding government accountable and empowering individuals</a:t>
            </a:r>
          </a:p>
          <a:p>
            <a:pPr lvl="0" indent="0" marL="0">
              <a:buNone/>
            </a:pPr>
          </a:p>
          <a:p>
            <a:pPr lvl="1"/>
            <a:r>
              <a:rPr/>
              <a:t>Transparency - In China, media and watchdog organizations in Beijing noted inconsistencies between official government data on air quality and data from independent air quality monitoring systems. Heightened concerns about air quality have fuelled a dramatic expansion in publicly available, real-time data from thousands of air quality monitoring locations. The central government launched a US$275 billion plan to improve air quality throughout the country, and the Beijing municipal government promised an additional US$160 billion toward that goal.</a:t>
            </a:r>
          </a:p>
          <a:p>
            <a:pPr lvl="0" indent="0" marL="0">
              <a:buNone/>
            </a:pPr>
          </a:p>
          <a:p>
            <a:pPr lvl="1"/>
            <a:r>
              <a:rPr/>
              <a:t>Empowering individuals</a:t>
            </a:r>
          </a:p>
        </p:txBody>
      </p:sp>
      <p:sp>
        <p:nvSpPr>
          <p:cNvPr id="4" name="Slide Number Placeholder 3"/>
          <p:cNvSpPr>
            <a:spLocks noGrp="1"/>
          </p:cNvSpPr>
          <p:nvPr>
            <p:ph type="sldNum" sz="quarter" idx="10"/>
          </p:nvPr>
        </p:nvSpPr>
        <p:spPr/>
        <p:txBody>
          <a:bodyPr/>
          <a:lstStyle/>
          <a:p>
            <a:fld id="{18BDFEC3-8487-43E8-A154-7C12CBC1FFF2}" type="slidenum">
              <a:rPr lang="en-US"/>
              <a:t>17</a:t>
            </a:fld>
            <a:endParaRPr lang="en-US"/>
          </a:p>
        </p:txBody>
      </p:sp>
    </p:spTree>
  </p:cSld>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Even though public intent data have proven highly valuable, significant gaps remain in their availability, quality, and ease of use, especially in low-income countries.</a:t>
            </a:r>
          </a:p>
        </p:txBody>
      </p:sp>
      <p:sp>
        <p:nvSpPr>
          <p:cNvPr id="4" name="Slide Number Placeholder 3"/>
          <p:cNvSpPr>
            <a:spLocks noGrp="1"/>
          </p:cNvSpPr>
          <p:nvPr>
            <p:ph type="sldNum" sz="quarter" idx="10"/>
          </p:nvPr>
        </p:nvSpPr>
        <p:spPr/>
        <p:txBody>
          <a:bodyPr/>
          <a:lstStyle/>
          <a:p>
            <a:fld id="{18BDFEC3-8487-43E8-A154-7C12CBC1FFF2}" type="slidenum">
              <a:rPr lang="en-US"/>
              <a:t>18</a:t>
            </a:fld>
            <a:endParaRPr lang="en-US"/>
          </a:p>
        </p:txBody>
      </p:sp>
    </p:spTree>
  </p:cSld>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Many areas still suffer from data that are not collected or released often enough across all types of public intent data. This problem is especially pronounced for surveys and censuses, where there are often long delays between data collection and publication. Half of low-income countries have not undertaken a population and housing census in the last 10 years, and 18 percent have not done so in the last 20 years.</a:t>
            </a:r>
          </a:p>
          <a:p>
            <a:pPr lvl="0" indent="0" marL="0">
              <a:buNone/>
            </a:pPr>
          </a:p>
          <a:p>
            <a:pPr lvl="0" indent="0" marL="0">
              <a:buNone/>
            </a:pPr>
            <a:r>
              <a:rPr/>
              <a:t>Civil registration and vital statistics systems for recording births and deaths are incomplete in all low-income countries, while coverage is higher in wealthier countries—reaching about 22 percent in lower-middle-income countries, 51 percent in upper-middle-income countries, and 95 percent in high-income countries.</a:t>
            </a:r>
          </a:p>
          <a:p>
            <a:pPr lvl="0" indent="0" marL="0">
              <a:buNone/>
            </a:pPr>
          </a:p>
          <a:p>
            <a:pPr lvl="0" indent="0" marL="0">
              <a:buNone/>
            </a:pPr>
            <a:r>
              <a:rPr/>
              <a:t>Lower-income countries often face significant gaps in geospatial data, particularly in core reference datasets such as administrative boundaries, addresses, and maps. Assessments show that these datasets are frequently incomplete in these countries.</a:t>
            </a:r>
          </a:p>
        </p:txBody>
      </p:sp>
      <p:sp>
        <p:nvSpPr>
          <p:cNvPr id="4" name="Slide Number Placeholder 3"/>
          <p:cNvSpPr>
            <a:spLocks noGrp="1"/>
          </p:cNvSpPr>
          <p:nvPr>
            <p:ph type="sldNum" sz="quarter" idx="10"/>
          </p:nvPr>
        </p:nvSpPr>
        <p:spPr/>
        <p:txBody>
          <a:bodyPr/>
          <a:lstStyle/>
          <a:p>
            <a:fld id="{18BDFEC3-8487-43E8-A154-7C12CBC1FFF2}" type="slidenum">
              <a:rPr lang="en-US"/>
              <a:t>19</a:t>
            </a:fld>
            <a:endParaRPr lang="en-US"/>
          </a:p>
        </p:txBody>
      </p:sp>
    </p:spTree>
  </p:cSld>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A lack of granularity arises when data are not available at the required level of detail or disaggregation.</a:t>
            </a:r>
          </a:p>
          <a:p>
            <a:pPr lvl="0" indent="0" marL="0">
              <a:buNone/>
            </a:pPr>
          </a:p>
          <a:p>
            <a:pPr lvl="0" indent="0" marL="0">
              <a:buNone/>
            </a:pPr>
            <a:r>
              <a:rPr/>
              <a:t>Limited sex-disaggregated data</a:t>
            </a:r>
          </a:p>
          <a:p>
            <a:pPr lvl="0" indent="0" marL="0">
              <a:buNone/>
            </a:pPr>
          </a:p>
          <a:p>
            <a:pPr lvl="0" indent="0" marL="0">
              <a:buNone/>
            </a:pPr>
            <a:r>
              <a:rPr/>
              <a:t>Individual level data are being proxied using household level data</a:t>
            </a:r>
          </a:p>
          <a:p>
            <a:pPr lvl="0" indent="0" marL="0">
              <a:buNone/>
            </a:pPr>
          </a:p>
          <a:p>
            <a:pPr lvl="0" indent="0" marL="0">
              <a:buNone/>
            </a:pPr>
            <a:r>
              <a:rPr/>
              <a:t>Although geographically detailed data could greatly improve policy targeting, such data are rarely available. Most official statistics are not consistently reported at regional levels, and almost none are available at the district level.</a:t>
            </a:r>
          </a:p>
        </p:txBody>
      </p:sp>
      <p:sp>
        <p:nvSpPr>
          <p:cNvPr id="4" name="Slide Number Placeholder 3"/>
          <p:cNvSpPr>
            <a:spLocks noGrp="1"/>
          </p:cNvSpPr>
          <p:nvPr>
            <p:ph type="sldNum" sz="quarter" idx="10"/>
          </p:nvPr>
        </p:nvSpPr>
        <p:spPr/>
        <p:txBody>
          <a:bodyPr/>
          <a:lstStyle/>
          <a:p>
            <a:fld id="{18BDFEC3-8487-43E8-A154-7C12CBC1FFF2}" type="slidenum">
              <a:rPr lang="en-US"/>
              <a:t>20</a:t>
            </a:fld>
            <a:endParaRPr lang="en-US"/>
          </a:p>
        </p:txBody>
      </p:sp>
    </p:spTree>
  </p:cSld>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Limited data accessibility prevents effective data use. Lower-income countries trail significantly in data openness, and even high-income countries perform only moderately well. Very few countries especially low-income ones consistently publish data under open licenses, though openness increases with income level.</a:t>
            </a:r>
          </a:p>
          <a:p>
            <a:pPr lvl="0" indent="0" marL="0">
              <a:buNone/>
            </a:pPr>
          </a:p>
          <a:p>
            <a:pPr lvl="0" indent="0" marL="0">
              <a:buNone/>
            </a:pPr>
            <a:r>
              <a:rPr/>
              <a:t>Data accessibility is often limited by fragmented public sector data systems. In sectors like health, multiple uncoordinated information systems often including private providers prevent data from being shared with central authorities. Administrative data are frequently siloed within and across government agencies, reducing their usefulness for monitoring and policy-making.</a:t>
            </a:r>
          </a:p>
          <a:p>
            <a:pPr lvl="0" indent="0" marL="0">
              <a:buNone/>
            </a:pPr>
          </a:p>
          <a:p>
            <a:pPr lvl="0" indent="0" marL="0">
              <a:buNone/>
            </a:pPr>
            <a:r>
              <a:rPr/>
              <a:t>Even when data are accessible, a lack of clarity and usability can limit their value. Data need proper dissemination, metadata, user-oriented formats, and visualization to be useful. While many countries provide data portals and metadata, low-income countries still lag, particularly in using advance release calendars that ensure timely and predictable data publication.</a:t>
            </a:r>
          </a:p>
          <a:p>
            <a:pPr lvl="0" indent="0" marL="0">
              <a:buNone/>
            </a:pPr>
          </a:p>
          <a:p>
            <a:pPr lvl="0" indent="0" marL="0">
              <a:buNone/>
            </a:pPr>
            <a:r>
              <a:rPr/>
              <a:t>Using shared standards, methods, and classifications across public intent data improves interoperability and integration. Consistent geographic identifiers and expanded georeferencing are especially needed at subnational levels, particularly in low-income countries. While unified personal identifiers could improve data linkage, they raise privacy and equity concerns and require strong data protection laws, public trust, and complete civil registration systems. Privacy-preserving options such as tokenized identifiers offer a possible alternative.</a:t>
            </a:r>
          </a:p>
        </p:txBody>
      </p:sp>
      <p:sp>
        <p:nvSpPr>
          <p:cNvPr id="4" name="Slide Number Placeholder 3"/>
          <p:cNvSpPr>
            <a:spLocks noGrp="1"/>
          </p:cNvSpPr>
          <p:nvPr>
            <p:ph type="sldNum" sz="quarter" idx="10"/>
          </p:nvPr>
        </p:nvSpPr>
        <p:spPr/>
        <p:txBody>
          <a:bodyPr/>
          <a:lstStyle/>
          <a:p>
            <a:fld id="{18BDFEC3-8487-43E8-A154-7C12CBC1FFF2}" type="slidenum">
              <a:rPr lang="en-US"/>
              <a:t>21</a:t>
            </a:fld>
            <a:endParaRPr lang="en-US"/>
          </a:p>
        </p:txBody>
      </p:sp>
    </p:spTree>
  </p:cSld>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Data safety gaps persist when data are vulnerable to manipulation, insecure storage, or inadequate deidentification. Past cases show risks from both intentional misrepresentation and data breaches, as well as the possibility of reidentifying individuals from supposedly anonymized data. To reduce these risks, data collection should focus on necessary, policy-relevant information and avoid excessive or intrusive data gathering, while recognizing that misuse remains possible even with safeguards.</a:t>
            </a:r>
          </a:p>
          <a:p>
            <a:pPr lvl="0" indent="0" marL="0">
              <a:buNone/>
            </a:pPr>
          </a:p>
          <a:p>
            <a:pPr lvl="0"/>
            <a:r>
              <a:rPr/>
              <a:t>Data not immune to influence from stakeholders</a:t>
            </a:r>
          </a:p>
          <a:p>
            <a:pPr lvl="0" indent="0" marL="0">
              <a:buNone/>
            </a:pPr>
          </a:p>
          <a:p>
            <a:pPr lvl="1"/>
            <a:r>
              <a:rPr/>
              <a:t>Example: Greece’s debt statistics appear to have deliberately misrepresented the country’s financial situation in the lead-up to the 2009 euro crisis</a:t>
            </a:r>
          </a:p>
          <a:p>
            <a:pPr lvl="0" indent="0" marL="0">
              <a:buNone/>
            </a:pPr>
          </a:p>
          <a:p>
            <a:pPr lvl="0"/>
            <a:r>
              <a:rPr/>
              <a:t>Data not stored securely - too common in government and private sector databases</a:t>
            </a:r>
          </a:p>
          <a:p>
            <a:pPr lvl="0" indent="0" marL="0">
              <a:buNone/>
            </a:pPr>
          </a:p>
          <a:p>
            <a:pPr lvl="0"/>
            <a:r>
              <a:rPr/>
              <a:t>Data not properly de-identified</a:t>
            </a:r>
          </a:p>
          <a:p>
            <a:pPr lvl="0" indent="0" marL="0">
              <a:buNone/>
            </a:pPr>
          </a:p>
          <a:p>
            <a:pPr lvl="1"/>
            <a:r>
              <a:rPr/>
              <a:t>Example: In the 1990s, Massachusetts released de-identified medical records of state employees for research. Despite removing names and addresses, a researcher was able to re-identify individuals, including the governor, by combining the data with other publicly available information.</a:t>
            </a:r>
          </a:p>
        </p:txBody>
      </p:sp>
      <p:sp>
        <p:nvSpPr>
          <p:cNvPr id="4" name="Slide Number Placeholder 3"/>
          <p:cNvSpPr>
            <a:spLocks noGrp="1"/>
          </p:cNvSpPr>
          <p:nvPr>
            <p:ph type="sldNum" sz="quarter" idx="10"/>
          </p:nvPr>
        </p:nvSpPr>
        <p:spPr/>
        <p:txBody>
          <a:bodyPr/>
          <a:lstStyle/>
          <a:p>
            <a:fld id="{18BDFEC3-8487-43E8-A154-7C12CBC1FFF2}" type="slidenum">
              <a:rPr lang="en-US"/>
              <a:t>22</a:t>
            </a:fld>
            <a:endParaRPr lang="en-US"/>
          </a:p>
        </p:txBody>
      </p:sp>
    </p:spTree>
  </p:cSld>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Insufficient funding and poorly aligned investment priorities continue to sustain data gaps.</a:t>
            </a:r>
          </a:p>
          <a:p>
            <a:pPr lvl="0" indent="0" marL="0">
              <a:buNone/>
            </a:pPr>
          </a:p>
          <a:p>
            <a:pPr lvl="0" indent="0" marL="0">
              <a:buNone/>
            </a:pPr>
            <a:r>
              <a:rPr/>
              <a:t>Data gaps persist due to shortages of skilled and adequately paid staff, limited workforce capacity, and insufficient technology and infrastructure.</a:t>
            </a:r>
          </a:p>
          <a:p>
            <a:pPr lvl="0" indent="0" marL="0">
              <a:buNone/>
            </a:pPr>
          </a:p>
          <a:p>
            <a:pPr lvl="0" indent="0" marL="0">
              <a:buNone/>
            </a:pPr>
            <a:r>
              <a:rPr/>
              <a:t>Weak data governance alongside limited skills and funding hinders the effective use of public intent data. Clear mandates and strong coordination among data-producing agencies are essential but often lacking, resulting in poor data sharing, limited interoperability, delayed publication, and duplicated data collection efforts.</a:t>
            </a:r>
          </a:p>
          <a:p>
            <a:pPr lvl="0" indent="0" marL="0">
              <a:buNone/>
            </a:pPr>
          </a:p>
          <a:p>
            <a:pPr lvl="0" indent="0" marL="0">
              <a:buNone/>
            </a:pPr>
            <a:r>
              <a:rPr/>
              <a:t>Even when data are high quality and accessible, their impact depends on being used effectively; a lack of data use remains a major barrier to development.</a:t>
            </a:r>
          </a:p>
        </p:txBody>
      </p:sp>
      <p:sp>
        <p:nvSpPr>
          <p:cNvPr id="4" name="Slide Number Placeholder 3"/>
          <p:cNvSpPr>
            <a:spLocks noGrp="1"/>
          </p:cNvSpPr>
          <p:nvPr>
            <p:ph type="sldNum" sz="quarter" idx="10"/>
          </p:nvPr>
        </p:nvSpPr>
        <p:spPr/>
        <p:txBody>
          <a:bodyPr/>
          <a:lstStyle/>
          <a:p>
            <a:fld id="{18BDFEC3-8487-43E8-A154-7C12CBC1FFF2}" type="slidenum">
              <a:rPr lang="en-US"/>
              <a:t>23</a:t>
            </a:fld>
            <a:endParaRPr lang="en-US"/>
          </a:p>
        </p:txBody>
      </p:sp>
    </p:spTree>
  </p:cSld>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Now we will focus on private intent data.</a:t>
            </a:r>
          </a:p>
        </p:txBody>
      </p:sp>
      <p:sp>
        <p:nvSpPr>
          <p:cNvPr id="4" name="Slide Number Placeholder 3"/>
          <p:cNvSpPr>
            <a:spLocks noGrp="1"/>
          </p:cNvSpPr>
          <p:nvPr>
            <p:ph type="sldNum" sz="quarter" idx="10"/>
          </p:nvPr>
        </p:nvSpPr>
        <p:spPr/>
        <p:txBody>
          <a:bodyPr/>
          <a:lstStyle/>
          <a:p>
            <a:fld id="{18BDFEC3-8487-43E8-A154-7C12CBC1FFF2}" type="slidenum">
              <a:rPr lang="en-US"/>
              <a:t>24</a:t>
            </a:fld>
            <a:endParaRPr lang="en-US"/>
          </a:p>
        </p:txBody>
      </p:sp>
    </p:spTree>
  </p:cSld>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Data-intensive analytics help uncover new insights, improve decision-making, and streamline processes. Big data analytics usually rely on new methods and technologies to support more advanced and effective decisions.</a:t>
            </a:r>
          </a:p>
          <a:p>
            <a:pPr lvl="0" indent="0" marL="0">
              <a:buNone/>
            </a:pPr>
          </a:p>
          <a:p>
            <a:pPr lvl="0" indent="0" marL="0">
              <a:buNone/>
            </a:pPr>
            <a:r>
              <a:rPr/>
              <a:t>Firms use data-driven technologies individually or together, with data-driven platforms being a key business model. These platforms combine data with analytics and AI to connect different user groups, reduce information gaps and search costs, facilitate market exchanges, and generate additional data on user behaviour.</a:t>
            </a:r>
          </a:p>
        </p:txBody>
      </p:sp>
      <p:sp>
        <p:nvSpPr>
          <p:cNvPr id="4" name="Slide Number Placeholder 3"/>
          <p:cNvSpPr>
            <a:spLocks noGrp="1"/>
          </p:cNvSpPr>
          <p:nvPr>
            <p:ph type="sldNum" sz="quarter" idx="10"/>
          </p:nvPr>
        </p:nvSpPr>
        <p:spPr/>
        <p:txBody>
          <a:bodyPr/>
          <a:lstStyle/>
          <a:p>
            <a:fld id="{18BDFEC3-8487-43E8-A154-7C12CBC1FFF2}" type="slidenum">
              <a:rPr lang="en-US"/>
              <a:t>25</a:t>
            </a:fld>
            <a:endParaRPr lang="en-US"/>
          </a:p>
        </p:txBody>
      </p:sp>
    </p:spTree>
  </p:cSld>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figure shows how data function both as an input to economic activity and as a by-product of it, highlighting how data generated from one activity can be reused to support the same or new economic activities.</a:t>
            </a:r>
          </a:p>
        </p:txBody>
      </p:sp>
      <p:sp>
        <p:nvSpPr>
          <p:cNvPr id="4" name="Slide Number Placeholder 3"/>
          <p:cNvSpPr>
            <a:spLocks noGrp="1"/>
          </p:cNvSpPr>
          <p:nvPr>
            <p:ph type="sldNum" sz="quarter" idx="10"/>
          </p:nvPr>
        </p:nvSpPr>
        <p:spPr/>
        <p:txBody>
          <a:bodyPr/>
          <a:lstStyle/>
          <a:p>
            <a:fld id="{18BDFEC3-8487-43E8-A154-7C12CBC1FFF2}" type="slidenum">
              <a:rPr lang="en-US"/>
              <a:t>26</a:t>
            </a:fld>
            <a:endParaRPr lang="en-US"/>
          </a:p>
        </p:txBody>
      </p:sp>
    </p:spTree>
  </p:cSld>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Data collection by firms - “digital footprint”</a:t>
            </a:r>
          </a:p>
          <a:p>
            <a:pPr lvl="0" indent="0" marL="0">
              <a:buNone/>
            </a:pPr>
          </a:p>
          <a:p>
            <a:pPr lvl="0" indent="0" marL="0">
              <a:buNone/>
            </a:pPr>
            <a:r>
              <a:rPr/>
              <a:t>Use of public intent data by businesse</a:t>
            </a:r>
          </a:p>
        </p:txBody>
      </p:sp>
      <p:sp>
        <p:nvSpPr>
          <p:cNvPr id="4" name="Slide Number Placeholder 3"/>
          <p:cNvSpPr>
            <a:spLocks noGrp="1"/>
          </p:cNvSpPr>
          <p:nvPr>
            <p:ph type="sldNum" sz="quarter" idx="10"/>
          </p:nvPr>
        </p:nvSpPr>
        <p:spPr/>
        <p:txBody>
          <a:bodyPr/>
          <a:lstStyle/>
          <a:p>
            <a:fld id="{18BDFEC3-8487-43E8-A154-7C12CBC1FFF2}" type="slidenum">
              <a:rPr lang="en-US"/>
              <a:t>27</a:t>
            </a:fld>
            <a:endParaRPr lang="en-US"/>
          </a:p>
        </p:txBody>
      </p:sp>
    </p:spTree>
  </p:cSld>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following sectors have been transformed by use of data in the production process.</a:t>
            </a:r>
          </a:p>
        </p:txBody>
      </p:sp>
      <p:sp>
        <p:nvSpPr>
          <p:cNvPr id="4" name="Slide Number Placeholder 3"/>
          <p:cNvSpPr>
            <a:spLocks noGrp="1"/>
          </p:cNvSpPr>
          <p:nvPr>
            <p:ph type="sldNum" sz="quarter" idx="10"/>
          </p:nvPr>
        </p:nvSpPr>
        <p:spPr/>
        <p:txBody>
          <a:bodyPr/>
          <a:lstStyle/>
          <a:p>
            <a:fld id="{18BDFEC3-8487-43E8-A154-7C12CBC1FFF2}" type="slidenum">
              <a:rPr lang="en-US"/>
              <a:t>28</a:t>
            </a:fld>
            <a:endParaRPr lang="en-US"/>
          </a:p>
        </p:txBody>
      </p:sp>
    </p:spTree>
  </p:cSld>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Alternative credit scoring algorithms</a:t>
            </a:r>
            <a:r>
              <a:rPr/>
              <a:t> - use of an individual’s digital footprint to train machine learning algorithms to identify, score, and underwrite credit.</a:t>
            </a:r>
          </a:p>
          <a:p>
            <a:pPr lvl="0" indent="0" marL="0">
              <a:buNone/>
            </a:pPr>
          </a:p>
          <a:p>
            <a:pPr lvl="0" indent="0" marL="0">
              <a:buNone/>
            </a:pPr>
            <a:r>
              <a:rPr b="1"/>
              <a:t>Payment systems</a:t>
            </a:r>
            <a:r>
              <a:rPr/>
              <a:t> - digital payments; mobile payments.</a:t>
            </a:r>
          </a:p>
          <a:p>
            <a:pPr lvl="0" indent="0" marL="0">
              <a:buNone/>
            </a:pPr>
          </a:p>
          <a:p>
            <a:pPr lvl="0" indent="0" marL="0">
              <a:buNone/>
            </a:pPr>
            <a:r>
              <a:rPr b="1"/>
              <a:t>Use of transaction data for product development</a:t>
            </a:r>
            <a:r>
              <a:rPr/>
              <a:t> - Mastercard’s Tourism Insights service allows leveraging big data to provide information on travellers’ preferences.</a:t>
            </a:r>
          </a:p>
          <a:p>
            <a:pPr lvl="0" indent="0" marL="0">
              <a:buNone/>
            </a:pPr>
          </a:p>
          <a:p>
            <a:pPr lvl="0" indent="0" marL="0">
              <a:buNone/>
            </a:pPr>
            <a:r>
              <a:rPr b="1"/>
              <a:t>Distributed ledger technology</a:t>
            </a:r>
            <a:r>
              <a:rPr/>
              <a:t> - blockchain; eliminates financial intermediaries; embedding rules into smart contracts simplifies negotiation and verification processes.</a:t>
            </a:r>
          </a:p>
        </p:txBody>
      </p:sp>
      <p:sp>
        <p:nvSpPr>
          <p:cNvPr id="4" name="Slide Number Placeholder 3"/>
          <p:cNvSpPr>
            <a:spLocks noGrp="1"/>
          </p:cNvSpPr>
          <p:nvPr>
            <p:ph type="sldNum" sz="quarter" idx="10"/>
          </p:nvPr>
        </p:nvSpPr>
        <p:spPr/>
        <p:txBody>
          <a:bodyPr/>
          <a:lstStyle/>
          <a:p>
            <a:fld id="{18BDFEC3-8487-43E8-A154-7C12CBC1FFF2}" type="slidenum">
              <a:rPr lang="en-US"/>
              <a:t>29</a:t>
            </a:fld>
            <a:endParaRPr lang="en-US"/>
          </a:p>
        </p:txBody>
      </p:sp>
    </p:spTree>
  </p:cSld>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Remote sensing and geographic information systems</a:t>
            </a:r>
            <a:r>
              <a:rPr/>
              <a:t> - analysis of these data provide insights into farming operations; smart farming</a:t>
            </a:r>
          </a:p>
          <a:p>
            <a:pPr lvl="0" indent="0" marL="0">
              <a:buNone/>
            </a:pPr>
          </a:p>
          <a:p>
            <a:pPr lvl="0" indent="0" marL="0">
              <a:buNone/>
            </a:pPr>
            <a:r>
              <a:rPr b="1"/>
              <a:t>Internet-of-things (IoT) and embedded devices</a:t>
            </a:r>
            <a:r>
              <a:rPr/>
              <a:t> for monitoring farm and livestock conditions and farm operations</a:t>
            </a:r>
          </a:p>
          <a:p>
            <a:pPr lvl="0" indent="0" marL="0">
              <a:buNone/>
            </a:pPr>
          </a:p>
          <a:p>
            <a:pPr lvl="0" indent="0" marL="0">
              <a:buNone/>
            </a:pPr>
            <a:r>
              <a:rPr/>
              <a:t>Use of data to provide a range of services along the agriculture value chain</a:t>
            </a:r>
          </a:p>
          <a:p>
            <a:pPr lvl="0" indent="0" marL="0">
              <a:buNone/>
            </a:pPr>
          </a:p>
          <a:p>
            <a:pPr lvl="0" indent="0" marL="0">
              <a:buNone/>
            </a:pPr>
            <a:r>
              <a:rPr/>
              <a:t>Use of data to improve food traceability</a:t>
            </a:r>
          </a:p>
        </p:txBody>
      </p:sp>
      <p:sp>
        <p:nvSpPr>
          <p:cNvPr id="4" name="Slide Number Placeholder 3"/>
          <p:cNvSpPr>
            <a:spLocks noGrp="1"/>
          </p:cNvSpPr>
          <p:nvPr>
            <p:ph type="sldNum" sz="quarter" idx="10"/>
          </p:nvPr>
        </p:nvSpPr>
        <p:spPr/>
        <p:txBody>
          <a:bodyPr/>
          <a:lstStyle/>
          <a:p>
            <a:fld id="{18BDFEC3-8487-43E8-A154-7C12CBC1FFF2}" type="slidenum">
              <a:rPr lang="en-US"/>
              <a:t>30</a:t>
            </a:fld>
            <a:endParaRPr lang="en-US"/>
          </a:p>
        </p:txBody>
      </p:sp>
    </p:spTree>
  </p:cSld>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video conferencing/video communication tools</a:t>
            </a:r>
          </a:p>
          <a:p>
            <a:pPr lvl="0" indent="0" marL="0">
              <a:buNone/>
            </a:pPr>
          </a:p>
          <a:p>
            <a:pPr lvl="0" indent="0" marL="0">
              <a:buNone/>
            </a:pPr>
            <a:r>
              <a:rPr/>
              <a:t>digital supplemental learning platforms</a:t>
            </a:r>
          </a:p>
          <a:p>
            <a:pPr lvl="0" indent="0" marL="0">
              <a:buNone/>
            </a:pPr>
          </a:p>
          <a:p>
            <a:pPr lvl="0" indent="0" marL="0">
              <a:buNone/>
            </a:pPr>
            <a:r>
              <a:rPr/>
              <a:t>intelligent adaptive education</a:t>
            </a:r>
          </a:p>
        </p:txBody>
      </p:sp>
      <p:sp>
        <p:nvSpPr>
          <p:cNvPr id="4" name="Slide Number Placeholder 3"/>
          <p:cNvSpPr>
            <a:spLocks noGrp="1"/>
          </p:cNvSpPr>
          <p:nvPr>
            <p:ph type="sldNum" sz="quarter" idx="10"/>
          </p:nvPr>
        </p:nvSpPr>
        <p:spPr/>
        <p:txBody>
          <a:bodyPr/>
          <a:lstStyle/>
          <a:p>
            <a:fld id="{18BDFEC3-8487-43E8-A154-7C12CBC1FFF2}" type="slidenum">
              <a:rPr lang="en-US"/>
              <a:t>31</a:t>
            </a:fld>
            <a:endParaRPr lang="en-US"/>
          </a:p>
        </p:txBody>
      </p:sp>
    </p:spTree>
  </p:cSld>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Digital freight matching</a:t>
            </a:r>
          </a:p>
          <a:p>
            <a:pPr lvl="0" indent="0" marL="0">
              <a:buNone/>
            </a:pPr>
          </a:p>
          <a:p>
            <a:pPr lvl="0" indent="0" marL="0">
              <a:buNone/>
            </a:pPr>
            <a:r>
              <a:rPr/>
              <a:t>Digital courier logistics</a:t>
            </a:r>
          </a:p>
          <a:p>
            <a:pPr lvl="0" indent="0" marL="0">
              <a:buNone/>
            </a:pPr>
          </a:p>
          <a:p>
            <a:pPr lvl="0" indent="0" marL="0">
              <a:buNone/>
            </a:pPr>
            <a:r>
              <a:rPr/>
              <a:t>IoT-enabled cold chain</a:t>
            </a:r>
          </a:p>
        </p:txBody>
      </p:sp>
      <p:sp>
        <p:nvSpPr>
          <p:cNvPr id="4" name="Slide Number Placeholder 3"/>
          <p:cNvSpPr>
            <a:spLocks noGrp="1"/>
          </p:cNvSpPr>
          <p:nvPr>
            <p:ph type="sldNum" sz="quarter" idx="10"/>
          </p:nvPr>
        </p:nvSpPr>
        <p:spPr/>
        <p:txBody>
          <a:bodyPr/>
          <a:lstStyle/>
          <a:p>
            <a:fld id="{18BDFEC3-8487-43E8-A154-7C12CBC1FFF2}" type="slidenum">
              <a:rPr lang="en-US"/>
              <a:t>32</a:t>
            </a:fld>
            <a:endParaRPr lang="en-US"/>
          </a:p>
        </p:txBody>
      </p:sp>
    </p:spTree>
  </p:cSld>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A platform business’s ability to gain market power depends on its business model, including the user groups it connects and how it generates revenue, which shape the types of data that provide competitive advantage.</a:t>
            </a:r>
          </a:p>
        </p:txBody>
      </p:sp>
      <p:sp>
        <p:nvSpPr>
          <p:cNvPr id="4" name="Slide Number Placeholder 3"/>
          <p:cNvSpPr>
            <a:spLocks noGrp="1"/>
          </p:cNvSpPr>
          <p:nvPr>
            <p:ph type="sldNum" sz="quarter" idx="10"/>
          </p:nvPr>
        </p:nvSpPr>
        <p:spPr/>
        <p:txBody>
          <a:bodyPr/>
          <a:lstStyle/>
          <a:p>
            <a:fld id="{18BDFEC3-8487-43E8-A154-7C12CBC1FFF2}" type="slidenum">
              <a:rPr lang="en-US"/>
              <a:t>33</a:t>
            </a:fld>
            <a:endParaRPr lang="en-US"/>
          </a:p>
        </p:txBody>
      </p:sp>
    </p:spTree>
  </p:cSld>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Proprietary data can give firms a strong competitive advantage because, after initial investment, additional data are inexpensive to generate. Improved targeting can attract more users, reinforcing network effects and creating scale advantages that can lead to winner-takes-most outcomes and high barriers for new entrants.</a:t>
            </a:r>
          </a:p>
          <a:p>
            <a:pPr lvl="0" indent="0" marL="0">
              <a:buNone/>
            </a:pPr>
          </a:p>
          <a:p>
            <a:pPr lvl="0" indent="0" marL="0">
              <a:buNone/>
            </a:pPr>
            <a:r>
              <a:rPr/>
              <a:t>Potential exploitation of individuals via excessive data collection, insufficient governance of data held by private firms, pricing, discrimination, and algorithmic risks, and indirect management of the workforce through algorithms</a:t>
            </a:r>
          </a:p>
          <a:p>
            <a:pPr lvl="0" indent="0" marL="0">
              <a:buNone/>
            </a:pPr>
          </a:p>
          <a:p>
            <a:pPr lvl="0" indent="0" marL="0">
              <a:buNone/>
            </a:pPr>
            <a:r>
              <a:rPr/>
              <a:t>Potential to increase inequality within and among countries</a:t>
            </a:r>
          </a:p>
        </p:txBody>
      </p:sp>
      <p:sp>
        <p:nvSpPr>
          <p:cNvPr id="4" name="Slide Number Placeholder 3"/>
          <p:cNvSpPr>
            <a:spLocks noGrp="1"/>
          </p:cNvSpPr>
          <p:nvPr>
            <p:ph type="sldNum" sz="quarter" idx="10"/>
          </p:nvPr>
        </p:nvSpPr>
        <p:spPr/>
        <p:txBody>
          <a:bodyPr/>
          <a:lstStyle/>
          <a:p>
            <a:fld id="{18BDFEC3-8487-43E8-A154-7C12CBC1FFF2}" type="slidenum">
              <a:rPr lang="en-US"/>
              <a:t>34</a:t>
            </a:fld>
            <a:endParaRPr lang="en-US"/>
          </a:p>
        </p:txBody>
      </p:sp>
    </p:spTree>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GB"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GB" dirty="0"/>
          </a:p>
        </p:txBody>
      </p:sp>
      <p:sp>
        <p:nvSpPr>
          <p:cNvPr id="4" name="Date Placeholder 3"/>
          <p:cNvSpPr>
            <a:spLocks noGrp="1"/>
          </p:cNvSpPr>
          <p:nvPr>
            <p:ph type="dt" sz="half" idx="10"/>
          </p:nvPr>
        </p:nvSpPr>
        <p:spPr/>
        <p:txBody>
          <a:bodyPr/>
          <a:lstStyle/>
          <a:p>
            <a:fld id="{846CE7D5-CF57-46EF-B807-FDD0502418D4}" type="datetimeFigureOut">
              <a:rPr lang="en-GB" smtClean="0"/>
              <a:t>13/01/2026</a:t>
            </a:fld>
            <a:endParaRPr lang="en-GB"/>
          </a:p>
        </p:txBody>
      </p:sp>
      <p:sp>
        <p:nvSpPr>
          <p:cNvPr id="5" name="Footer Placeholder 4"/>
          <p:cNvSpPr>
            <a:spLocks noGrp="1"/>
          </p:cNvSpPr>
          <p:nvPr>
            <p:ph type="ftr" sz="quarter" idx="11"/>
          </p:nvPr>
        </p:nvSpPr>
        <p:spPr/>
        <p:txBody>
          <a:bodyPr/>
          <a:lstStyle/>
          <a:p>
            <a:r>
              <a:rPr lang="en-GB"/>
              <a:t>Tâm Anh Oxford Partnership</a:t>
            </a:r>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2385387890"/>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GB"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Date Placeholder 3"/>
          <p:cNvSpPr>
            <a:spLocks noGrp="1"/>
          </p:cNvSpPr>
          <p:nvPr>
            <p:ph type="dt" sz="half" idx="10"/>
          </p:nvPr>
        </p:nvSpPr>
        <p:spPr/>
        <p:txBody>
          <a:bodyPr/>
          <a:lstStyle/>
          <a:p>
            <a:fld id="{846CE7D5-CF57-46EF-B807-FDD0502418D4}" type="datetimeFigureOut">
              <a:rPr lang="en-GB" smtClean="0"/>
              <a:t>13/01/2026</a:t>
            </a:fld>
            <a:endParaRPr lang="en-GB"/>
          </a:p>
        </p:txBody>
      </p:sp>
      <p:sp>
        <p:nvSpPr>
          <p:cNvPr id="5" name="Footer Placeholder 4"/>
          <p:cNvSpPr>
            <a:spLocks noGrp="1"/>
          </p:cNvSpPr>
          <p:nvPr>
            <p:ph type="ftr" sz="quarter" idx="11"/>
          </p:nvPr>
        </p:nvSpPr>
        <p:spPr/>
        <p:txBody>
          <a:bodyPr/>
          <a:lstStyle/>
          <a:p>
            <a:r>
              <a:rPr lang="en-GB"/>
              <a:t>Tâm Anh Oxford Partnership</a:t>
            </a:r>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949138452"/>
      </p:ext>
    </p:extLst>
  </p:cSld>
  <p:clrMapOvr>
    <a:masterClrMapping/>
  </p:clrMapOvr>
  <p:hf hd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GB"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GB" smtClean="0"/>
              <a:t>13/01/2026</a:t>
            </a:fld>
            <a:endParaRPr lang="en-GB"/>
          </a:p>
        </p:txBody>
      </p:sp>
      <p:sp>
        <p:nvSpPr>
          <p:cNvPr id="5" name="Footer Placeholder 4"/>
          <p:cNvSpPr>
            <a:spLocks noGrp="1"/>
          </p:cNvSpPr>
          <p:nvPr>
            <p:ph type="ftr" sz="quarter" idx="11"/>
          </p:nvPr>
        </p:nvSpPr>
        <p:spPr/>
        <p:txBody>
          <a:bodyPr/>
          <a:lstStyle/>
          <a:p>
            <a:r>
              <a:rPr lang="en-GB"/>
              <a:t>Tâm Anh Oxford Partnership</a:t>
            </a:r>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2591524520"/>
      </p:ext>
    </p:extLst>
  </p:cSld>
  <p:clrMapOvr>
    <a:masterClrMapping/>
  </p:clrMapOvr>
  <p:hf hd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GB" dirty="0"/>
          </a:p>
        </p:txBody>
      </p:sp>
      <p:sp>
        <p:nvSpPr>
          <p:cNvPr id="3" name="Content Placeholder 2"/>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Content Placeholder 3"/>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5" name="Date Placeholder 4"/>
          <p:cNvSpPr>
            <a:spLocks noGrp="1"/>
          </p:cNvSpPr>
          <p:nvPr>
            <p:ph type="dt" sz="half" idx="10"/>
          </p:nvPr>
        </p:nvSpPr>
        <p:spPr/>
        <p:txBody>
          <a:bodyPr/>
          <a:lstStyle/>
          <a:p>
            <a:fld id="{846CE7D5-CF57-46EF-B807-FDD0502418D4}" type="datetimeFigureOut">
              <a:rPr lang="en-GB" smtClean="0"/>
              <a:t>13/01/2026</a:t>
            </a:fld>
            <a:endParaRPr lang="en-GB"/>
          </a:p>
        </p:txBody>
      </p:sp>
      <p:sp>
        <p:nvSpPr>
          <p:cNvPr id="6" name="Footer Placeholder 5"/>
          <p:cNvSpPr>
            <a:spLocks noGrp="1"/>
          </p:cNvSpPr>
          <p:nvPr>
            <p:ph type="ftr" sz="quarter" idx="11"/>
          </p:nvPr>
        </p:nvSpPr>
        <p:spPr/>
        <p:txBody>
          <a:bodyPr/>
          <a:lstStyle/>
          <a:p>
            <a:r>
              <a:rPr lang="en-GB"/>
              <a:t>Tâm Anh Oxford Partnership</a:t>
            </a:r>
          </a:p>
        </p:txBody>
      </p:sp>
      <p:sp>
        <p:nvSpPr>
          <p:cNvPr id="7" name="Slide Number Placeholder 6"/>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1203092039"/>
      </p:ext>
    </p:extLst>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GB"/>
              <a:t>Click to edit Master title style</a:t>
            </a:r>
            <a:endParaRPr lang="en-GB"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7" name="Date Placeholder 6"/>
          <p:cNvSpPr>
            <a:spLocks noGrp="1"/>
          </p:cNvSpPr>
          <p:nvPr>
            <p:ph type="dt" sz="half" idx="10"/>
          </p:nvPr>
        </p:nvSpPr>
        <p:spPr/>
        <p:txBody>
          <a:bodyPr/>
          <a:lstStyle/>
          <a:p>
            <a:fld id="{846CE7D5-CF57-46EF-B807-FDD0502418D4}" type="datetimeFigureOut">
              <a:rPr lang="en-GB" smtClean="0"/>
              <a:t>13/01/2026</a:t>
            </a:fld>
            <a:endParaRPr lang="en-GB"/>
          </a:p>
        </p:txBody>
      </p:sp>
      <p:sp>
        <p:nvSpPr>
          <p:cNvPr id="8" name="Footer Placeholder 7"/>
          <p:cNvSpPr>
            <a:spLocks noGrp="1"/>
          </p:cNvSpPr>
          <p:nvPr>
            <p:ph type="ftr" sz="quarter" idx="11"/>
          </p:nvPr>
        </p:nvSpPr>
        <p:spPr/>
        <p:txBody>
          <a:bodyPr/>
          <a:lstStyle/>
          <a:p>
            <a:r>
              <a:rPr lang="en-GB"/>
              <a:t>Tâm Anh Oxford Partnership</a:t>
            </a:r>
          </a:p>
        </p:txBody>
      </p:sp>
      <p:sp>
        <p:nvSpPr>
          <p:cNvPr id="9" name="Slide Number Placeholder 8"/>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733172339"/>
      </p:ext>
    </p:extLst>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GB" dirty="0"/>
          </a:p>
        </p:txBody>
      </p:sp>
      <p:sp>
        <p:nvSpPr>
          <p:cNvPr id="3" name="Date Placeholder 2"/>
          <p:cNvSpPr>
            <a:spLocks noGrp="1"/>
          </p:cNvSpPr>
          <p:nvPr>
            <p:ph type="dt" sz="half" idx="10"/>
          </p:nvPr>
        </p:nvSpPr>
        <p:spPr/>
        <p:txBody>
          <a:bodyPr/>
          <a:lstStyle/>
          <a:p>
            <a:fld id="{846CE7D5-CF57-46EF-B807-FDD0502418D4}" type="datetimeFigureOut">
              <a:rPr lang="en-GB" smtClean="0"/>
              <a:t>13/01/2026</a:t>
            </a:fld>
            <a:endParaRPr lang="en-GB"/>
          </a:p>
        </p:txBody>
      </p:sp>
      <p:sp>
        <p:nvSpPr>
          <p:cNvPr id="4" name="Footer Placeholder 3"/>
          <p:cNvSpPr>
            <a:spLocks noGrp="1"/>
          </p:cNvSpPr>
          <p:nvPr>
            <p:ph type="ftr" sz="quarter" idx="11"/>
          </p:nvPr>
        </p:nvSpPr>
        <p:spPr/>
        <p:txBody>
          <a:bodyPr/>
          <a:lstStyle/>
          <a:p>
            <a:r>
              <a:rPr lang="en-GB"/>
              <a:t>Tâm Anh Oxford Partnership</a:t>
            </a:r>
          </a:p>
        </p:txBody>
      </p:sp>
      <p:sp>
        <p:nvSpPr>
          <p:cNvPr id="5" name="Slide Number Placeholder 4"/>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210312558"/>
      </p:ext>
    </p:extLst>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GB" smtClean="0"/>
              <a:t>13/01/2026</a:t>
            </a:fld>
            <a:endParaRPr lang="en-GB"/>
          </a:p>
        </p:txBody>
      </p:sp>
      <p:sp>
        <p:nvSpPr>
          <p:cNvPr id="3" name="Footer Placeholder 2"/>
          <p:cNvSpPr>
            <a:spLocks noGrp="1"/>
          </p:cNvSpPr>
          <p:nvPr>
            <p:ph type="ftr" sz="quarter" idx="11"/>
          </p:nvPr>
        </p:nvSpPr>
        <p:spPr/>
        <p:txBody>
          <a:bodyPr/>
          <a:lstStyle/>
          <a:p>
            <a:r>
              <a:rPr lang="en-GB"/>
              <a:t>Tâm Anh Oxford Partnership</a:t>
            </a:r>
          </a:p>
        </p:txBody>
      </p:sp>
      <p:sp>
        <p:nvSpPr>
          <p:cNvPr id="4" name="Slide Number Placeholder 3"/>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146388984"/>
      </p:ext>
    </p:extLst>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GB"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GB" smtClean="0"/>
              <a:t>13/01/2026</a:t>
            </a:fld>
            <a:endParaRPr lang="en-GB"/>
          </a:p>
        </p:txBody>
      </p:sp>
      <p:sp>
        <p:nvSpPr>
          <p:cNvPr id="6" name="Footer Placeholder 5"/>
          <p:cNvSpPr>
            <a:spLocks noGrp="1"/>
          </p:cNvSpPr>
          <p:nvPr>
            <p:ph type="ftr" sz="quarter" idx="11"/>
          </p:nvPr>
        </p:nvSpPr>
        <p:spPr/>
        <p:txBody>
          <a:bodyPr/>
          <a:lstStyle/>
          <a:p>
            <a:r>
              <a:rPr lang="en-GB"/>
              <a:t>Tâm Anh Oxford Partnership</a:t>
            </a:r>
          </a:p>
        </p:txBody>
      </p:sp>
      <p:sp>
        <p:nvSpPr>
          <p:cNvPr id="7" name="Slide Number Placeholder 6"/>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171841454"/>
      </p:ext>
    </p:extLst>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GB"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GB"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GB" smtClean="0"/>
              <a:t>13/01/2026</a:t>
            </a:fld>
            <a:endParaRPr lang="en-GB"/>
          </a:p>
        </p:txBody>
      </p:sp>
      <p:sp>
        <p:nvSpPr>
          <p:cNvPr id="6" name="Footer Placeholder 5"/>
          <p:cNvSpPr>
            <a:spLocks noGrp="1"/>
          </p:cNvSpPr>
          <p:nvPr>
            <p:ph type="ftr" sz="quarter" idx="11"/>
          </p:nvPr>
        </p:nvSpPr>
        <p:spPr/>
        <p:txBody>
          <a:bodyPr/>
          <a:lstStyle/>
          <a:p>
            <a:r>
              <a:rPr lang="en-GB"/>
              <a:t>Tâm Anh Oxford Partnership</a:t>
            </a:r>
          </a:p>
        </p:txBody>
      </p:sp>
      <p:sp>
        <p:nvSpPr>
          <p:cNvPr id="7" name="Slide Number Placeholder 6"/>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1718958274"/>
      </p:ext>
    </p:extLst>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GB" dirty="0"/>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Date Placeholder 3"/>
          <p:cNvSpPr>
            <a:spLocks noGrp="1"/>
          </p:cNvSpPr>
          <p:nvPr>
            <p:ph type="dt" sz="half" idx="10"/>
          </p:nvPr>
        </p:nvSpPr>
        <p:spPr/>
        <p:txBody>
          <a:bodyPr/>
          <a:lstStyle/>
          <a:p>
            <a:fld id="{846CE7D5-CF57-46EF-B807-FDD0502418D4}" type="datetimeFigureOut">
              <a:rPr lang="en-GB" smtClean="0"/>
              <a:t>13/01/2026</a:t>
            </a:fld>
            <a:endParaRPr lang="en-GB"/>
          </a:p>
        </p:txBody>
      </p:sp>
      <p:sp>
        <p:nvSpPr>
          <p:cNvPr id="5" name="Footer Placeholder 4"/>
          <p:cNvSpPr>
            <a:spLocks noGrp="1"/>
          </p:cNvSpPr>
          <p:nvPr>
            <p:ph type="ftr" sz="quarter" idx="11"/>
          </p:nvPr>
        </p:nvSpPr>
        <p:spPr/>
        <p:txBody>
          <a:bodyPr/>
          <a:lstStyle/>
          <a:p>
            <a:r>
              <a:rPr lang="en-GB"/>
              <a:t>Tâm Anh Oxford Partnership</a:t>
            </a:r>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2202905451"/>
      </p:ext>
    </p:extLst>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GB"/>
              <a:t>Click to edit Master title style</a:t>
            </a:r>
            <a:endParaRPr lang="en-GB"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Date Placeholder 3"/>
          <p:cNvSpPr>
            <a:spLocks noGrp="1"/>
          </p:cNvSpPr>
          <p:nvPr>
            <p:ph type="dt" sz="half" idx="10"/>
          </p:nvPr>
        </p:nvSpPr>
        <p:spPr/>
        <p:txBody>
          <a:bodyPr/>
          <a:lstStyle/>
          <a:p>
            <a:fld id="{846CE7D5-CF57-46EF-B807-FDD0502418D4}" type="datetimeFigureOut">
              <a:rPr lang="en-GB" smtClean="0"/>
              <a:t>13/01/2026</a:t>
            </a:fld>
            <a:endParaRPr lang="en-GB"/>
          </a:p>
        </p:txBody>
      </p:sp>
      <p:sp>
        <p:nvSpPr>
          <p:cNvPr id="5" name="Footer Placeholder 4"/>
          <p:cNvSpPr>
            <a:spLocks noGrp="1"/>
          </p:cNvSpPr>
          <p:nvPr>
            <p:ph type="ftr" sz="quarter" idx="11"/>
          </p:nvPr>
        </p:nvSpPr>
        <p:spPr/>
        <p:txBody>
          <a:bodyPr/>
          <a:lstStyle/>
          <a:p>
            <a:r>
              <a:rPr lang="en-GB"/>
              <a:t>Tâm Anh Oxford Partnership</a:t>
            </a:r>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479445657"/>
      </p:ext>
    </p:extLst>
  </p:cSld>
  <p:clrMapOvr>
    <a:masterClrMapping/>
  </p:clrMapOvr>
  <p:hf hdr="0" dt="0"/>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anchor="ctr" bIns="45720" lIns="91440" rIns="91440" rtlCol="0" tIns="45720" vert="horz">
            <a:normAutofit/>
          </a:bodyPr>
          <a:lstStyle/>
          <a:p>
            <a:r>
              <a:rPr lang="en-GB"/>
              <a:t>Click to edit Master title style</a:t>
            </a:r>
            <a:endParaRPr dirty="0" lang="en-GB"/>
          </a:p>
        </p:txBody>
      </p:sp>
      <p:sp>
        <p:nvSpPr>
          <p:cNvPr id="3" name="Text Placeholder 2"/>
          <p:cNvSpPr>
            <a:spLocks noGrp="1"/>
          </p:cNvSpPr>
          <p:nvPr>
            <p:ph idx="1" type="body"/>
          </p:nvPr>
        </p:nvSpPr>
        <p:spPr>
          <a:xfrm>
            <a:off x="838200" y="1825625"/>
            <a:ext cx="10515600" cy="4351338"/>
          </a:xfrm>
          <a:prstGeom prst="rect">
            <a:avLst/>
          </a:prstGeom>
        </p:spPr>
        <p:txBody>
          <a:bodyPr bIns="45720" lIns="91440" rIns="91440" rtlCol="0" tIns="45720" vert="horz">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dirty="0" lang="en-GB"/>
          </a:p>
        </p:txBody>
      </p:sp>
      <p:sp>
        <p:nvSpPr>
          <p:cNvPr id="4" name="Date Placeholder 3"/>
          <p:cNvSpPr>
            <a:spLocks noGrp="1"/>
          </p:cNvSpPr>
          <p:nvPr>
            <p:ph idx="2" sz="half" type="dt"/>
          </p:nvPr>
        </p:nvSpPr>
        <p:spPr>
          <a:xfrm>
            <a:off x="838200" y="6356350"/>
            <a:ext cx="2743200" cy="365125"/>
          </a:xfrm>
          <a:prstGeom prst="rect">
            <a:avLst/>
          </a:prstGeom>
        </p:spPr>
        <p:txBody>
          <a:bodyPr anchor="ctr" bIns="45720" lIns="91440" rIns="91440" rtlCol="0" tIns="45720" vert="horz"/>
          <a:lstStyle>
            <a:lvl1pPr algn="l">
              <a:defRPr sz="1200">
                <a:solidFill>
                  <a:schemeClr val="tx1">
                    <a:tint val="82000"/>
                  </a:schemeClr>
                </a:solidFill>
              </a:defRPr>
            </a:lvl1pPr>
          </a:lstStyle>
          <a:p>
            <a:fld id="{846CE7D5-CF57-46EF-B807-FDD0502418D4}" type="datetimeFigureOut">
              <a:rPr lang="en-GB" smtClean="0"/>
              <a:t>13/01/2026</a:t>
            </a:fld>
            <a:endParaRPr lang="en-GB"/>
          </a:p>
        </p:txBody>
      </p:sp>
      <p:sp>
        <p:nvSpPr>
          <p:cNvPr id="5" name="Footer Placeholder 4"/>
          <p:cNvSpPr>
            <a:spLocks noGrp="1"/>
          </p:cNvSpPr>
          <p:nvPr>
            <p:ph idx="3" sz="quarter" type="ftr"/>
          </p:nvPr>
        </p:nvSpPr>
        <p:spPr>
          <a:xfrm>
            <a:off x="4038600" y="6356350"/>
            <a:ext cx="4114800" cy="365125"/>
          </a:xfrm>
          <a:prstGeom prst="rect">
            <a:avLst/>
          </a:prstGeom>
        </p:spPr>
        <p:txBody>
          <a:bodyPr anchor="ctr" bIns="45720" lIns="91440" rIns="91440" rtlCol="0" tIns="45720" vert="horz"/>
          <a:lstStyle>
            <a:lvl1pPr algn="ctr">
              <a:defRPr sz="1200">
                <a:solidFill>
                  <a:schemeClr val="tx1">
                    <a:tint val="82000"/>
                  </a:schemeClr>
                </a:solidFill>
              </a:defRPr>
            </a:lvl1pPr>
          </a:lstStyle>
          <a:p>
            <a:r>
              <a:rPr lang="en-GB"/>
              <a:t>Tâm Anh Oxford Partnership</a:t>
            </a:r>
          </a:p>
        </p:txBody>
      </p:sp>
      <p:sp>
        <p:nvSpPr>
          <p:cNvPr id="6" name="Slide Number Placeholder 5"/>
          <p:cNvSpPr>
            <a:spLocks noGrp="1"/>
          </p:cNvSpPr>
          <p:nvPr>
            <p:ph idx="4" sz="quarter" type="sldNum"/>
          </p:nvPr>
        </p:nvSpPr>
        <p:spPr>
          <a:xfrm>
            <a:off x="8610600" y="6356350"/>
            <a:ext cx="2743200" cy="365125"/>
          </a:xfrm>
          <a:prstGeom prst="rect">
            <a:avLst/>
          </a:prstGeom>
        </p:spPr>
        <p:txBody>
          <a:bodyPr anchor="ctr" bIns="45720" lIns="91440" rIns="91440" rtlCol="0" tIns="45720" vert="horz"/>
          <a:lstStyle>
            <a:lvl1pPr algn="r">
              <a:defRPr sz="1200">
                <a:solidFill>
                  <a:schemeClr val="tx1">
                    <a:tint val="82000"/>
                  </a:schemeClr>
                </a:solidFill>
              </a:defRPr>
            </a:lvl1pPr>
          </a:lstStyle>
          <a:p>
            <a:fld id="{330EA680-D336-4FF7-8B7A-9848BB0A1C32}" type="slidenum">
              <a:rPr lang="en-GB" smtClean="0"/>
              <a:t>‹#›</a:t>
            </a:fld>
            <a:endParaRPr lang="en-GB"/>
          </a:p>
        </p:txBody>
      </p:sp>
    </p:spTree>
    <p:extLst>
      <p:ext uri="{BB962C8B-B14F-4D97-AF65-F5344CB8AC3E}">
        <p14:creationId xmlns:p14="http://schemas.microsoft.com/office/powerpoint/2010/main" val="2460954070"/>
      </p:ext>
    </p:extLst>
  </p:cSld>
  <p:clrMap accent1="accent1" accent2="accent2" accent3="accent3" accent4="accent4" accent5="accent5" accent6="accent6" bg1="lt1" bg2="lt2" folHlink="folHlink" hlink="hlink" tx1="dk1" tx2="dk2"/>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dt="0" hdr="0"/>
  <p:txStyles>
    <p:titleStyle>
      <a:lvl1pPr algn="l" defTabSz="914400" eaLnBrk="1" hangingPunct="1" latinLnBrk="0" rtl="0">
        <a:lnSpc>
          <a:spcPct val="90000"/>
        </a:lnSpc>
        <a:spcBef>
          <a:spcPct val="0"/>
        </a:spcBef>
        <a:buNone/>
        <a:defRPr kern="1200" sz="4400">
          <a:solidFill>
            <a:schemeClr val="tx1"/>
          </a:solidFill>
          <a:latin typeface="+mj-lt"/>
          <a:ea typeface="+mj-ea"/>
          <a:cs typeface="+mj-cs"/>
        </a:defRPr>
      </a:lvl1pPr>
    </p:titleStyle>
    <p:bodyStyle>
      <a:lvl1pPr algn="l" defTabSz="914400" eaLnBrk="1" hangingPunct="1" indent="-228600" latinLnBrk="0" marL="228600" rtl="0">
        <a:lnSpc>
          <a:spcPct val="90000"/>
        </a:lnSpc>
        <a:spcBef>
          <a:spcPts val="1000"/>
        </a:spcBef>
        <a:buFont charset="0" panose="020B0604020202020204" pitchFamily="34" typeface="Arial"/>
        <a:buChar char="•"/>
        <a:defRPr kern="1200" sz="2800">
          <a:solidFill>
            <a:schemeClr val="tx1"/>
          </a:solidFill>
          <a:latin typeface="+mn-lt"/>
          <a:ea typeface="+mn-ea"/>
          <a:cs typeface="+mn-cs"/>
        </a:defRPr>
      </a:lvl1pPr>
      <a:lvl2pPr algn="l" defTabSz="914400" eaLnBrk="1" hangingPunct="1" indent="-228600" latinLnBrk="0" marL="685800" rtl="0">
        <a:lnSpc>
          <a:spcPct val="90000"/>
        </a:lnSpc>
        <a:spcBef>
          <a:spcPts val="500"/>
        </a:spcBef>
        <a:buFont charset="0" panose="020B0604020202020204" pitchFamily="34" typeface="Arial"/>
        <a:buChar char="•"/>
        <a:defRPr kern="1200" sz="2400">
          <a:solidFill>
            <a:schemeClr val="tx1"/>
          </a:solidFill>
          <a:latin typeface="+mn-lt"/>
          <a:ea typeface="+mn-ea"/>
          <a:cs typeface="+mn-cs"/>
        </a:defRPr>
      </a:lvl2pPr>
      <a:lvl3pPr algn="l" defTabSz="914400" eaLnBrk="1" hangingPunct="1" indent="-228600" latinLnBrk="0" marL="1143000" rtl="0">
        <a:lnSpc>
          <a:spcPct val="90000"/>
        </a:lnSpc>
        <a:spcBef>
          <a:spcPts val="500"/>
        </a:spcBef>
        <a:buFont charset="0" panose="020B0604020202020204" pitchFamily="34" typeface="Arial"/>
        <a:buChar char="•"/>
        <a:defRPr kern="1200" sz="2000">
          <a:solidFill>
            <a:schemeClr val="tx1"/>
          </a:solidFill>
          <a:latin typeface="+mn-lt"/>
          <a:ea typeface="+mn-ea"/>
          <a:cs typeface="+mn-cs"/>
        </a:defRPr>
      </a:lvl3pPr>
      <a:lvl4pPr algn="l" defTabSz="914400" eaLnBrk="1" hangingPunct="1" indent="-228600" latinLnBrk="0" marL="16002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4pPr>
      <a:lvl5pPr algn="l" defTabSz="914400" eaLnBrk="1" hangingPunct="1" indent="-228600" latinLnBrk="0" marL="20574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5pPr>
      <a:lvl6pPr algn="l" defTabSz="914400" eaLnBrk="1" hangingPunct="1" indent="-228600" latinLnBrk="0" marL="25146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6pPr>
      <a:lvl7pPr algn="l" defTabSz="914400" eaLnBrk="1" hangingPunct="1" indent="-228600" latinLnBrk="0" marL="29718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7pPr>
      <a:lvl8pPr algn="l" defTabSz="914400" eaLnBrk="1" hangingPunct="1" indent="-228600" latinLnBrk="0" marL="34290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8pPr>
      <a:lvl9pPr algn="l" defTabSz="914400" eaLnBrk="1" hangingPunct="1" indent="-228600" latinLnBrk="0" marL="38862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9pPr>
    </p:bodyStyle>
    <p:otherStyle>
      <a:defPPr>
        <a:defRPr lang="en-GB"/>
      </a:defPPr>
      <a:lvl1pPr algn="l" defTabSz="914400" eaLnBrk="1" hangingPunct="1" latinLnBrk="0" marL="0" rtl="0">
        <a:defRPr kern="1200" sz="1800">
          <a:solidFill>
            <a:schemeClr val="tx1"/>
          </a:solidFill>
          <a:latin typeface="+mn-lt"/>
          <a:ea typeface="+mn-ea"/>
          <a:cs typeface="+mn-cs"/>
        </a:defRPr>
      </a:lvl1pPr>
      <a:lvl2pPr algn="l" defTabSz="914400" eaLnBrk="1" hangingPunct="1" latinLnBrk="0" marL="457200" rtl="0">
        <a:defRPr kern="1200" sz="1800">
          <a:solidFill>
            <a:schemeClr val="tx1"/>
          </a:solidFill>
          <a:latin typeface="+mn-lt"/>
          <a:ea typeface="+mn-ea"/>
          <a:cs typeface="+mn-cs"/>
        </a:defRPr>
      </a:lvl2pPr>
      <a:lvl3pPr algn="l" defTabSz="914400" eaLnBrk="1" hangingPunct="1" latinLnBrk="0" marL="914400" rtl="0">
        <a:defRPr kern="1200" sz="1800">
          <a:solidFill>
            <a:schemeClr val="tx1"/>
          </a:solidFill>
          <a:latin typeface="+mn-lt"/>
          <a:ea typeface="+mn-ea"/>
          <a:cs typeface="+mn-cs"/>
        </a:defRPr>
      </a:lvl3pPr>
      <a:lvl4pPr algn="l" defTabSz="914400" eaLnBrk="1" hangingPunct="1" latinLnBrk="0" marL="1371600" rtl="0">
        <a:defRPr kern="1200" sz="1800">
          <a:solidFill>
            <a:schemeClr val="tx1"/>
          </a:solidFill>
          <a:latin typeface="+mn-lt"/>
          <a:ea typeface="+mn-ea"/>
          <a:cs typeface="+mn-cs"/>
        </a:defRPr>
      </a:lvl4pPr>
      <a:lvl5pPr algn="l" defTabSz="914400" eaLnBrk="1" hangingPunct="1" latinLnBrk="0" marL="1828800" rtl="0">
        <a:defRPr kern="1200" sz="1800">
          <a:solidFill>
            <a:schemeClr val="tx1"/>
          </a:solidFill>
          <a:latin typeface="+mn-lt"/>
          <a:ea typeface="+mn-ea"/>
          <a:cs typeface="+mn-cs"/>
        </a:defRPr>
      </a:lvl5pPr>
      <a:lvl6pPr algn="l" defTabSz="914400" eaLnBrk="1" hangingPunct="1" latinLnBrk="0" marL="2286000" rtl="0">
        <a:defRPr kern="1200" sz="1800">
          <a:solidFill>
            <a:schemeClr val="tx1"/>
          </a:solidFill>
          <a:latin typeface="+mn-lt"/>
          <a:ea typeface="+mn-ea"/>
          <a:cs typeface="+mn-cs"/>
        </a:defRPr>
      </a:lvl6pPr>
      <a:lvl7pPr algn="l" defTabSz="914400" eaLnBrk="1" hangingPunct="1" latinLnBrk="0" marL="2743200" rtl="0">
        <a:defRPr kern="1200" sz="1800">
          <a:solidFill>
            <a:schemeClr val="tx1"/>
          </a:solidFill>
          <a:latin typeface="+mn-lt"/>
          <a:ea typeface="+mn-ea"/>
          <a:cs typeface="+mn-cs"/>
        </a:defRPr>
      </a:lvl7pPr>
      <a:lvl8pPr algn="l" defTabSz="914400" eaLnBrk="1" hangingPunct="1" latinLnBrk="0" marL="3200400" rtl="0">
        <a:defRPr kern="1200" sz="1800">
          <a:solidFill>
            <a:schemeClr val="tx1"/>
          </a:solidFill>
          <a:latin typeface="+mn-lt"/>
          <a:ea typeface="+mn-ea"/>
          <a:cs typeface="+mn-cs"/>
        </a:defRPr>
      </a:lvl8pPr>
      <a:lvl9pPr algn="l" defTabSz="914400" eaLnBrk="1" hangingPunct="1" latinLnBrk="0" marL="3657600" rtl="0">
        <a:defRPr kern="1200" sz="180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3.xml" /><Relationship Id="rId3" Type="http://schemas.openxmlformats.org/officeDocument/2006/relationships/image" Target="../media/image2.jpg"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xml" /><Relationship Id="rId3" Type="http://schemas.openxmlformats.org/officeDocument/2006/relationships/image" Target="../media/image3.png"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6.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7.xml" /></Relationships>
</file>

<file path=ppt/slides/_rels/slide1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8.xml" /></Relationships>
</file>

<file path=ppt/slides/_rels/slide1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9.xml" /><Relationship Id="rId3" Type="http://schemas.openxmlformats.org/officeDocument/2006/relationships/image" Target="../media/image4.png" /></Relationships>
</file>

<file path=ppt/slides/_rels/slide1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0.xml" /></Relationships>
</file>

<file path=ppt/slides/_rels/slide1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1.xml" /></Relationships>
</file>

<file path=ppt/slides/_rels/slide19.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12.xml" /><Relationship Id="rId3" Type="http://schemas.openxmlformats.org/officeDocument/2006/relationships/image" Target="../media/image5.png" /></Relationships>
</file>

<file path=ppt/slides/_rels/slide20.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13.xml" /><Relationship Id="rId3" Type="http://schemas.openxmlformats.org/officeDocument/2006/relationships/image" Target="../media/image6.png" /></Relationships>
</file>

<file path=ppt/slides/_rels/slide2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4.xml" /></Relationships>
</file>

<file path=ppt/slides/_rels/slide2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5.xml" /></Relationships>
</file>

<file path=ppt/slides/_rels/slide2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6.xml" /></Relationships>
</file>

<file path=ppt/slides/_rels/slide2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7.xml" /></Relationships>
</file>

<file path=ppt/slides/_rels/slide2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8.xml" /><Relationship Id="rId3" Type="http://schemas.openxmlformats.org/officeDocument/2006/relationships/image" Target="../media/image7.png" /></Relationships>
</file>

<file path=ppt/slides/_rels/slide2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9.xml" /><Relationship Id="rId3" Type="http://schemas.openxmlformats.org/officeDocument/2006/relationships/image" Target="../media/image8.png" /></Relationships>
</file>

<file path=ppt/slides/_rels/slide2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0.xml" /></Relationships>
</file>

<file path=ppt/slides/_rels/slide2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1.xml" /></Relationships>
</file>

<file path=ppt/slides/_rels/slide2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2.xml" /></Relationships>
</file>

<file path=ppt/slides/_rels/slide3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3.xml" /></Relationships>
</file>

<file path=ppt/slides/_rels/slide3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4.xml" /></Relationships>
</file>

<file path=ppt/slides/_rels/slide3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5.xml" /></Relationships>
</file>

<file path=ppt/slides/_rels/slide3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6.xml" /><Relationship Id="rId3" Type="http://schemas.openxmlformats.org/officeDocument/2006/relationships/image" Target="../media/image9.png" /></Relationships>
</file>

<file path=ppt/slides/_rels/slide3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7.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lstStyle/>
          <a:p>
            <a:pPr lvl="0" indent="0" marL="0">
              <a:buNone/>
            </a:pPr>
            <a:r>
              <a:rPr/>
              <a:t>Session 1</a:t>
            </a:r>
          </a:p>
        </p:txBody>
      </p:sp>
      <p:sp>
        <p:nvSpPr>
          <p:cNvPr id="3" name="Subtitle 2"/>
          <p:cNvSpPr>
            <a:spLocks noGrp="1"/>
          </p:cNvSpPr>
          <p:nvPr>
            <p:ph idx="1" type="subTitle"/>
          </p:nvPr>
        </p:nvSpPr>
        <p:spPr>
          <a:xfrm>
            <a:off x="1524000" y="3602038"/>
            <a:ext cx="9144000" cy="1655762"/>
          </a:xfrm>
        </p:spPr>
        <p:txBody>
          <a:bodyPr/>
          <a:lstStyle/>
          <a:p>
            <a:pPr lvl="0" indent="0" marL="0">
              <a:buNone/>
            </a:pPr>
            <a:r>
              <a:rPr/>
              <a:t>Global landscape of data governance institutions and frameworks</a:t>
            </a:r>
            <a:br/>
            <a:br/>
            <a:r>
              <a:rPr/>
              <a:t>Ernest Guevarra</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Definitions</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What is data?</a:t>
            </a:r>
          </a:p>
        </p:txBody>
      </p:sp>
      <p:sp>
        <p:nvSpPr>
          <p:cNvPr id="3" name="Content Placeholder 2"/>
          <p:cNvSpPr>
            <a:spLocks noGrp="1"/>
          </p:cNvSpPr>
          <p:nvPr>
            <p:ph idx="1"/>
          </p:nvPr>
        </p:nvSpPr>
        <p:spPr/>
        <p:txBody>
          <a:bodyPr/>
          <a:lstStyle/>
          <a:p>
            <a:pPr lvl="0" indent="0" marL="0">
              <a:buNone/>
            </a:pPr>
            <a:r>
              <a:rPr/>
              <a:t>“When we refer to data, we mean information about </a:t>
            </a:r>
            <a:r>
              <a:rPr b="1"/>
              <a:t>people</a:t>
            </a:r>
            <a:r>
              <a:rPr/>
              <a:t>, </a:t>
            </a:r>
            <a:r>
              <a:rPr b="1"/>
              <a:t>things</a:t>
            </a:r>
            <a:r>
              <a:rPr/>
              <a:t> and </a:t>
            </a:r>
            <a:r>
              <a:rPr b="1"/>
              <a:t>systems</a:t>
            </a:r>
            <a:r>
              <a:rPr/>
              <a:t>. … Data about people can include </a:t>
            </a:r>
            <a:r>
              <a:rPr b="1"/>
              <a:t>personal data</a:t>
            </a:r>
            <a:r>
              <a:rPr/>
              <a:t>, such as </a:t>
            </a:r>
            <a:r>
              <a:rPr i="1"/>
              <a:t>basic contact details</a:t>
            </a:r>
            <a:r>
              <a:rPr/>
              <a:t>, records generated through </a:t>
            </a:r>
            <a:r>
              <a:rPr i="1"/>
              <a:t>interaction with services</a:t>
            </a:r>
            <a:r>
              <a:rPr/>
              <a:t> or the </a:t>
            </a:r>
            <a:r>
              <a:rPr i="1"/>
              <a:t>web</a:t>
            </a:r>
            <a:r>
              <a:rPr/>
              <a:t>, or information about their </a:t>
            </a:r>
            <a:r>
              <a:rPr i="1"/>
              <a:t>physical characteristics (biometrics)</a:t>
            </a:r>
            <a:r>
              <a:rPr/>
              <a:t> - and it can also extend to </a:t>
            </a:r>
            <a:r>
              <a:rPr b="1"/>
              <a:t>population-level data</a:t>
            </a:r>
            <a:r>
              <a:rPr/>
              <a:t>, such as </a:t>
            </a:r>
            <a:r>
              <a:rPr i="1"/>
              <a:t>demographics</a:t>
            </a:r>
            <a:r>
              <a:rPr/>
              <a:t>. Data can also be about </a:t>
            </a:r>
            <a:r>
              <a:rPr b="1"/>
              <a:t>systems and infrastructure</a:t>
            </a:r>
            <a:r>
              <a:rPr/>
              <a:t>, such as </a:t>
            </a:r>
            <a:r>
              <a:rPr i="1"/>
              <a:t>administrative records</a:t>
            </a:r>
            <a:r>
              <a:rPr/>
              <a:t> about businesses and public services. Data is increasingly used to describe </a:t>
            </a:r>
            <a:r>
              <a:rPr b="1"/>
              <a:t>location</a:t>
            </a:r>
            <a:r>
              <a:rPr/>
              <a:t>, such as </a:t>
            </a:r>
            <a:r>
              <a:rPr i="1"/>
              <a:t>geospatial reference</a:t>
            </a:r>
            <a:r>
              <a:rPr/>
              <a:t> details, and the </a:t>
            </a:r>
            <a:r>
              <a:rPr i="1"/>
              <a:t>environment</a:t>
            </a:r>
            <a:r>
              <a:rPr/>
              <a:t> we live in, such as data about </a:t>
            </a:r>
            <a:r>
              <a:rPr i="1"/>
              <a:t>biodiversity</a:t>
            </a:r>
            <a:r>
              <a:rPr/>
              <a:t> or the </a:t>
            </a:r>
            <a:r>
              <a:rPr i="1"/>
              <a:t>weather</a:t>
            </a:r>
            <a:r>
              <a:rPr/>
              <a:t>. It can also refer to the information generated by the </a:t>
            </a:r>
            <a:r>
              <a:rPr i="1"/>
              <a:t>burgeoning web of sensors</a:t>
            </a:r>
            <a:r>
              <a:rPr/>
              <a:t> that make up the </a:t>
            </a:r>
            <a:r>
              <a:rPr i="1"/>
              <a:t>Internet of Things</a:t>
            </a:r>
            <a:r>
              <a:rPr/>
              <a:t>.”</a:t>
            </a:r>
          </a:p>
          <a:p>
            <a:pPr lvl="0" indent="0">
              <a:buNone/>
            </a:pPr>
            <a:r>
              <a:rPr>
                <a:latin typeface="Courier"/>
              </a:rPr>
              <a:t>                                                 - UK National Data Strategy</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What is data governance?</a:t>
            </a:r>
          </a:p>
        </p:txBody>
      </p:sp>
      <p:sp>
        <p:nvSpPr>
          <p:cNvPr id="3" name="Content Placeholder 2"/>
          <p:cNvSpPr>
            <a:spLocks noGrp="1"/>
          </p:cNvSpPr>
          <p:nvPr>
            <p:ph idx="1" sz="half"/>
          </p:nvPr>
        </p:nvSpPr>
        <p:spPr/>
        <p:txBody>
          <a:bodyPr/>
          <a:lstStyle/>
          <a:p>
            <a:pPr lvl="0" indent="0" marL="0">
              <a:buNone/>
            </a:pPr>
            <a:r>
              <a:rPr/>
              <a:t>A system of </a:t>
            </a:r>
            <a:r>
              <a:rPr b="1"/>
              <a:t>robust legal frameworks</a:t>
            </a:r>
            <a:r>
              <a:rPr/>
              <a:t>, </a:t>
            </a:r>
            <a:r>
              <a:rPr b="1"/>
              <a:t>ethical guidelines</a:t>
            </a:r>
            <a:r>
              <a:rPr/>
              <a:t>, </a:t>
            </a:r>
            <a:r>
              <a:rPr b="1"/>
              <a:t>standards</a:t>
            </a:r>
            <a:r>
              <a:rPr/>
              <a:t>, and </a:t>
            </a:r>
            <a:r>
              <a:rPr b="1"/>
              <a:t>processes</a:t>
            </a:r>
            <a:r>
              <a:rPr/>
              <a:t> that ensures an organisation’s data is </a:t>
            </a:r>
            <a:r>
              <a:rPr b="1"/>
              <a:t>accurate</a:t>
            </a:r>
            <a:r>
              <a:rPr/>
              <a:t>, </a:t>
            </a:r>
            <a:r>
              <a:rPr b="1"/>
              <a:t>consistent</a:t>
            </a:r>
            <a:r>
              <a:rPr/>
              <a:t>, </a:t>
            </a:r>
            <a:r>
              <a:rPr b="1"/>
              <a:t>secure</a:t>
            </a:r>
            <a:r>
              <a:rPr/>
              <a:t>, and </a:t>
            </a:r>
            <a:r>
              <a:rPr b="1"/>
              <a:t>compliant</a:t>
            </a:r>
            <a:r>
              <a:rPr/>
              <a:t> throughout its lifecycle.</a:t>
            </a:r>
          </a:p>
        </p:txBody>
      </p:sp>
      <p:pic>
        <p:nvPicPr>
          <p:cNvPr descr="../images/data_governance_infographic.jpg" id="0" name="Picture 1"/>
          <p:cNvPicPr>
            <a:picLocks noGrp="1" noChangeAspect="1"/>
          </p:cNvPicPr>
          <p:nvPr/>
        </p:nvPicPr>
        <p:blipFill>
          <a:blip r:embed="rId3"/>
          <a:stretch>
            <a:fillRect/>
          </a:stretch>
        </p:blipFill>
        <p:spPr bwMode="auto">
          <a:xfrm>
            <a:off x="6172200" y="2679700"/>
            <a:ext cx="5181600" cy="2628900"/>
          </a:xfrm>
          <a:prstGeom prst="rect">
            <a:avLst/>
          </a:prstGeom>
          <a:noFill/>
          <a:ln w="9525">
            <a:noFill/>
            <a:headEnd/>
            <a:tailEnd/>
          </a:ln>
        </p:spPr>
      </p:pic>
      <p:sp>
        <p:nvSpPr>
          <p:cNvPr id="6" name="Footer Placeholder 5"/>
          <p:cNvSpPr>
            <a:spLocks noGrp="1"/>
          </p:cNvSpPr>
          <p:nvPr>
            <p:ph idx="11" sz="quarter" type="ftr"/>
          </p:nvPr>
        </p:nvSpPr>
        <p:spPr/>
        <p:txBody>
          <a:bodyPr/>
          <a:lstStyle/>
          <a:p>
            <a:r>
              <a:rPr lang="en-GB"/>
              <a:t>Tâm Anh Oxford Partnership</a:t>
            </a:r>
          </a:p>
        </p:txBody>
      </p:sp>
      <p:sp>
        <p:nvSpPr>
          <p:cNvPr id="7" name="Slide Number Placeholder 6"/>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What is the data lifecycle?</a:t>
            </a:r>
          </a:p>
        </p:txBody>
      </p:sp>
      <p:pic>
        <p:nvPicPr>
          <p:cNvPr descr="../images/data_lifecycle.png" id="0" name="Picture 1"/>
          <p:cNvPicPr>
            <a:picLocks noGrp="1" noChangeAspect="1"/>
          </p:cNvPicPr>
          <p:nvPr/>
        </p:nvPicPr>
        <p:blipFill>
          <a:blip r:embed="rId3"/>
          <a:stretch>
            <a:fillRect/>
          </a:stretch>
        </p:blipFill>
        <p:spPr bwMode="auto">
          <a:xfrm>
            <a:off x="3162300" y="1816100"/>
            <a:ext cx="5854700" cy="4343400"/>
          </a:xfrm>
          <a:prstGeom prst="rect">
            <a:avLst/>
          </a:prstGeom>
          <a:noFill/>
          <a:ln w="9525">
            <a:noFill/>
            <a:headEnd/>
            <a:tailEnd/>
          </a:ln>
        </p:spPr>
      </p:pic>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Public vs Private intent data</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sz="half"/>
          </p:nvPr>
        </p:nvSpPr>
        <p:spPr/>
        <p:txBody>
          <a:bodyPr/>
          <a:lstStyle/>
          <a:p>
            <a:pPr lvl="0" indent="0" marL="0">
              <a:spcBef>
                <a:spcPts val="3000"/>
              </a:spcBef>
              <a:buNone/>
            </a:pPr>
            <a:r>
              <a:rPr b="1"/>
              <a:t>Public intent data</a:t>
            </a:r>
          </a:p>
          <a:p>
            <a:pPr lvl="0"/>
            <a:r>
              <a:rPr/>
              <a:t>Public intent data is data collected for public purposes.</a:t>
            </a:r>
          </a:p>
          <a:p>
            <a:pPr lvl="0"/>
            <a:r>
              <a:rPr/>
              <a:t>Public intent data is a foundation of public policies and can play a transformative role in the public sector.</a:t>
            </a:r>
          </a:p>
        </p:txBody>
      </p:sp>
      <p:sp>
        <p:nvSpPr>
          <p:cNvPr id="4" name="Content Placeholder 3"/>
          <p:cNvSpPr>
            <a:spLocks noGrp="1"/>
          </p:cNvSpPr>
          <p:nvPr>
            <p:ph idx="2" sz="half"/>
          </p:nvPr>
        </p:nvSpPr>
        <p:spPr/>
        <p:txBody>
          <a:bodyPr/>
          <a:lstStyle/>
          <a:p>
            <a:pPr lvl="0" indent="0" marL="0">
              <a:spcBef>
                <a:spcPts val="3000"/>
              </a:spcBef>
              <a:buNone/>
            </a:pPr>
            <a:r>
              <a:rPr b="1"/>
              <a:t>Private intent data</a:t>
            </a:r>
          </a:p>
          <a:p>
            <a:pPr lvl="0"/>
            <a:r>
              <a:rPr/>
              <a:t>Private intent data is data collected by the private sector as part of routine business processes.</a:t>
            </a:r>
          </a:p>
          <a:p>
            <a:pPr lvl="0"/>
            <a:r>
              <a:rPr/>
              <a:t>Private intent data can drive innovation, lower transaction costs, and improve productivity, competitiveness, and economic growth.</a:t>
            </a:r>
          </a:p>
        </p:txBody>
      </p:sp>
      <p:sp>
        <p:nvSpPr>
          <p:cNvPr id="6" name="Footer Placeholder 5"/>
          <p:cNvSpPr>
            <a:spLocks noGrp="1"/>
          </p:cNvSpPr>
          <p:nvPr>
            <p:ph idx="11" sz="quarter" type="ftr"/>
          </p:nvPr>
        </p:nvSpPr>
        <p:spPr/>
        <p:txBody>
          <a:bodyPr/>
          <a:lstStyle/>
          <a:p>
            <a:r>
              <a:rPr lang="en-GB"/>
              <a:t>Tâm Anh Oxford Partnership</a:t>
            </a:r>
          </a:p>
        </p:txBody>
      </p:sp>
      <p:sp>
        <p:nvSpPr>
          <p:cNvPr id="7" name="Slide Number Placeholder 6"/>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Activity 1: Tell me about your data</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Activty 1 - Mechanics</a:t>
            </a:r>
          </a:p>
        </p:txBody>
      </p:sp>
      <p:sp>
        <p:nvSpPr>
          <p:cNvPr id="3" name="Content Placeholder 2"/>
          <p:cNvSpPr>
            <a:spLocks noGrp="1"/>
          </p:cNvSpPr>
          <p:nvPr>
            <p:ph idx="1"/>
          </p:nvPr>
        </p:nvSpPr>
        <p:spPr/>
        <p:txBody>
          <a:bodyPr/>
          <a:lstStyle/>
          <a:p>
            <a:pPr lvl="0" indent="-457200" marL="457200">
              <a:buAutoNum type="arabicPeriod"/>
            </a:pPr>
            <a:r>
              <a:rPr/>
              <a:t>Move into the group assigned to you.</a:t>
            </a:r>
          </a:p>
          <a:p>
            <a:pPr lvl="1"/>
            <a:r>
              <a:rPr/>
              <a:t>TAMRI Hanoi + TAMRI Ho Chi Minh City</a:t>
            </a:r>
          </a:p>
          <a:p>
            <a:pPr lvl="1"/>
            <a:r>
              <a:rPr/>
              <a:t>Tam Anh Ho Chi Minh City</a:t>
            </a:r>
          </a:p>
          <a:p>
            <a:pPr lvl="1"/>
            <a:r>
              <a:rPr/>
              <a:t>Tam Anh Hanoi</a:t>
            </a:r>
          </a:p>
          <a:p>
            <a:pPr lvl="1"/>
            <a:r>
              <a:rPr/>
              <a:t>Eplus + SMART Research</a:t>
            </a:r>
          </a:p>
          <a:p>
            <a:pPr lvl="1"/>
            <a:r>
              <a:rPr/>
              <a:t>VNVC + Calif</a:t>
            </a:r>
          </a:p>
          <a:p>
            <a:pPr lvl="1"/>
            <a:r>
              <a:rPr/>
              <a:t>Department of Health (Hanoi and Ho Chi Minh City) + Department of Science and Technology Hanoi</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Activity 1 - Mechanics</a:t>
            </a:r>
          </a:p>
        </p:txBody>
      </p:sp>
      <p:sp>
        <p:nvSpPr>
          <p:cNvPr id="3" name="Content Placeholder 2"/>
          <p:cNvSpPr>
            <a:spLocks noGrp="1"/>
          </p:cNvSpPr>
          <p:nvPr>
            <p:ph idx="1"/>
          </p:nvPr>
        </p:nvSpPr>
        <p:spPr/>
        <p:txBody>
          <a:bodyPr/>
          <a:lstStyle/>
          <a:p>
            <a:pPr lvl="0" indent="-457200" marL="457200">
              <a:buAutoNum startAt="2" type="arabicPeriod"/>
            </a:pPr>
            <a:r>
              <a:rPr/>
              <a:t>Individually, write keywords and/or key terms/concepts that describe any one or all data that you work with and/or are in charge of</a:t>
            </a:r>
          </a:p>
          <a:p>
            <a:pPr lvl="1"/>
            <a:r>
              <a:rPr/>
              <a:t>write on the provided meta cards;</a:t>
            </a:r>
          </a:p>
          <a:p>
            <a:pPr lvl="1"/>
            <a:r>
              <a:rPr/>
              <a:t>use keywords or key phrases and not sentences;</a:t>
            </a:r>
          </a:p>
          <a:p>
            <a:pPr lvl="1"/>
            <a:r>
              <a:rPr/>
              <a:t>one keyword or key phrase in one meta card;</a:t>
            </a:r>
          </a:p>
          <a:p>
            <a:pPr lvl="1"/>
            <a:r>
              <a:rPr/>
              <a:t>you can use as many meta cards as you want/need.</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Activity 1 - Mechanics</a:t>
            </a:r>
          </a:p>
        </p:txBody>
      </p:sp>
      <p:sp>
        <p:nvSpPr>
          <p:cNvPr id="3" name="Content Placeholder 2"/>
          <p:cNvSpPr>
            <a:spLocks noGrp="1"/>
          </p:cNvSpPr>
          <p:nvPr>
            <p:ph idx="1"/>
          </p:nvPr>
        </p:nvSpPr>
        <p:spPr/>
        <p:txBody>
          <a:bodyPr/>
          <a:lstStyle/>
          <a:p>
            <a:pPr lvl="0" indent="-457200" marL="457200">
              <a:buAutoNum startAt="3" type="arabicPeriod"/>
            </a:pPr>
            <a:r>
              <a:rPr/>
              <a:t>Post your meta cards onto the assigned wall or table for your group.</a:t>
            </a:r>
          </a:p>
          <a:p>
            <a:pPr lvl="1"/>
            <a:r>
              <a:rPr/>
              <a:t>Make sure that your meta cards are separate from everyone else’s in your group;</a:t>
            </a:r>
          </a:p>
          <a:p>
            <a:pPr lvl="1"/>
            <a:r>
              <a:rPr/>
              <a:t>Make sure that your meta cards are posted in such a way that the text in each card is readable (don’t make the cards overlap).</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Activity 1 - Mechanics</a:t>
            </a:r>
          </a:p>
        </p:txBody>
      </p:sp>
      <p:sp>
        <p:nvSpPr>
          <p:cNvPr id="3" name="Content Placeholder 2"/>
          <p:cNvSpPr>
            <a:spLocks noGrp="1"/>
          </p:cNvSpPr>
          <p:nvPr>
            <p:ph idx="1"/>
          </p:nvPr>
        </p:nvSpPr>
        <p:spPr/>
        <p:txBody>
          <a:bodyPr/>
          <a:lstStyle/>
          <a:p>
            <a:pPr lvl="0" indent="-457200" marL="457200">
              <a:buAutoNum startAt="4" type="arabicPeriod"/>
            </a:pPr>
            <a:r>
              <a:rPr/>
              <a:t>Within your group, find a partner and discuss and describe with each other the data that you work with and/or are in charge of</a:t>
            </a:r>
          </a:p>
          <a:p>
            <a:pPr lvl="1"/>
            <a:r>
              <a:rPr/>
              <a:t>You will be given 5 minutes to share with your partner;</a:t>
            </a:r>
          </a:p>
          <a:p>
            <a:pPr lvl="1"/>
            <a:r>
              <a:rPr/>
              <a:t>After 5 minutes, find a new partner and then discuss and describe with each other;</a:t>
            </a:r>
          </a:p>
          <a:p>
            <a:pPr lvl="1"/>
            <a:r>
              <a:rPr/>
              <a:t>We will do three rounds of partner discussion within group.</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Activty 1 - Mechanics</a:t>
            </a:r>
          </a:p>
        </p:txBody>
      </p:sp>
      <p:sp>
        <p:nvSpPr>
          <p:cNvPr id="3" name="Content Placeholder 2"/>
          <p:cNvSpPr>
            <a:spLocks noGrp="1"/>
          </p:cNvSpPr>
          <p:nvPr>
            <p:ph idx="1"/>
          </p:nvPr>
        </p:nvSpPr>
        <p:spPr/>
        <p:txBody>
          <a:bodyPr/>
          <a:lstStyle/>
          <a:p>
            <a:pPr lvl="0" indent="-457200" marL="457200">
              <a:buAutoNum startAt="5" type="arabicPeriod"/>
            </a:pPr>
            <a:r>
              <a:rPr/>
              <a:t>With another group, find a partner in that group and then ask them to discuss and describe to you the data they work with and/or in charge of</a:t>
            </a:r>
          </a:p>
          <a:p>
            <a:pPr lvl="1"/>
            <a:r>
              <a:rPr/>
              <a:t>Specific groups will be chosen to approach another group;</a:t>
            </a:r>
          </a:p>
          <a:p>
            <a:pPr lvl="1"/>
            <a:r>
              <a:rPr/>
              <a:t>The members of the visiting group will find a partner in the hosting group;</a:t>
            </a:r>
          </a:p>
          <a:p>
            <a:pPr lvl="1"/>
            <a:r>
              <a:rPr/>
              <a:t>The members of the visiting group will ask their partner from the hosting group about the data they work with and/or are in charge of. They will have about 5 minutes for this discussion;</a:t>
            </a:r>
          </a:p>
          <a:p>
            <a:pPr lvl="1"/>
            <a:r>
              <a:rPr/>
              <a:t>After five minutes, the members of the visiting group should find a new partner among the members of the hosting group and then start asking about the data they work with and/or are in charge of;</a:t>
            </a:r>
          </a:p>
          <a:p>
            <a:pPr lvl="1"/>
            <a:r>
              <a:rPr/>
              <a:t>After three rounds, the hosting group will then be asked to visit another group and do the same steps while the visiting group will then host a different group.</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Public intent data</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Types of public intent data</a:t>
            </a:r>
          </a:p>
        </p:txBody>
      </p:sp>
      <p:sp>
        <p:nvSpPr>
          <p:cNvPr id="3" name="Content Placeholder 2"/>
          <p:cNvSpPr>
            <a:spLocks noGrp="1"/>
          </p:cNvSpPr>
          <p:nvPr>
            <p:ph idx="1"/>
          </p:nvPr>
        </p:nvSpPr>
        <p:spPr/>
        <p:txBody>
          <a:bodyPr/>
          <a:lstStyle/>
          <a:p>
            <a:pPr lvl="0"/>
            <a:r>
              <a:rPr/>
              <a:t>Administrative data</a:t>
            </a:r>
          </a:p>
          <a:p>
            <a:pPr lvl="0"/>
            <a:r>
              <a:rPr/>
              <a:t>Census data</a:t>
            </a:r>
          </a:p>
          <a:p>
            <a:pPr lvl="0"/>
            <a:r>
              <a:rPr/>
              <a:t>Sample surveys</a:t>
            </a:r>
          </a:p>
          <a:p>
            <a:pPr lvl="0"/>
            <a:r>
              <a:rPr/>
              <a:t>Citizen-generated data</a:t>
            </a:r>
          </a:p>
          <a:p>
            <a:pPr lvl="0"/>
            <a:r>
              <a:rPr/>
              <a:t>Machine-generated data</a:t>
            </a:r>
          </a:p>
          <a:p>
            <a:pPr lvl="0"/>
            <a:r>
              <a:rPr/>
              <a:t>Geospatial data</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Maximising value of public intent data</a:t>
            </a:r>
          </a:p>
        </p:txBody>
      </p:sp>
      <p:pic>
        <p:nvPicPr>
          <p:cNvPr descr="../images/data_value_maximise.png" id="0" name="Picture 1"/>
          <p:cNvPicPr>
            <a:picLocks noGrp="1" noChangeAspect="1"/>
          </p:cNvPicPr>
          <p:nvPr/>
        </p:nvPicPr>
        <p:blipFill>
          <a:blip r:embed="rId3"/>
          <a:stretch>
            <a:fillRect/>
          </a:stretch>
        </p:blipFill>
        <p:spPr bwMode="auto">
          <a:xfrm>
            <a:off x="838200" y="2971800"/>
            <a:ext cx="10515600" cy="2032000"/>
          </a:xfrm>
          <a:prstGeom prst="rect">
            <a:avLst/>
          </a:prstGeom>
          <a:noFill/>
          <a:ln w="9525">
            <a:noFill/>
            <a:headEnd/>
            <a:tailEnd/>
          </a:ln>
        </p:spPr>
      </p:pic>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Three pathways for public intent data to add value</a:t>
            </a:r>
          </a:p>
        </p:txBody>
      </p:sp>
      <p:sp>
        <p:nvSpPr>
          <p:cNvPr id="3" name="Content Placeholder 2"/>
          <p:cNvSpPr>
            <a:spLocks noGrp="1"/>
          </p:cNvSpPr>
          <p:nvPr>
            <p:ph idx="1"/>
          </p:nvPr>
        </p:nvSpPr>
        <p:spPr/>
        <p:txBody>
          <a:bodyPr/>
          <a:lstStyle/>
          <a:p>
            <a:pPr lvl="0"/>
            <a:r>
              <a:rPr/>
              <a:t>Improving service delivery</a:t>
            </a:r>
          </a:p>
          <a:p>
            <a:pPr lvl="0"/>
            <a:r>
              <a:rPr/>
              <a:t>Prioritising scarce resources</a:t>
            </a:r>
          </a:p>
          <a:p>
            <a:pPr lvl="0"/>
            <a:r>
              <a:rPr/>
              <a:t>Holding government accountable and empowering individuals</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Gaps in public intent data</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Coverage is inadequate</a:t>
            </a:r>
          </a:p>
        </p:txBody>
      </p:sp>
      <p:sp>
        <p:nvSpPr>
          <p:cNvPr id="3" name="Content Placeholder 2"/>
          <p:cNvSpPr>
            <a:spLocks noGrp="1"/>
          </p:cNvSpPr>
          <p:nvPr>
            <p:ph idx="1" sz="half"/>
          </p:nvPr>
        </p:nvSpPr>
        <p:spPr/>
        <p:txBody>
          <a:bodyPr/>
          <a:lstStyle/>
          <a:p>
            <a:pPr lvl="0"/>
            <a:r>
              <a:rPr/>
              <a:t>Lack of </a:t>
            </a:r>
            <a:r>
              <a:rPr i="1"/>
              <a:t>timeliness</a:t>
            </a:r>
            <a:r>
              <a:rPr/>
              <a:t>, </a:t>
            </a:r>
            <a:r>
              <a:rPr i="1"/>
              <a:t>frequency</a:t>
            </a:r>
            <a:r>
              <a:rPr/>
              <a:t>, and </a:t>
            </a:r>
            <a:r>
              <a:rPr i="1"/>
              <a:t>completeness</a:t>
            </a:r>
            <a:r>
              <a:rPr/>
              <a:t>.</a:t>
            </a:r>
          </a:p>
          <a:p>
            <a:pPr lvl="0"/>
            <a:r>
              <a:rPr/>
              <a:t>Large gaps in geospatial data in lower-income countries</a:t>
            </a:r>
          </a:p>
        </p:txBody>
      </p:sp>
      <p:pic>
        <p:nvPicPr>
          <p:cNvPr descr="../images/data_gap_geospatial.png" id="0" name="Picture 1"/>
          <p:cNvPicPr>
            <a:picLocks noGrp="1" noChangeAspect="1"/>
          </p:cNvPicPr>
          <p:nvPr/>
        </p:nvPicPr>
        <p:blipFill>
          <a:blip r:embed="rId3"/>
          <a:stretch>
            <a:fillRect/>
          </a:stretch>
        </p:blipFill>
        <p:spPr bwMode="auto">
          <a:xfrm>
            <a:off x="6172200" y="1841500"/>
            <a:ext cx="5181600" cy="4292600"/>
          </a:xfrm>
          <a:prstGeom prst="rect">
            <a:avLst/>
          </a:prstGeom>
          <a:noFill/>
          <a:ln w="9525">
            <a:noFill/>
            <a:headEnd/>
            <a:tailEnd/>
          </a:ln>
        </p:spPr>
      </p:pic>
      <p:sp>
        <p:nvSpPr>
          <p:cNvPr id="6" name="Footer Placeholder 5"/>
          <p:cNvSpPr>
            <a:spLocks noGrp="1"/>
          </p:cNvSpPr>
          <p:nvPr>
            <p:ph idx="11" sz="quarter" type="ftr"/>
          </p:nvPr>
        </p:nvSpPr>
        <p:spPr/>
        <p:txBody>
          <a:bodyPr/>
          <a:lstStyle/>
          <a:p>
            <a:r>
              <a:rPr lang="en-GB"/>
              <a:t>Tâm Anh Oxford Partnership</a:t>
            </a:r>
          </a:p>
        </p:txBody>
      </p:sp>
      <p:sp>
        <p:nvSpPr>
          <p:cNvPr id="7" name="Slide Number Placeholder 6"/>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Data quality is poor</a:t>
            </a:r>
          </a:p>
        </p:txBody>
      </p:sp>
      <p:sp>
        <p:nvSpPr>
          <p:cNvPr id="3" name="Content Placeholder 2"/>
          <p:cNvSpPr>
            <a:spLocks noGrp="1"/>
          </p:cNvSpPr>
          <p:nvPr>
            <p:ph idx="1" sz="half"/>
          </p:nvPr>
        </p:nvSpPr>
        <p:spPr/>
        <p:txBody>
          <a:bodyPr/>
          <a:lstStyle/>
          <a:p>
            <a:pPr lvl="0"/>
            <a:r>
              <a:rPr/>
              <a:t>Lack of </a:t>
            </a:r>
            <a:r>
              <a:rPr i="1"/>
              <a:t>granularity</a:t>
            </a:r>
            <a:r>
              <a:rPr/>
              <a:t>, </a:t>
            </a:r>
            <a:r>
              <a:rPr i="1"/>
              <a:t>accuracy</a:t>
            </a:r>
            <a:r>
              <a:rPr/>
              <a:t>, and </a:t>
            </a:r>
            <a:r>
              <a:rPr i="1"/>
              <a:t>comparability</a:t>
            </a:r>
            <a:r>
              <a:rPr/>
              <a:t>.</a:t>
            </a:r>
          </a:p>
          <a:p>
            <a:pPr lvl="0"/>
            <a:r>
              <a:rPr/>
              <a:t>Lack of data disaggregation</a:t>
            </a:r>
          </a:p>
          <a:p>
            <a:pPr lvl="0"/>
            <a:r>
              <a:rPr/>
              <a:t>Lower-income countries have less comparable poverty data</a:t>
            </a:r>
          </a:p>
        </p:txBody>
      </p:sp>
      <p:pic>
        <p:nvPicPr>
          <p:cNvPr descr="../images/data_comparability_poverty.png" id="0" name="Picture 1"/>
          <p:cNvPicPr>
            <a:picLocks noGrp="1" noChangeAspect="1"/>
          </p:cNvPicPr>
          <p:nvPr/>
        </p:nvPicPr>
        <p:blipFill>
          <a:blip r:embed="rId3"/>
          <a:stretch>
            <a:fillRect/>
          </a:stretch>
        </p:blipFill>
        <p:spPr bwMode="auto">
          <a:xfrm>
            <a:off x="6172200" y="2654300"/>
            <a:ext cx="5181600" cy="2679700"/>
          </a:xfrm>
          <a:prstGeom prst="rect">
            <a:avLst/>
          </a:prstGeom>
          <a:noFill/>
          <a:ln w="9525">
            <a:noFill/>
            <a:headEnd/>
            <a:tailEnd/>
          </a:ln>
        </p:spPr>
      </p:pic>
      <p:sp>
        <p:nvSpPr>
          <p:cNvPr id="6" name="Footer Placeholder 5"/>
          <p:cNvSpPr>
            <a:spLocks noGrp="1"/>
          </p:cNvSpPr>
          <p:nvPr>
            <p:ph idx="11" sz="quarter" type="ftr"/>
          </p:nvPr>
        </p:nvSpPr>
        <p:spPr/>
        <p:txBody>
          <a:bodyPr/>
          <a:lstStyle/>
          <a:p>
            <a:r>
              <a:rPr lang="en-GB"/>
              <a:t>Tâm Anh Oxford Partnership</a:t>
            </a:r>
          </a:p>
        </p:txBody>
      </p:sp>
      <p:sp>
        <p:nvSpPr>
          <p:cNvPr id="7" name="Slide Number Placeholder 6"/>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Data not easy to use</a:t>
            </a:r>
          </a:p>
        </p:txBody>
      </p:sp>
      <p:sp>
        <p:nvSpPr>
          <p:cNvPr id="3" name="Content Placeholder 2"/>
          <p:cNvSpPr>
            <a:spLocks noGrp="1"/>
          </p:cNvSpPr>
          <p:nvPr>
            <p:ph idx="1"/>
          </p:nvPr>
        </p:nvSpPr>
        <p:spPr/>
        <p:txBody>
          <a:bodyPr/>
          <a:lstStyle/>
          <a:p>
            <a:pPr lvl="0"/>
            <a:r>
              <a:rPr/>
              <a:t>Lack of </a:t>
            </a:r>
            <a:r>
              <a:rPr i="1"/>
              <a:t>accessibility</a:t>
            </a:r>
            <a:r>
              <a:rPr/>
              <a:t>, </a:t>
            </a:r>
            <a:r>
              <a:rPr i="1"/>
              <a:t>understandability</a:t>
            </a:r>
            <a:r>
              <a:rPr/>
              <a:t>, and </a:t>
            </a:r>
            <a:r>
              <a:rPr i="1"/>
              <a:t>interoperability</a:t>
            </a:r>
            <a:r>
              <a:rPr/>
              <a:t>.</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Data not safe to use</a:t>
            </a:r>
          </a:p>
        </p:txBody>
      </p:sp>
      <p:sp>
        <p:nvSpPr>
          <p:cNvPr id="3" name="Content Placeholder 2"/>
          <p:cNvSpPr>
            <a:spLocks noGrp="1"/>
          </p:cNvSpPr>
          <p:nvPr>
            <p:ph idx="1"/>
          </p:nvPr>
        </p:nvSpPr>
        <p:spPr/>
        <p:txBody>
          <a:bodyPr/>
          <a:lstStyle/>
          <a:p>
            <a:pPr lvl="0"/>
            <a:r>
              <a:rPr/>
              <a:t>Data not immune to influence from stakeholders</a:t>
            </a:r>
          </a:p>
          <a:p>
            <a:pPr lvl="0"/>
            <a:r>
              <a:rPr/>
              <a:t>Data not stored securely - too common in government and private sector databases</a:t>
            </a:r>
          </a:p>
          <a:p>
            <a:pPr lvl="0"/>
            <a:r>
              <a:rPr/>
              <a:t>Data not properly de-identified</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Why gaps persist in public intent data</a:t>
            </a:r>
          </a:p>
        </p:txBody>
      </p:sp>
      <p:sp>
        <p:nvSpPr>
          <p:cNvPr id="3" name="Content Placeholder 2"/>
          <p:cNvSpPr>
            <a:spLocks noGrp="1"/>
          </p:cNvSpPr>
          <p:nvPr>
            <p:ph idx="1"/>
          </p:nvPr>
        </p:nvSpPr>
        <p:spPr/>
        <p:txBody>
          <a:bodyPr/>
          <a:lstStyle/>
          <a:p>
            <a:pPr lvl="0"/>
            <a:r>
              <a:rPr/>
              <a:t>Deficiencies in financing</a:t>
            </a:r>
          </a:p>
          <a:p>
            <a:pPr lvl="0"/>
            <a:r>
              <a:rPr/>
              <a:t>Deficiencies in technical capacity</a:t>
            </a:r>
          </a:p>
          <a:p>
            <a:pPr lvl="0"/>
            <a:r>
              <a:rPr/>
              <a:t>Deficiencies in governance</a:t>
            </a:r>
          </a:p>
          <a:p>
            <a:pPr lvl="0"/>
            <a:r>
              <a:rPr/>
              <a:t>Deficiencies in data demand</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Private intent data</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Data in the production process</a:t>
            </a:r>
          </a:p>
        </p:txBody>
      </p:sp>
      <p:pic>
        <p:nvPicPr>
          <p:cNvPr descr="../images/data_in_production.png" id="0" name="Picture 1"/>
          <p:cNvPicPr>
            <a:picLocks noGrp="1" noChangeAspect="1"/>
          </p:cNvPicPr>
          <p:nvPr/>
        </p:nvPicPr>
        <p:blipFill>
          <a:blip r:embed="rId3"/>
          <a:stretch>
            <a:fillRect/>
          </a:stretch>
        </p:blipFill>
        <p:spPr bwMode="auto">
          <a:xfrm>
            <a:off x="2451100" y="1816100"/>
            <a:ext cx="7277100" cy="4343400"/>
          </a:xfrm>
          <a:prstGeom prst="rect">
            <a:avLst/>
          </a:prstGeom>
          <a:noFill/>
          <a:ln w="9525">
            <a:noFill/>
            <a:headEnd/>
            <a:tailEnd/>
          </a:ln>
        </p:spPr>
      </p:pic>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Role of data in economic activity</a:t>
            </a:r>
          </a:p>
        </p:txBody>
      </p:sp>
      <p:pic>
        <p:nvPicPr>
          <p:cNvPr descr="../images/data_in_economic_activity.png" id="0" name="Picture 1"/>
          <p:cNvPicPr>
            <a:picLocks noGrp="1" noChangeAspect="1"/>
          </p:cNvPicPr>
          <p:nvPr/>
        </p:nvPicPr>
        <p:blipFill>
          <a:blip r:embed="rId3"/>
          <a:stretch>
            <a:fillRect/>
          </a:stretch>
        </p:blipFill>
        <p:spPr bwMode="auto">
          <a:xfrm>
            <a:off x="3340100" y="1816100"/>
            <a:ext cx="5524500" cy="4343400"/>
          </a:xfrm>
          <a:prstGeom prst="rect">
            <a:avLst/>
          </a:prstGeom>
          <a:noFill/>
          <a:ln w="9525">
            <a:noFill/>
            <a:headEnd/>
            <a:tailEnd/>
          </a:ln>
        </p:spPr>
      </p:pic>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Data inputs for economic activity</a:t>
            </a:r>
          </a:p>
        </p:txBody>
      </p:sp>
      <p:sp>
        <p:nvSpPr>
          <p:cNvPr id="3" name="Content Placeholder 2"/>
          <p:cNvSpPr>
            <a:spLocks noGrp="1"/>
          </p:cNvSpPr>
          <p:nvPr>
            <p:ph idx="1"/>
          </p:nvPr>
        </p:nvSpPr>
        <p:spPr/>
        <p:txBody>
          <a:bodyPr/>
          <a:lstStyle/>
          <a:p>
            <a:pPr lvl="0"/>
            <a:r>
              <a:rPr/>
              <a:t>Data collection by firms - </a:t>
            </a:r>
            <a:r>
              <a:rPr b="1"/>
              <a:t>“digital footprint”</a:t>
            </a:r>
          </a:p>
          <a:p>
            <a:pPr lvl="0"/>
            <a:r>
              <a:rPr/>
              <a:t>Use of public intent data by businesses</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Sectors transformed by use of data in the production process</a:t>
            </a:r>
          </a:p>
        </p:txBody>
      </p:sp>
      <p:sp>
        <p:nvSpPr>
          <p:cNvPr id="3" name="Content Placeholder 2"/>
          <p:cNvSpPr>
            <a:spLocks noGrp="1"/>
          </p:cNvSpPr>
          <p:nvPr>
            <p:ph idx="1"/>
          </p:nvPr>
        </p:nvSpPr>
        <p:spPr/>
        <p:txBody>
          <a:bodyPr/>
          <a:lstStyle/>
          <a:p>
            <a:pPr lvl="0"/>
            <a:r>
              <a:rPr/>
              <a:t>Finance</a:t>
            </a:r>
          </a:p>
          <a:p>
            <a:pPr lvl="0"/>
            <a:r>
              <a:rPr/>
              <a:t>Agriculture</a:t>
            </a:r>
          </a:p>
          <a:p>
            <a:pPr lvl="0"/>
            <a:r>
              <a:rPr/>
              <a:t>Health</a:t>
            </a:r>
          </a:p>
          <a:p>
            <a:pPr lvl="0"/>
            <a:r>
              <a:rPr/>
              <a:t>Education</a:t>
            </a:r>
          </a:p>
          <a:p>
            <a:pPr lvl="0"/>
            <a:r>
              <a:rPr/>
              <a:t>Transport and logistics</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Finance sector</a:t>
            </a:r>
          </a:p>
        </p:txBody>
      </p:sp>
      <p:sp>
        <p:nvSpPr>
          <p:cNvPr id="3" name="Content Placeholder 2"/>
          <p:cNvSpPr>
            <a:spLocks noGrp="1"/>
          </p:cNvSpPr>
          <p:nvPr>
            <p:ph idx="1"/>
          </p:nvPr>
        </p:nvSpPr>
        <p:spPr/>
        <p:txBody>
          <a:bodyPr/>
          <a:lstStyle/>
          <a:p>
            <a:pPr lvl="0"/>
            <a:r>
              <a:rPr b="1"/>
              <a:t>Alternative credit scoring algorithms</a:t>
            </a:r>
            <a:r>
              <a:rPr/>
              <a:t> - use of an individual’s digital footprint to train machine learning algorithms to identify, score, and underwrite credit.</a:t>
            </a:r>
          </a:p>
          <a:p>
            <a:pPr lvl="0"/>
            <a:r>
              <a:rPr b="1"/>
              <a:t>Payment systems</a:t>
            </a:r>
            <a:r>
              <a:rPr/>
              <a:t> - digital payments; mobile payments.</a:t>
            </a:r>
          </a:p>
          <a:p>
            <a:pPr lvl="0"/>
            <a:r>
              <a:rPr b="1"/>
              <a:t>Use of transaction data for product development</a:t>
            </a:r>
            <a:r>
              <a:rPr/>
              <a:t> - Mastercard’s Tourism Insights service allows leveraging big data to provide information on travellers’ preferences.</a:t>
            </a:r>
          </a:p>
          <a:p>
            <a:pPr lvl="0"/>
            <a:r>
              <a:rPr b="1"/>
              <a:t>Distributed ledger technology</a:t>
            </a:r>
            <a:r>
              <a:rPr/>
              <a:t> - blockchain; eliminates financial intermediaries; embedding rules into smart contracts simplifies negotiation and verification processes.</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Agriculture sector</a:t>
            </a:r>
          </a:p>
        </p:txBody>
      </p:sp>
      <p:sp>
        <p:nvSpPr>
          <p:cNvPr id="3" name="Content Placeholder 2"/>
          <p:cNvSpPr>
            <a:spLocks noGrp="1"/>
          </p:cNvSpPr>
          <p:nvPr>
            <p:ph idx="1"/>
          </p:nvPr>
        </p:nvSpPr>
        <p:spPr/>
        <p:txBody>
          <a:bodyPr/>
          <a:lstStyle/>
          <a:p>
            <a:pPr lvl="0"/>
            <a:r>
              <a:rPr/>
              <a:t>Remote sensing and geographic information systems - analysis of these data provide insights into farming operations; smart farming</a:t>
            </a:r>
          </a:p>
          <a:p>
            <a:pPr lvl="0"/>
            <a:r>
              <a:rPr/>
              <a:t>Internet-of-things (IoT) and embedded devices for monitoring farm and livestock conditions and farm operations</a:t>
            </a:r>
          </a:p>
          <a:p>
            <a:pPr lvl="0"/>
            <a:r>
              <a:rPr/>
              <a:t>Use of data to provide a range of services along the agriculture value chain</a:t>
            </a:r>
          </a:p>
          <a:p>
            <a:pPr lvl="0"/>
            <a:r>
              <a:rPr/>
              <a:t>Use of data to improve food traceability</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Education</a:t>
            </a:r>
          </a:p>
        </p:txBody>
      </p:sp>
      <p:sp>
        <p:nvSpPr>
          <p:cNvPr id="3" name="Content Placeholder 2"/>
          <p:cNvSpPr>
            <a:spLocks noGrp="1"/>
          </p:cNvSpPr>
          <p:nvPr>
            <p:ph idx="1"/>
          </p:nvPr>
        </p:nvSpPr>
        <p:spPr/>
        <p:txBody>
          <a:bodyPr/>
          <a:lstStyle/>
          <a:p>
            <a:pPr lvl="0"/>
            <a:r>
              <a:rPr/>
              <a:t>video conferencing/video communication tools</a:t>
            </a:r>
          </a:p>
          <a:p>
            <a:pPr lvl="0"/>
            <a:r>
              <a:rPr/>
              <a:t>digital supplemental learning platforms</a:t>
            </a:r>
          </a:p>
          <a:p>
            <a:pPr lvl="0"/>
            <a:r>
              <a:rPr/>
              <a:t>intelligent adaptive education</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Transport and logistics sector</a:t>
            </a:r>
          </a:p>
        </p:txBody>
      </p:sp>
      <p:sp>
        <p:nvSpPr>
          <p:cNvPr id="3" name="Content Placeholder 2"/>
          <p:cNvSpPr>
            <a:spLocks noGrp="1"/>
          </p:cNvSpPr>
          <p:nvPr>
            <p:ph idx="1"/>
          </p:nvPr>
        </p:nvSpPr>
        <p:spPr/>
        <p:txBody>
          <a:bodyPr/>
          <a:lstStyle/>
          <a:p>
            <a:pPr lvl="0"/>
            <a:r>
              <a:rPr/>
              <a:t>Digital freight matching</a:t>
            </a:r>
          </a:p>
          <a:p>
            <a:pPr lvl="0"/>
            <a:r>
              <a:rPr/>
              <a:t>Digital courier logistics</a:t>
            </a:r>
          </a:p>
          <a:p>
            <a:pPr lvl="0"/>
            <a:r>
              <a:rPr/>
              <a:t>IoT-enabled cold chain</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Risks to market structure from platform firms</a:t>
            </a:r>
          </a:p>
        </p:txBody>
      </p:sp>
      <p:pic>
        <p:nvPicPr>
          <p:cNvPr descr="../images/data_platform_risks.png" id="0" name="Picture 1"/>
          <p:cNvPicPr>
            <a:picLocks noGrp="1" noChangeAspect="1"/>
          </p:cNvPicPr>
          <p:nvPr/>
        </p:nvPicPr>
        <p:blipFill>
          <a:blip r:embed="rId3"/>
          <a:stretch>
            <a:fillRect/>
          </a:stretch>
        </p:blipFill>
        <p:spPr bwMode="auto">
          <a:xfrm>
            <a:off x="914400" y="1816100"/>
            <a:ext cx="10350500" cy="4343400"/>
          </a:xfrm>
          <a:prstGeom prst="rect">
            <a:avLst/>
          </a:prstGeom>
          <a:noFill/>
          <a:ln w="9525">
            <a:noFill/>
            <a:headEnd/>
            <a:tailEnd/>
          </a:ln>
        </p:spPr>
      </p:pic>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Risks and adverse outcomes of data-driven businesses</a:t>
            </a:r>
          </a:p>
        </p:txBody>
      </p:sp>
      <p:sp>
        <p:nvSpPr>
          <p:cNvPr id="3" name="Content Placeholder 2"/>
          <p:cNvSpPr>
            <a:spLocks noGrp="1"/>
          </p:cNvSpPr>
          <p:nvPr>
            <p:ph idx="1"/>
          </p:nvPr>
        </p:nvSpPr>
        <p:spPr/>
        <p:txBody>
          <a:bodyPr/>
          <a:lstStyle/>
          <a:p>
            <a:pPr lvl="0"/>
            <a:r>
              <a:rPr/>
              <a:t>Increase propensity of dominant firms emerging</a:t>
            </a:r>
          </a:p>
          <a:p>
            <a:pPr lvl="0"/>
            <a:r>
              <a:rPr/>
              <a:t>Potential for exploitation of individuals</a:t>
            </a:r>
          </a:p>
          <a:p>
            <a:pPr lvl="0"/>
            <a:r>
              <a:rPr/>
              <a:t>Potential to increase inequality within and among countries</a:t>
            </a:r>
          </a:p>
        </p:txBody>
      </p:sp>
      <p:sp>
        <p:nvSpPr>
          <p:cNvPr id="5" name="Footer Placeholder 4"/>
          <p:cNvSpPr>
            <a:spLocks noGrp="1"/>
          </p:cNvSpPr>
          <p:nvPr>
            <p:ph idx="11" sz="quarter" type="ftr"/>
          </p:nvPr>
        </p:nvSpPr>
        <p:spPr/>
        <p:txBody>
          <a:bodyPr/>
          <a:lstStyle/>
          <a:p>
            <a:r>
              <a:rPr lang="en-GB"/>
              <a:t>Tâm Anh Oxford Partnership</a:t>
            </a:r>
          </a:p>
        </p:txBody>
      </p:sp>
      <p:sp>
        <p:nvSpPr>
          <p:cNvPr id="6" name="Slide Number Placeholder 5"/>
          <p:cNvSpPr>
            <a:spLocks noGrp="1"/>
          </p:cNvSpPr>
          <p:nvPr>
            <p:ph idx="12" sz="quarter" type="sldNum"/>
          </p:nvPr>
        </p:nvSpPr>
        <p:spPr/>
        <p:txBody>
          <a:bodyPr/>
          <a:lstStyle/>
          <a:p>
            <a:fld id="{330EA680-D336-4FF7-8B7A-9848BB0A1C32}" type="slidenum">
              <a:rPr lang="en-GB" smtClean="0"/>
              <a:t>‹#›</a:t>
            </a:fld>
            <a:endParaRPr lang="en-GB"/>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0</Words>
  <Application>Microsoft Office PowerPoint</Application>
  <PresentationFormat>Widescreen</PresentationFormat>
  <Paragraphs>0</Paragraphs>
  <Slides>9</Slides>
  <Notes>0</Notes>
  <HiddenSlides>0</HiddenSlides>
  <MMClips>0</MMClips>
  <ScaleCrop>false</ScaleCrop>
  <HeadingPairs>
    <vt:vector size="4" baseType="variant">
      <vt:variant>
        <vt:lpstr>Theme</vt:lpstr>
      </vt:variant>
      <vt:variant>
        <vt:i4>1</vt:i4>
      </vt:variant>
      <vt:variant>
        <vt:lpstr>Slide Titles</vt:lpstr>
      </vt:variant>
      <vt:variant>
        <vt:i4>9</vt:i4>
      </vt:variant>
    </vt:vector>
  </HeadingPairs>
  <TitlesOfParts>
    <vt:vector size="10"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Session 1</dc:title>
  <dc:creator>Ernest Guevarra</dc:creator>
  <cp:keywords/>
  <dcterms:created xsi:type="dcterms:W3CDTF">2026-01-31T16:11:59Z</dcterms:created>
  <dcterms:modified xsi:type="dcterms:W3CDTF">2026-01-31T16:11:59Z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ffiliations">
    <vt:lpwstr/>
  </property>
  <property fmtid="{D5CDD505-2E9C-101B-9397-08002B2CF9AE}" pid="3" name="author-vi">
    <vt:lpwstr/>
  </property>
  <property fmtid="{D5CDD505-2E9C-101B-9397-08002B2CF9AE}" pid="4" name="authors">
    <vt:lpwstr/>
  </property>
  <property fmtid="{D5CDD505-2E9C-101B-9397-08002B2CF9AE}" pid="5" name="babelquarto">
    <vt:lpwstr/>
  </property>
  <property fmtid="{D5CDD505-2E9C-101B-9397-08002B2CF9AE}" pid="6" name="biblio-config">
    <vt:lpwstr>True</vt:lpwstr>
  </property>
  <property fmtid="{D5CDD505-2E9C-101B-9397-08002B2CF9AE}" pid="7" name="by-affiliation">
    <vt:lpwstr/>
  </property>
  <property fmtid="{D5CDD505-2E9C-101B-9397-08002B2CF9AE}" pid="8" name="by-author">
    <vt:lpwstr/>
  </property>
  <property fmtid="{D5CDD505-2E9C-101B-9397-08002B2CF9AE}" pid="9" name="description-vi">
    <vt:lpwstr/>
  </property>
  <property fmtid="{D5CDD505-2E9C-101B-9397-08002B2CF9AE}" pid="10" name="header-includes">
    <vt:lpwstr/>
  </property>
  <property fmtid="{D5CDD505-2E9C-101B-9397-08002B2CF9AE}" pid="11" name="include-after">
    <vt:lpwstr/>
  </property>
  <property fmtid="{D5CDD505-2E9C-101B-9397-08002B2CF9AE}" pid="12" name="include-before">
    <vt:lpwstr/>
  </property>
  <property fmtid="{D5CDD505-2E9C-101B-9397-08002B2CF9AE}" pid="13" name="labels">
    <vt:lpwstr/>
  </property>
  <property fmtid="{D5CDD505-2E9C-101B-9397-08002B2CF9AE}" pid="14" name="lang-en">
    <vt:lpwstr>true</vt:lpwstr>
  </property>
  <property fmtid="{D5CDD505-2E9C-101B-9397-08002B2CF9AE}" pid="15" name="subtitle">
    <vt:lpwstr>Global landscape of data governance institutions and frameworks</vt:lpwstr>
  </property>
  <property fmtid="{D5CDD505-2E9C-101B-9397-08002B2CF9AE}" pid="16" name="title-slide-attributes">
    <vt:lpwstr/>
  </property>
  <property fmtid="{D5CDD505-2E9C-101B-9397-08002B2CF9AE}" pid="17" name="title-vi">
    <vt:lpwstr>Các khóa đào tạo phát triển năng lực dữ liệu của TOP</vt:lpwstr>
  </property>
  <property fmtid="{D5CDD505-2E9C-101B-9397-08002B2CF9AE}" pid="18" name="toc-title">
    <vt:lpwstr>Table of contents</vt:lpwstr>
  </property>
</Properties>
</file>