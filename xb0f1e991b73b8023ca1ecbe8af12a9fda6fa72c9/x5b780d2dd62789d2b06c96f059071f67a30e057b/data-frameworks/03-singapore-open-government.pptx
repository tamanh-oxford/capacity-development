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7" Type="http://schemas.openxmlformats.org/officeDocument/2006/relationships/theme" Target="theme/theme1.xml" /><Relationship Id="rId3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35" Type="http://schemas.openxmlformats.org/officeDocument/2006/relationships/presProps" Target="presProps.xml" /><Relationship Id="rId39" Type="http://schemas.microsoft.com/office/2015/10/relationships/revisionInfo" Target="revisionInfo.xml" /><Relationship Id="rId38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camshield.gov.sg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sv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edeem.gov.sg/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sv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istribute.gov.sg/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sv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Singapore’s Smart Nation, Open Government Products, and Singapore Government Tech Stack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smart_n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0" y="1816100"/>
            <a:ext cx="9652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Smart Nation journey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Singapore’s </a:t>
            </a:r>
            <a:r>
              <a:rPr b="1"/>
              <a:t>Smart Nation initiative</a:t>
            </a:r>
            <a:r>
              <a:rPr/>
              <a:t>, led by the Ministry of Digital Development and Information (MDDI), aims to build a thriving digital future for everyone.</a:t>
            </a:r>
          </a:p>
          <a:p>
            <a:pPr lvl="0"/>
            <a:r>
              <a:rPr/>
              <a:t>Launched in </a:t>
            </a:r>
            <a:r>
              <a:rPr b="1"/>
              <a:t>2014</a:t>
            </a:r>
            <a:r>
              <a:rPr/>
              <a:t>, Smart Nation 1.0 sought to improve lives through seamless and meaningful use of technology.</a:t>
            </a:r>
          </a:p>
          <a:p>
            <a:pPr lvl="0"/>
            <a:r>
              <a:rPr/>
              <a:t>Since its launch, Singapore has integrated digital technologies deeply into daily life, creating new opportunities while also needing to manage risks to well-being and social cohesion.</a:t>
            </a:r>
          </a:p>
          <a:p>
            <a:pPr lvl="0"/>
            <a:r>
              <a:rPr/>
              <a:t>In </a:t>
            </a:r>
            <a:r>
              <a:rPr b="1"/>
              <a:t>2024</a:t>
            </a:r>
            <a:r>
              <a:rPr/>
              <a:t>, Singapore introduced </a:t>
            </a:r>
            <a:r>
              <a:rPr b="1"/>
              <a:t>Smart Nation 2.0</a:t>
            </a:r>
            <a:r>
              <a:rPr/>
              <a:t>, a refreshed vision focused on using technology more effectively to transform the nation’s future.</a:t>
            </a:r>
          </a:p>
          <a:p>
            <a:pPr lvl="0"/>
            <a:r>
              <a:rPr/>
              <a:t>The new phase shifts from primarily building digital capabilities to applying them strategically to shape Singapore’s long-term development.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Trust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Growth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Smart City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99%</a:t>
            </a:r>
            <a:r>
              <a:rPr/>
              <a:t> of all transactions between citizens and the government can be completed online.</a:t>
            </a:r>
          </a:p>
          <a:p>
            <a:pPr lvl="0"/>
            <a:r>
              <a:rPr b="1"/>
              <a:t>High citizen and business satisfaction</a:t>
            </a:r>
            <a:r>
              <a:rPr/>
              <a:t> with Government Digital Services at </a:t>
            </a:r>
            <a:r>
              <a:rPr b="1"/>
              <a:t>83%</a:t>
            </a:r>
            <a:r>
              <a:rPr/>
              <a:t> in 2023.</a:t>
            </a:r>
          </a:p>
          <a:p>
            <a:pPr lvl="0"/>
            <a:r>
              <a:rPr b="1"/>
              <a:t>99%</a:t>
            </a:r>
            <a:r>
              <a:rPr/>
              <a:t> of resident households are </a:t>
            </a:r>
            <a:r>
              <a:rPr b="1"/>
              <a:t>connected to the internet</a:t>
            </a:r>
            <a:r>
              <a:rPr/>
              <a:t>, as of 2022.</a:t>
            </a:r>
          </a:p>
          <a:p>
            <a:pPr lvl="0"/>
            <a:r>
              <a:rPr b="1"/>
              <a:t>95%</a:t>
            </a:r>
            <a:r>
              <a:rPr/>
              <a:t> of small and medium enterprises (SMEs) have adopted at least one digital technology from nine categories: cybersecurity, cloud, e-payment, e-commerce, data analytics, artificial intelligence, Internet of Things, blockchain, and immersive media.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National AI Strategy</a:t>
            </a:r>
          </a:p>
        </p:txBody>
      </p:sp>
      <p:pic>
        <p:nvPicPr>
          <p:cNvPr descr="../images/sg_nais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24300" y="1816100"/>
            <a:ext cx="4343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Government Products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Approach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than 40 products in progress</a:t>
            </a:r>
          </a:p>
          <a:p>
            <a:pPr lvl="0"/>
            <a:r>
              <a:rPr/>
              <a:t>Use </a:t>
            </a:r>
            <a:r>
              <a:rPr b="1"/>
              <a:t>report cards</a:t>
            </a:r>
            <a:r>
              <a:rPr/>
              <a:t> mechanism to provide a transparent overview of the work being done on each of the products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Tackle real problems</a:t>
            </a:r>
          </a:p>
          <a:p>
            <a:pPr lvl="0" indent="0" marL="0">
              <a:buNone/>
            </a:pPr>
            <a:r>
              <a:rPr/>
              <a:t>Share why and how the product solves a problem with updates along the way.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 responsibly</a:t>
            </a:r>
          </a:p>
          <a:p>
            <a:pPr lvl="0" indent="0" marL="0">
              <a:buNone/>
            </a:pPr>
            <a:r>
              <a:rPr/>
              <a:t>Product costs are made open as possible to stay accountable to taxpayers and citizens.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scamshiel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781300"/>
            <a:ext cx="10515600" cy="241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2"/>
              </a:rPr>
              <a:t>ScamShield</a:t>
            </a:r>
            <a:r>
              <a:rPr/>
              <a:t> helps users detect, check, and report suspicious messages, calls, and links.</a:t>
            </a:r>
          </a:p>
          <a:p>
            <a:pPr lvl="0"/>
            <a:r>
              <a:rPr/>
              <a:t>Reported scams are verified by authorities, helping them track and respond to new scam variants.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redeemsg_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997200"/>
            <a:ext cx="10515600" cy="196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Paper voucher campaigns were slow to launch and difficult for residents to claim and use.</a:t>
            </a:r>
          </a:p>
          <a:p>
            <a:pPr lvl="0"/>
            <a:r>
              <a:rPr/>
              <a:t>Merchants experienced long delays in receiving payments.</a:t>
            </a:r>
          </a:p>
          <a:p>
            <a:pPr lvl="0"/>
            <a:r>
              <a:rPr/>
              <a:t>Existing digital alternatives were available but scattered across multiple complicated apps.</a:t>
            </a:r>
          </a:p>
          <a:p>
            <a:pPr lvl="0"/>
            <a:r>
              <a:rPr b="1">
                <a:hlinkClick r:id="rId2"/>
              </a:rPr>
              <a:t>RedeemSG</a:t>
            </a:r>
            <a:r>
              <a:rPr/>
              <a:t> provides a unified platform for government agencies and non-profits to create, distribute, and monitor vouchers nationwide.</a:t>
            </a:r>
          </a:p>
          <a:p>
            <a:pPr lvl="0"/>
            <a:r>
              <a:rPr/>
              <a:t>Citizens redeem vouchers and merchants accept them through the same system.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distribute_sg_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794000"/>
            <a:ext cx="105156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Paper-based tracking made it difficult for organisations to monitor distributions or adapt plans in real time.</a:t>
            </a:r>
          </a:p>
          <a:p>
            <a:pPr lvl="0"/>
            <a:r>
              <a:rPr/>
              <a:t>This led to long waiting times, inaccurate records, and limited ability to reach more beneficiaries.</a:t>
            </a:r>
          </a:p>
          <a:p>
            <a:pPr lvl="0"/>
            <a:r>
              <a:rPr b="1">
                <a:hlinkClick r:id="rId2"/>
              </a:rPr>
              <a:t>DistributeSG</a:t>
            </a:r>
            <a:r>
              <a:rPr/>
              <a:t> enables government agencies and non-profits to run and monitor distribution campaigns with real-time tracking.</a:t>
            </a:r>
          </a:p>
          <a:p>
            <a:pPr lvl="0"/>
            <a:r>
              <a:rPr/>
              <a:t>It includes an admin portal for organisers to set up campaigns and a mobile app for on-the-ground tracking of distributed items.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Initiatives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build_for_goo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336800"/>
            <a:ext cx="10515600" cy="331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Build for Good</a:t>
            </a:r>
            <a:r>
              <a:rPr/>
              <a:t> is a citizen engagement initiative by Open Government Products that encourages citizens to help improve Singapore.</a:t>
            </a:r>
          </a:p>
          <a:p>
            <a:pPr lvl="0"/>
            <a:r>
              <a:rPr/>
              <a:t>People can participate through a </a:t>
            </a:r>
            <a:r>
              <a:rPr b="1"/>
              <a:t>hackathon</a:t>
            </a:r>
            <a:r>
              <a:rPr/>
              <a:t>, an </a:t>
            </a:r>
            <a:r>
              <a:rPr b="1"/>
              <a:t>accelerator for winning teams</a:t>
            </a:r>
            <a:r>
              <a:rPr/>
              <a:t>, or by joining the </a:t>
            </a:r>
            <a:r>
              <a:rPr b="1"/>
              <a:t>community</a:t>
            </a:r>
            <a:r>
              <a:rPr/>
              <a:t>.</a:t>
            </a:r>
          </a:p>
          <a:p>
            <a:pPr lvl="0"/>
            <a:r>
              <a:rPr/>
              <a:t>The initiative aims to create a supportive space where individuals feel empowered to contribute positively, experiment, and build solutions that make the world better.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hack_for_good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019300"/>
            <a:ext cx="10515600" cy="393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Hack for Public Good (HFPG)</a:t>
            </a:r>
            <a:r>
              <a:rPr/>
              <a:t> replaces top-down product development with a community-driven approach.</a:t>
            </a:r>
          </a:p>
          <a:p>
            <a:pPr lvl="0"/>
            <a:r>
              <a:rPr/>
              <a:t>Instead of leadership setting the direction, tech teams engage directly with the community to identify public good problems in Singapore.</a:t>
            </a:r>
          </a:p>
          <a:p>
            <a:pPr lvl="0"/>
            <a:r>
              <a:rPr/>
              <a:t>These teams then design and build solutions based on what they discover.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Singapore government tech stack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Singapore Government Tech Stack (SGTS)</a:t>
            </a:r>
            <a:r>
              <a:rPr/>
              <a:t> modernises development practices across the whole government.</a:t>
            </a:r>
          </a:p>
          <a:p>
            <a:pPr lvl="0"/>
            <a:r>
              <a:rPr/>
              <a:t>The goal is to support the creation of secure, responsive systems that keep up with evolving citizen and business needs.</a:t>
            </a:r>
          </a:p>
        </p:txBody>
      </p:sp>
      <p:pic>
        <p:nvPicPr>
          <p:cNvPr descr="../images/sg_tech_stack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209800"/>
            <a:ext cx="61722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pic>
        <p:nvPicPr>
          <p:cNvPr descr="../images/sg_sgts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05200" y="1816100"/>
            <a:ext cx="5181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- base layer</a:t>
            </a:r>
          </a:p>
        </p:txBody>
      </p:sp>
      <p:pic>
        <p:nvPicPr>
          <p:cNvPr descr="../images/sg_sgts_base_lay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816100"/>
            <a:ext cx="6451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- service layer</a:t>
            </a:r>
          </a:p>
        </p:txBody>
      </p:sp>
      <p:pic>
        <p:nvPicPr>
          <p:cNvPr descr="../images/sg_sgts_service_lay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05200" y="1816100"/>
            <a:ext cx="5194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Streamlining Payroll Submissions in Singapore: APEX’s Solution for Efficient Government Reporting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Singapore-registered companies must regularly submit employee salary, workforce, and CPF contribution data to various government agencies (IRAS, MOM, CPFB).</a:t>
            </a:r>
          </a:p>
          <a:p>
            <a:pPr lvl="0"/>
            <a:r>
              <a:rPr/>
              <a:t>All required data already exists within companies’ payroll or HR systems.</a:t>
            </a:r>
          </a:p>
          <a:p>
            <a:pPr lvl="0"/>
            <a:r>
              <a:rPr/>
              <a:t>The challenge is to integrate government submissions with these systems to streamline processes, reduce manual work, and save employers time and resources.</a:t>
            </a:r>
          </a:p>
        </p:txBody>
      </p:sp>
      <p:pic>
        <p:nvPicPr>
          <p:cNvPr descr="../images/sg_apex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540000"/>
            <a:ext cx="51816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APEX</a:t>
            </a:r>
            <a:r>
              <a:rPr/>
              <a:t> unifies APIs from multiple government agencies on one secure platform.</a:t>
            </a:r>
          </a:p>
          <a:p>
            <a:pPr lvl="0"/>
            <a:r>
              <a:rPr/>
              <a:t>It enables developers, including HR and payroll software providers, to integrate easily with these services.</a:t>
            </a:r>
          </a:p>
          <a:p>
            <a:pPr lvl="0"/>
            <a:r>
              <a:rPr/>
              <a:t>APEX removes the need for manual filing reducing administrative burden and supports better compliance with payroll-related regulations.</a:t>
            </a:r>
          </a:p>
        </p:txBody>
      </p:sp>
      <p:pic>
        <p:nvPicPr>
          <p:cNvPr descr="../images/sg_apexc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222500"/>
            <a:ext cx="61722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</dc:title>
  <dc:creator>Ernest Guevarra</dc:creator>
  <cp:keywords/>
  <dcterms:created xsi:type="dcterms:W3CDTF">2026-01-31T11:38:13Z</dcterms:created>
  <dcterms:modified xsi:type="dcterms:W3CDTF">2026-01-31T11:38:13Z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Case Study: Singapore’s Smart Nation, Open Government Products, and Singapore Government Tech Stack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