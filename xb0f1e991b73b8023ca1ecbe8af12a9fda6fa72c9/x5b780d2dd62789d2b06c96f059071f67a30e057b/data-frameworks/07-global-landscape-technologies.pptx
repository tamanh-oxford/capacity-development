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showSpecialPlsOnTitleSld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GB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9972"/>
    <p:restoredTop sz="94660"/>
  </p:normalViewPr>
  <p:slideViewPr>
    <p:cSldViewPr snapToGrid="0">
      <p:cViewPr varScale="1">
        <p:scale>
          <a:sx d="100" n="86"/>
          <a:sy d="100" n="86"/>
        </p:scale>
        <p:origin x="96" y="88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4" Type="http://schemas.openxmlformats.org/officeDocument/2006/relationships/theme" Target="theme/theme1.xml" /><Relationship Id="rId13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12" Type="http://schemas.openxmlformats.org/officeDocument/2006/relationships/presProps" Target="presProps.xml" /><Relationship Id="rId16" Type="http://schemas.microsoft.com/office/2015/10/relationships/revisionInfo" Target="revisionInfo.xml" /><Relationship Id="rId15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GB"/>
              <a:t>Click to edit Master title style</a:t>
            </a:r>
            <a:endParaRPr dirty="0" lang="en-GB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GB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7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Global landscape of available technologies for data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mages/tech_landscape_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05000" y="1816100"/>
            <a:ext cx="83820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Number of data 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In 2012, there were about </a:t>
            </a:r>
            <a:r>
              <a:rPr b="1"/>
              <a:t>139</a:t>
            </a:r>
            <a:r>
              <a:rPr/>
              <a:t> apps/tools/platforms relevant to data.</a:t>
            </a:r>
          </a:p>
          <a:p>
            <a:pPr lvl="0"/>
            <a:r>
              <a:rPr/>
              <a:t>In 2023, there were about </a:t>
            </a:r>
            <a:r>
              <a:rPr b="1"/>
              <a:t>1416</a:t>
            </a:r>
            <a:r>
              <a:rPr/>
              <a:t>.</a:t>
            </a:r>
          </a:p>
          <a:p>
            <a:pPr lvl="0"/>
            <a:r>
              <a:rPr/>
              <a:t>By 2024, this number increased to </a:t>
            </a:r>
            <a:r>
              <a:rPr b="1"/>
              <a:t>2000+</a:t>
            </a:r>
            <a:r>
              <a:rPr/>
              <a:t>.</a:t>
            </a:r>
          </a:p>
        </p:txBody>
      </p:sp>
      <p:pic>
        <p:nvPicPr>
          <p:cNvPr descr="../images/tech_landscape_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72200" y="2641600"/>
            <a:ext cx="51816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Technologies and methods that support data-driven decision-making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Technology that supports data-intensive analytics: artificial intelligence, including machine learning</a:t>
            </a:r>
          </a:p>
          <a:p>
            <a:pPr lvl="0"/>
            <a:r>
              <a:rPr/>
              <a:t>Technology that collects data and actions insights from analytics: smart devices and devices connected through the Internet of Things (IoT)</a:t>
            </a:r>
          </a:p>
          <a:p>
            <a:pPr lvl="0"/>
            <a:r>
              <a:rPr/>
              <a:t>Technology that creates transparency and trust in data records: distributed ledger technology, including blockchain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Platform firms in low and middle-income countries</a:t>
            </a:r>
          </a:p>
        </p:txBody>
      </p:sp>
      <p:pic>
        <p:nvPicPr>
          <p:cNvPr descr="../images/data_platform_firm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73200" y="1816100"/>
            <a:ext cx="92583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Domestic vs Foreign-based firms</a:t>
            </a:r>
          </a:p>
        </p:txBody>
      </p:sp>
      <p:pic>
        <p:nvPicPr>
          <p:cNvPr descr="../images/data_foreign_domestic_firm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62200" y="1816100"/>
            <a:ext cx="74549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Users spend more time on Facebook, Google, and YouTube</a:t>
            </a:r>
          </a:p>
        </p:txBody>
      </p:sp>
      <p:pic>
        <p:nvPicPr>
          <p:cNvPr descr="../images/data_website_visi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04900" y="1816100"/>
            <a:ext cx="99822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Internet traffic in low and middle income countries</a:t>
            </a:r>
          </a:p>
        </p:txBody>
      </p:sp>
      <p:pic>
        <p:nvPicPr>
          <p:cNvPr descr="../images/data_global_internet_sh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49700" y="1816100"/>
            <a:ext cx="42926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lifecycle</a:t>
            </a:r>
          </a:p>
        </p:txBody>
      </p:sp>
      <p:pic>
        <p:nvPicPr>
          <p:cNvPr descr="../images/data_lifecyc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62300" y="1816100"/>
            <a:ext cx="58547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technology landscape</a:t>
            </a:r>
          </a:p>
        </p:txBody>
      </p:sp>
      <p:pic>
        <p:nvPicPr>
          <p:cNvPr descr="../images/tech_landscape_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78000" y="1816100"/>
            <a:ext cx="86487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7</dc:title>
  <dc:creator>Ernest Guevarra</dc:creator>
  <cp:keywords/>
  <dcterms:created xsi:type="dcterms:W3CDTF">2026-01-31T12:46:58Z</dcterms:created>
  <dcterms:modified xsi:type="dcterms:W3CDTF">2026-01-31T12:46:58Z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en">
    <vt:lpwstr>true</vt:lpwstr>
  </property>
  <property fmtid="{D5CDD505-2E9C-101B-9397-08002B2CF9AE}" pid="15" name="subtitle">
    <vt:lpwstr>Global landscape of available technologies for data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