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g" ContentType="image/jpeg"/>
  <Default Extension="jpeg" ContentType="image/jpe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saveSubsetFonts="1" showSpecialPlsOnTitleSld="0">
  <p:sldMasterIdLst>
    <p:sldMasterId id="2147483660" r:id="rId1"/>
  </p:sldMasterIdLst>
  <p:notesMasterIdLst>
    <p:notesMasterId r:id="rId8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Lst>
  <p:sldSz cx="12192000" cy="6858000"/>
  <p:notesSz cx="6858000" cy="9144000"/>
  <p:defaultTextStyle>
    <a:defPPr>
      <a:defRPr lang="en-GB"/>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14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horzBarState="maximized">
    <p:restoredLeft autoAdjust="0" sz="19972"/>
    <p:restoredTop sz="94660"/>
  </p:normalViewPr>
  <p:slideViewPr>
    <p:cSldViewPr snapToGrid="0">
      <p:cViewPr varScale="1">
        <p:scale>
          <a:sx d="100" n="86"/>
          <a:sy d="100" n="86"/>
        </p:scale>
        <p:origin x="96" y="888"/>
      </p:cViewPr>
      <p:guideLst/>
    </p:cSldViewPr>
  </p:slideViewPr>
  <p:notesTextViewPr>
    <p:cViewPr>
      <p:scale>
        <a:sx d="1" n="1"/>
        <a:sy d="1" n="1"/>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slide" Target="slides/slide70.xml" /><Relationship Id="rId72" Type="http://schemas.openxmlformats.org/officeDocument/2006/relationships/slide" Target="slides/slide71.xml" /><Relationship Id="rId73" Type="http://schemas.openxmlformats.org/officeDocument/2006/relationships/slide" Target="slides/slide72.xml" /><Relationship Id="rId74" Type="http://schemas.openxmlformats.org/officeDocument/2006/relationships/slide" Target="slides/slide73.xml" /><Relationship Id="rId75" Type="http://schemas.openxmlformats.org/officeDocument/2006/relationships/slide" Target="slides/slide74.xml" /><Relationship Id="rId76" Type="http://schemas.openxmlformats.org/officeDocument/2006/relationships/slide" Target="slides/slide75.xml" /><Relationship Id="rId77" Type="http://schemas.openxmlformats.org/officeDocument/2006/relationships/slide" Target="slides/slide76.xml" /><Relationship Id="rId78" Type="http://schemas.openxmlformats.org/officeDocument/2006/relationships/slide" Target="slides/slide77.xml" /><Relationship Id="rId79" Type="http://schemas.openxmlformats.org/officeDocument/2006/relationships/slide" Target="slides/slide78.xml" /><Relationship Id="rId80" Type="http://schemas.openxmlformats.org/officeDocument/2006/relationships/slide" Target="slides/slide79.xml" /><Relationship Id="rId81" Type="http://schemas.openxmlformats.org/officeDocument/2006/relationships/slide" Target="slides/slide80.xml" /><Relationship Id="rId82" Type="http://schemas.openxmlformats.org/officeDocument/2006/relationships/slide" Target="slides/slide81.xml" /><Relationship Id="rId83" Type="http://schemas.openxmlformats.org/officeDocument/2006/relationships/slide" Target="slides/slide82.xml" /><Relationship Id="rId84" Type="http://schemas.openxmlformats.org/officeDocument/2006/relationships/slide" Target="slides/slide83.xml" /><Relationship Id="rId85" Type="http://schemas.openxmlformats.org/officeDocument/2006/relationships/notesMaster" Target="notesMasters/notesMaster1.xml" /><Relationship Id="rId88" Type="http://schemas.openxmlformats.org/officeDocument/2006/relationships/theme" Target="theme/theme1.xml" /><Relationship Id="rId87" Type="http://schemas.openxmlformats.org/officeDocument/2006/relationships/viewProps" Target="viewProps.xml" /><Relationship Id="rId1" Type="http://schemas.openxmlformats.org/officeDocument/2006/relationships/slideMaster" Target="slideMasters/slideMaster1.xml" /><Relationship Id="rId86" Type="http://schemas.openxmlformats.org/officeDocument/2006/relationships/presProps" Target="presProps.xml" /><Relationship Id="rId90" Type="http://schemas.microsoft.com/office/2015/10/relationships/revisionInfo" Target="revisionInfo.xml" /><Relationship Id="rId89" Type="http://schemas.openxmlformats.org/officeDocument/2006/relationships/tableStyles" Target="tableStyle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73.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When going through these five case studies, it is recommended to first go through them using the who, what, when, where, how, and why framework as a way to get a firm grounding on the case study details.</a:t>
            </a:r>
          </a:p>
          <a:p>
            <a:pPr lvl="0" indent="0" marL="0">
              <a:buNone/>
            </a:pPr>
          </a:p>
          <a:p>
            <a:pPr lvl="0" indent="0" marL="0">
              <a:buNone/>
            </a:pPr>
            <a:r>
              <a:rPr/>
              <a:t>The “who, what, when, where, how, and why” framework is a systematic approach to understanding and analysing data. Another term that can be used for this framework is descriptive metadata which is data that provides information about other data, but not the content itself. So, if I have an image, the metadata wouldn’t be the actual picture, but the details about who took it, when, or where.</a:t>
            </a:r>
          </a:p>
          <a:p>
            <a:pPr lvl="0" indent="0" marL="0">
              <a:buNone/>
            </a:pPr>
          </a:p>
          <a:p>
            <a:pPr lvl="0" indent="0" marL="0">
              <a:buNone/>
            </a:pPr>
            <a:r>
              <a:rPr/>
              <a:t>Here’s a structured explanation of each component within this framework:</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Refers to the individuals or entities involved with the data. This includes stakeholders, users, customers, employees, or business partners who interact with or are affected by the data. More specifically, this may include, among others, information on:</a:t>
            </a:r>
          </a:p>
          <a:p>
            <a:pPr lvl="0" indent="0" marL="0">
              <a:buNone/>
            </a:pPr>
          </a:p>
          <a:p>
            <a:pPr lvl="0" indent="0" marL="0">
              <a:buNone/>
            </a:pPr>
            <a:r>
              <a:rPr/>
              <a:t>who owns the data; who manages the data; who collects the data; who stores the data; and, who protects/safeguards the data.</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Describes what the data is about and its type, nature, and provenance. It specifies what information is available, such as numerical data, text, images, etc., which helps in understanding the scope and relevance of the data, and how to work with the data.</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Pertains to the timing, period, and/or frequency in which the data was/is being collected, recorded, or analysed.</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Indicates the location where the data is stored or accessed. This could be within a database, on a server, or even from external sources like devices or sensors, providing context about data accessibility and storage.</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Asks for the purpose behind collecting and analysing the data. It clarifies why this information is being gathered i.e., whether it’s for reporting, decision-making, monitoring performance, or other objectives. This in turn guides appropriate actions based on the data insights.</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Focuses on the methods used to collect, process, or extract the data. This includes techniques such as surveys, sensor readings, or existing records, which helps in understanding how reliable and comprehensive the data is.</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Livestock is managed in herds and there is little fuss when individuals are lost or must be sacrificed. A pet, on the other hand, is unique and precious.</a:t>
            </a:r>
          </a:p>
          <a:p>
            <a:pPr lvl="0" indent="0" marL="0">
              <a:buNone/>
            </a:pPr>
          </a:p>
          <a:p>
            <a:pPr lvl="0" indent="0" marL="0">
              <a:buNone/>
            </a:pPr>
            <a:r>
              <a:rPr/>
              <a:t>This is one of the limitations of spreadsheets in relation to creating a holistic data workflow. The tool combines the data, the code/steps, and the interface all in one software with an emphasis on just showing the end product/output to the user and the code/steps component hidden away.</a:t>
            </a:r>
          </a:p>
        </p:txBody>
      </p:sp>
      <p:sp>
        <p:nvSpPr>
          <p:cNvPr id="4" name="Slide Number Placeholder 3"/>
          <p:cNvSpPr>
            <a:spLocks noGrp="1"/>
          </p:cNvSpPr>
          <p:nvPr>
            <p:ph type="sldNum" sz="quarter" idx="10"/>
          </p:nvPr>
        </p:nvSpPr>
        <p:spPr/>
        <p:txBody>
          <a:bodyPr/>
          <a:lstStyle/>
          <a:p>
            <a:fld id="{18BDFEC3-8487-43E8-A154-7C12CBC1FFF2}" type="slidenum">
              <a:rPr lang="en-US"/>
              <a:t>73</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B"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p:cNvSpPr>
            <a:spLocks noGrp="1"/>
          </p:cNvSpPr>
          <p:nvPr>
            <p:ph type="dt" sz="half" idx="10"/>
          </p:nvPr>
        </p:nvSpPr>
        <p:spPr/>
        <p:txBody>
          <a:bodyPr/>
          <a:lstStyle/>
          <a:p>
            <a:fld id="{846CE7D5-CF57-46EF-B807-FDD0502418D4}" type="datetimeFigureOut">
              <a:rPr lang="en-GB" smtClean="0"/>
              <a:t>13/01/2026</a:t>
            </a:fld>
            <a:endParaRPr lang="en-GB"/>
          </a:p>
        </p:txBody>
      </p:sp>
      <p:sp>
        <p:nvSpPr>
          <p:cNvPr id="6" name="Footer Placeholder 5"/>
          <p:cNvSpPr>
            <a:spLocks noGrp="1"/>
          </p:cNvSpPr>
          <p:nvPr>
            <p:ph type="ftr" sz="quarter" idx="11"/>
          </p:nvPr>
        </p:nvSpPr>
        <p:spPr/>
        <p:txBody>
          <a:bodyPr/>
          <a:lstStyle/>
          <a:p>
            <a:r>
              <a:rPr lang="en-GB"/>
              <a:t>Tâm Anh Oxford Partnership</a:t>
            </a:r>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GB"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p:cNvSpPr>
            <a:spLocks noGrp="1"/>
          </p:cNvSpPr>
          <p:nvPr>
            <p:ph type="dt" sz="half" idx="10"/>
          </p:nvPr>
        </p:nvSpPr>
        <p:spPr/>
        <p:txBody>
          <a:bodyPr/>
          <a:lstStyle/>
          <a:p>
            <a:fld id="{846CE7D5-CF57-46EF-B807-FDD0502418D4}" type="datetimeFigureOut">
              <a:rPr lang="en-GB" smtClean="0"/>
              <a:t>13/01/2026</a:t>
            </a:fld>
            <a:endParaRPr lang="en-GB"/>
          </a:p>
        </p:txBody>
      </p:sp>
      <p:sp>
        <p:nvSpPr>
          <p:cNvPr id="8" name="Footer Placeholder 7"/>
          <p:cNvSpPr>
            <a:spLocks noGrp="1"/>
          </p:cNvSpPr>
          <p:nvPr>
            <p:ph type="ftr" sz="quarter" idx="11"/>
          </p:nvPr>
        </p:nvSpPr>
        <p:spPr/>
        <p:txBody>
          <a:bodyPr/>
          <a:lstStyle/>
          <a:p>
            <a:r>
              <a:rPr lang="en-GB"/>
              <a:t>Tâm Anh Oxford Partnership</a:t>
            </a:r>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Date Placeholder 2"/>
          <p:cNvSpPr>
            <a:spLocks noGrp="1"/>
          </p:cNvSpPr>
          <p:nvPr>
            <p:ph type="dt" sz="half" idx="10"/>
          </p:nvPr>
        </p:nvSpPr>
        <p:spPr/>
        <p:txBody>
          <a:bodyPr/>
          <a:lstStyle/>
          <a:p>
            <a:fld id="{846CE7D5-CF57-46EF-B807-FDD0502418D4}" type="datetimeFigureOut">
              <a:rPr lang="en-GB" smtClean="0"/>
              <a:t>13/01/2026</a:t>
            </a:fld>
            <a:endParaRPr lang="en-GB"/>
          </a:p>
        </p:txBody>
      </p:sp>
      <p:sp>
        <p:nvSpPr>
          <p:cNvPr id="4" name="Footer Placeholder 3"/>
          <p:cNvSpPr>
            <a:spLocks noGrp="1"/>
          </p:cNvSpPr>
          <p:nvPr>
            <p:ph type="ftr" sz="quarter" idx="11"/>
          </p:nvPr>
        </p:nvSpPr>
        <p:spPr/>
        <p:txBody>
          <a:bodyPr/>
          <a:lstStyle/>
          <a:p>
            <a:r>
              <a:rPr lang="en-GB"/>
              <a:t>Tâm Anh Oxford Partnership</a:t>
            </a:r>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13/01/2026</a:t>
            </a:fld>
            <a:endParaRPr lang="en-GB"/>
          </a:p>
        </p:txBody>
      </p:sp>
      <p:sp>
        <p:nvSpPr>
          <p:cNvPr id="3" name="Footer Placeholder 2"/>
          <p:cNvSpPr>
            <a:spLocks noGrp="1"/>
          </p:cNvSpPr>
          <p:nvPr>
            <p:ph type="ftr" sz="quarter" idx="11"/>
          </p:nvPr>
        </p:nvSpPr>
        <p:spPr/>
        <p:txBody>
          <a:bodyPr/>
          <a:lstStyle/>
          <a:p>
            <a:r>
              <a:rPr lang="en-GB"/>
              <a:t>Tâm Anh Oxford Partnership</a:t>
            </a:r>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13/01/2026</a:t>
            </a:fld>
            <a:endParaRPr lang="en-GB"/>
          </a:p>
        </p:txBody>
      </p:sp>
      <p:sp>
        <p:nvSpPr>
          <p:cNvPr id="6" name="Footer Placeholder 5"/>
          <p:cNvSpPr>
            <a:spLocks noGrp="1"/>
          </p:cNvSpPr>
          <p:nvPr>
            <p:ph type="ftr" sz="quarter" idx="11"/>
          </p:nvPr>
        </p:nvSpPr>
        <p:spPr/>
        <p:txBody>
          <a:bodyPr/>
          <a:lstStyle/>
          <a:p>
            <a:r>
              <a:rPr lang="en-GB"/>
              <a:t>Tâm Anh Oxford Partnership</a:t>
            </a:r>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13/01/2026</a:t>
            </a:fld>
            <a:endParaRPr lang="en-GB"/>
          </a:p>
        </p:txBody>
      </p:sp>
      <p:sp>
        <p:nvSpPr>
          <p:cNvPr id="6" name="Footer Placeholder 5"/>
          <p:cNvSpPr>
            <a:spLocks noGrp="1"/>
          </p:cNvSpPr>
          <p:nvPr>
            <p:ph type="ftr" sz="quarter" idx="11"/>
          </p:nvPr>
        </p:nvSpPr>
        <p:spPr/>
        <p:txBody>
          <a:bodyPr/>
          <a:lstStyle/>
          <a:p>
            <a:r>
              <a:rPr lang="en-GB"/>
              <a:t>Tâm Anh Oxford Partnership</a:t>
            </a:r>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GB"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hf hdr="0" dt="0"/>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anchor="ctr" bIns="45720" lIns="91440" rIns="91440" rtlCol="0" tIns="45720" vert="horz">
            <a:normAutofit/>
          </a:bodyPr>
          <a:lstStyle/>
          <a:p>
            <a:r>
              <a:rPr lang="en-GB"/>
              <a:t>Click to edit Master title style</a:t>
            </a:r>
            <a:endParaRPr dirty="0" lang="en-GB"/>
          </a:p>
        </p:txBody>
      </p:sp>
      <p:sp>
        <p:nvSpPr>
          <p:cNvPr id="3" name="Text Placeholder 2"/>
          <p:cNvSpPr>
            <a:spLocks noGrp="1"/>
          </p:cNvSpPr>
          <p:nvPr>
            <p:ph idx="1" type="body"/>
          </p:nvPr>
        </p:nvSpPr>
        <p:spPr>
          <a:xfrm>
            <a:off x="838200" y="1825625"/>
            <a:ext cx="10515600" cy="4351338"/>
          </a:xfrm>
          <a:prstGeom prst="rect">
            <a:avLst/>
          </a:prstGeom>
        </p:spPr>
        <p:txBody>
          <a:bodyPr bIns="45720" lIns="91440" rIns="91440" rtlCol="0" tIns="45720" vert="horz">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lang="en-GB"/>
          </a:p>
        </p:txBody>
      </p:sp>
      <p:sp>
        <p:nvSpPr>
          <p:cNvPr id="4" name="Date Placeholder 3"/>
          <p:cNvSpPr>
            <a:spLocks noGrp="1"/>
          </p:cNvSpPr>
          <p:nvPr>
            <p:ph idx="2" sz="half" type="dt"/>
          </p:nvPr>
        </p:nvSpPr>
        <p:spPr>
          <a:xfrm>
            <a:off x="838200" y="6356350"/>
            <a:ext cx="2743200" cy="365125"/>
          </a:xfrm>
          <a:prstGeom prst="rect">
            <a:avLst/>
          </a:prstGeom>
        </p:spPr>
        <p:txBody>
          <a:bodyPr anchor="ctr" bIns="45720" lIns="91440" rIns="91440" rtlCol="0" tIns="45720" vert="horz"/>
          <a:lstStyle>
            <a:lvl1pPr algn="l">
              <a:defRPr sz="1200">
                <a:solidFill>
                  <a:schemeClr val="tx1">
                    <a:tint val="82000"/>
                  </a:schemeClr>
                </a:solidFill>
              </a:defRPr>
            </a:lvl1pPr>
          </a:lstStyle>
          <a:p>
            <a:fld id="{846CE7D5-CF57-46EF-B807-FDD0502418D4}" type="datetimeFigureOut">
              <a:rPr lang="en-GB" smtClean="0"/>
              <a:t>13/01/2026</a:t>
            </a:fld>
            <a:endParaRPr lang="en-GB"/>
          </a:p>
        </p:txBody>
      </p:sp>
      <p:sp>
        <p:nvSpPr>
          <p:cNvPr id="5" name="Footer Placeholder 4"/>
          <p:cNvSpPr>
            <a:spLocks noGrp="1"/>
          </p:cNvSpPr>
          <p:nvPr>
            <p:ph idx="3" sz="quarter" type="ftr"/>
          </p:nvPr>
        </p:nvSpPr>
        <p:spPr>
          <a:xfrm>
            <a:off x="4038600" y="6356350"/>
            <a:ext cx="4114800" cy="365125"/>
          </a:xfrm>
          <a:prstGeom prst="rect">
            <a:avLst/>
          </a:prstGeom>
        </p:spPr>
        <p:txBody>
          <a:bodyPr anchor="ctr" bIns="45720" lIns="91440" rIns="91440" rtlCol="0" tIns="45720" vert="horz"/>
          <a:lstStyle>
            <a:lvl1pPr algn="ctr">
              <a:defRPr sz="1200">
                <a:solidFill>
                  <a:schemeClr val="tx1">
                    <a:tint val="82000"/>
                  </a:schemeClr>
                </a:solidFill>
              </a:defRPr>
            </a:lvl1pPr>
          </a:lstStyle>
          <a:p>
            <a:r>
              <a:rPr lang="en-GB"/>
              <a:t>Tâm Anh Oxford Partnership</a:t>
            </a:r>
          </a:p>
        </p:txBody>
      </p:sp>
      <p:sp>
        <p:nvSpPr>
          <p:cNvPr id="6" name="Slide Number Placeholder 5"/>
          <p:cNvSpPr>
            <a:spLocks noGrp="1"/>
          </p:cNvSpPr>
          <p:nvPr>
            <p:ph idx="4" sz="quarter" type="sldNum"/>
          </p:nvPr>
        </p:nvSpPr>
        <p:spPr>
          <a:xfrm>
            <a:off x="8610600" y="6356350"/>
            <a:ext cx="2743200" cy="365125"/>
          </a:xfrm>
          <a:prstGeom prst="rect">
            <a:avLst/>
          </a:prstGeom>
        </p:spPr>
        <p:txBody>
          <a:bodyPr anchor="ctr" bIns="45720" lIns="91440" rIns="91440" rtlCol="0" tIns="45720" vert="horz"/>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accent1="accent1" accent2="accent2" accent3="accent3" accent4="accent4" accent5="accent5" accent6="accent6" bg1="lt1" bg2="lt2" folHlink="folHlink" hlink="hlink" tx1="dk1" tx2="dk2"/>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hdr="0"/>
  <p:txStyles>
    <p:titleStyle>
      <a:lvl1pPr algn="l" defTabSz="914400" eaLnBrk="1" hangingPunct="1" latinLnBrk="0" rtl="0">
        <a:lnSpc>
          <a:spcPct val="90000"/>
        </a:lnSpc>
        <a:spcBef>
          <a:spcPct val="0"/>
        </a:spcBef>
        <a:buNone/>
        <a:defRPr kern="1200" sz="4400">
          <a:solidFill>
            <a:schemeClr val="tx1"/>
          </a:solidFill>
          <a:latin typeface="+mj-lt"/>
          <a:ea typeface="+mj-ea"/>
          <a:cs typeface="+mj-cs"/>
        </a:defRPr>
      </a:lvl1pPr>
    </p:titleStyle>
    <p:bodyStyle>
      <a:lvl1pPr algn="l" defTabSz="914400" eaLnBrk="1" hangingPunct="1" indent="-228600" latinLnBrk="0" marL="228600" rtl="0">
        <a:lnSpc>
          <a:spcPct val="90000"/>
        </a:lnSpc>
        <a:spcBef>
          <a:spcPts val="1000"/>
        </a:spcBef>
        <a:buFont charset="0" panose="020B0604020202020204" pitchFamily="34" typeface="Arial"/>
        <a:buChar char="•"/>
        <a:defRPr kern="1200" sz="2800">
          <a:solidFill>
            <a:schemeClr val="tx1"/>
          </a:solidFill>
          <a:latin typeface="+mn-lt"/>
          <a:ea typeface="+mn-ea"/>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p:bodyStyle>
    <p:otherStyle>
      <a:defPPr>
        <a:defRPr lang="en-GB"/>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jpg"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jpg"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eusprig.org/" TargetMode="External" /><Relationship Id="rId3" Type="http://schemas.openxmlformats.org/officeDocument/2006/relationships/hyperlink" Target="https://eusprig.org/research-info/horror-stories/" TargetMode="Externa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datacarpentry.github.io/spreadsheet-ecology-lesson/02-common-mistakes" TargetMode="Externa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8.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59.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7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5.png" /></Relationships>
</file>

<file path=ppt/slides/_rels/slide7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3.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lstStyle/>
          <a:p>
            <a:pPr lvl="0" indent="0" marL="0">
              <a:buNone/>
            </a:pPr>
            <a:r>
              <a:rPr/>
              <a:t>Research Data Management</a:t>
            </a:r>
          </a:p>
        </p:txBody>
      </p:sp>
      <p:sp>
        <p:nvSpPr>
          <p:cNvPr id="3" name="Subtitle 2"/>
          <p:cNvSpPr>
            <a:spLocks noGrp="1"/>
          </p:cNvSpPr>
          <p:nvPr>
            <p:ph idx="1" type="subTitle"/>
          </p:nvPr>
        </p:nvSpPr>
        <p:spPr>
          <a:xfrm>
            <a:off x="1524000" y="3602038"/>
            <a:ext cx="9144000" cy="1655762"/>
          </a:xfrm>
        </p:spPr>
        <p:txBody>
          <a:bodyPr/>
          <a:lstStyle/>
          <a:p>
            <a:pPr lvl="0" indent="0" marL="0">
              <a:buNone/>
            </a:pPr>
            <a:r>
              <a:rPr/>
              <a:t>Guiding Principles and Best Practices</a:t>
            </a:r>
            <a:br/>
            <a:br/>
            <a:r>
              <a:rPr/>
              <a:t>Ernest Guevarra</a:t>
            </a:r>
            <a:br/>
            <a:r>
              <a:rPr/>
              <a:t>Dr Minh Cong Tran</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Go to the people. Live with them. Learn from them. Love them.</a:t>
            </a:r>
          </a:p>
          <a:p>
            <a:pPr lvl="0" indent="0" marL="0">
              <a:spcBef>
                <a:spcPts val="3000"/>
              </a:spcBef>
              <a:buNone/>
            </a:pPr>
            <a:r>
              <a:rPr b="1"/>
              <a:t>Start with what they know. Build with what they have.</a:t>
            </a:r>
          </a:p>
          <a:p>
            <a:pPr lvl="0" indent="0" marL="0">
              <a:spcBef>
                <a:spcPts val="3000"/>
              </a:spcBef>
              <a:buNone/>
            </a:pPr>
            <a:r>
              <a:rPr b="1"/>
              <a:t>But with the best leaders, when the work is done, the task accomplished, the people will say “We have done it ourselves”.</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Who, what, when, where, why, and how of data</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Who</a:t>
            </a:r>
          </a:p>
        </p:txBody>
      </p:sp>
      <p:sp>
        <p:nvSpPr>
          <p:cNvPr id="3" name="Content Placeholder 2"/>
          <p:cNvSpPr>
            <a:spLocks noGrp="1"/>
          </p:cNvSpPr>
          <p:nvPr>
            <p:ph idx="1"/>
          </p:nvPr>
        </p:nvSpPr>
        <p:spPr/>
        <p:txBody>
          <a:bodyPr/>
          <a:lstStyle/>
          <a:p>
            <a:pPr lvl="0"/>
            <a:r>
              <a:rPr/>
              <a:t>who owns the data;</a:t>
            </a:r>
          </a:p>
          <a:p>
            <a:pPr lvl="0"/>
            <a:r>
              <a:rPr/>
              <a:t>who manages the data;</a:t>
            </a:r>
          </a:p>
          <a:p>
            <a:pPr lvl="0"/>
            <a:r>
              <a:rPr/>
              <a:t>who collects the data;</a:t>
            </a:r>
          </a:p>
          <a:p>
            <a:pPr lvl="0"/>
            <a:r>
              <a:rPr/>
              <a:t>who stores the data; and,</a:t>
            </a:r>
          </a:p>
          <a:p>
            <a:pPr lvl="0"/>
            <a:r>
              <a:rPr/>
              <a:t>who protects/safeguards the data.</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a:t>
            </a:r>
          </a:p>
        </p:txBody>
      </p:sp>
      <p:sp>
        <p:nvSpPr>
          <p:cNvPr id="3" name="Content Placeholder 2"/>
          <p:cNvSpPr>
            <a:spLocks noGrp="1"/>
          </p:cNvSpPr>
          <p:nvPr>
            <p:ph idx="1"/>
          </p:nvPr>
        </p:nvSpPr>
        <p:spPr/>
        <p:txBody>
          <a:bodyPr/>
          <a:lstStyle/>
          <a:p>
            <a:pPr lvl="0"/>
            <a:r>
              <a:rPr/>
              <a:t>what the data is about;</a:t>
            </a:r>
          </a:p>
          <a:p>
            <a:pPr lvl="0"/>
            <a:r>
              <a:rPr/>
              <a:t>type, nature, and provenance;</a:t>
            </a:r>
          </a:p>
          <a:p>
            <a:pPr lvl="0"/>
            <a:r>
              <a:rPr/>
              <a:t>specifies the information available, such as numerical data, text, images, etc.</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When</a:t>
            </a:r>
          </a:p>
        </p:txBody>
      </p:sp>
      <p:sp>
        <p:nvSpPr>
          <p:cNvPr id="3" name="Content Placeholder 2"/>
          <p:cNvSpPr>
            <a:spLocks noGrp="1"/>
          </p:cNvSpPr>
          <p:nvPr>
            <p:ph idx="1"/>
          </p:nvPr>
        </p:nvSpPr>
        <p:spPr/>
        <p:txBody>
          <a:bodyPr/>
          <a:lstStyle/>
          <a:p>
            <a:pPr lvl="0"/>
            <a:r>
              <a:rPr/>
              <a:t>timing;</a:t>
            </a:r>
          </a:p>
          <a:p>
            <a:pPr lvl="0"/>
            <a:r>
              <a:rPr/>
              <a:t>period; and/or,</a:t>
            </a:r>
          </a:p>
          <a:p>
            <a:pPr lvl="0"/>
            <a:r>
              <a:rPr/>
              <a:t>frequency</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Where</a:t>
            </a:r>
          </a:p>
        </p:txBody>
      </p:sp>
      <p:sp>
        <p:nvSpPr>
          <p:cNvPr id="3" name="Content Placeholder 2"/>
          <p:cNvSpPr>
            <a:spLocks noGrp="1"/>
          </p:cNvSpPr>
          <p:nvPr>
            <p:ph idx="1"/>
          </p:nvPr>
        </p:nvSpPr>
        <p:spPr/>
        <p:txBody>
          <a:bodyPr/>
          <a:lstStyle/>
          <a:p>
            <a:pPr lvl="0"/>
            <a:r>
              <a:rPr/>
              <a:t>location where the data is stored or accessed</a:t>
            </a:r>
          </a:p>
          <a:p>
            <a:pPr lvl="1"/>
            <a:r>
              <a:rPr/>
              <a:t>database;</a:t>
            </a:r>
          </a:p>
          <a:p>
            <a:pPr lvl="1"/>
            <a:r>
              <a:rPr/>
              <a:t>server;</a:t>
            </a:r>
          </a:p>
          <a:p>
            <a:pPr lvl="1"/>
            <a:r>
              <a:rPr/>
              <a:t>external sources</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a:t>
            </a:r>
          </a:p>
        </p:txBody>
      </p:sp>
      <p:sp>
        <p:nvSpPr>
          <p:cNvPr id="3" name="Content Placeholder 2"/>
          <p:cNvSpPr>
            <a:spLocks noGrp="1"/>
          </p:cNvSpPr>
          <p:nvPr>
            <p:ph idx="1"/>
          </p:nvPr>
        </p:nvSpPr>
        <p:spPr/>
        <p:txBody>
          <a:bodyPr/>
          <a:lstStyle/>
          <a:p>
            <a:pPr lvl="0"/>
            <a:r>
              <a:rPr/>
              <a:t>purpose behind collecting and analysing the data;</a:t>
            </a:r>
          </a:p>
          <a:p>
            <a:pPr lvl="0"/>
            <a:r>
              <a:rPr/>
              <a:t>guides appropriate actions based on the stated purpose</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a:t>
            </a:r>
          </a:p>
        </p:txBody>
      </p:sp>
      <p:sp>
        <p:nvSpPr>
          <p:cNvPr id="3" name="Content Placeholder 2"/>
          <p:cNvSpPr>
            <a:spLocks noGrp="1"/>
          </p:cNvSpPr>
          <p:nvPr>
            <p:ph idx="1"/>
          </p:nvPr>
        </p:nvSpPr>
        <p:spPr/>
        <p:txBody>
          <a:bodyPr/>
          <a:lstStyle/>
          <a:p>
            <a:pPr lvl="0" indent="0" marL="0">
              <a:buNone/>
            </a:pPr>
            <a:r>
              <a:rPr/>
              <a:t>Methods used to:</a:t>
            </a:r>
          </a:p>
          <a:p>
            <a:pPr lvl="0"/>
            <a:r>
              <a:rPr/>
              <a:t>collect;</a:t>
            </a:r>
          </a:p>
          <a:p>
            <a:pPr lvl="0"/>
            <a:r>
              <a:rPr/>
              <a:t>process;</a:t>
            </a:r>
          </a:p>
          <a:p>
            <a:pPr lvl="0"/>
            <a:r>
              <a:rPr/>
              <a:t>extract</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Group exercise</a:t>
            </a:r>
          </a:p>
        </p:txBody>
      </p:sp>
      <p:sp>
        <p:nvSpPr>
          <p:cNvPr id="3" name="Content Placeholder 2"/>
          <p:cNvSpPr>
            <a:spLocks noGrp="1"/>
          </p:cNvSpPr>
          <p:nvPr>
            <p:ph idx="1"/>
          </p:nvPr>
        </p:nvSpPr>
        <p:spPr/>
        <p:txBody>
          <a:bodyPr/>
          <a:lstStyle/>
          <a:p>
            <a:pPr lvl="0" indent="0" marL="0">
              <a:buNone/>
            </a:pPr>
            <a:r>
              <a:rPr/>
              <a:t>Given your current research question/s, identify the </a:t>
            </a:r>
            <a:r>
              <a:rPr b="1"/>
              <a:t>who</a:t>
            </a:r>
            <a:r>
              <a:rPr/>
              <a:t>, </a:t>
            </a:r>
            <a:r>
              <a:rPr b="1"/>
              <a:t>what</a:t>
            </a:r>
            <a:r>
              <a:rPr/>
              <a:t>, </a:t>
            </a:r>
            <a:r>
              <a:rPr b="1"/>
              <a:t>when</a:t>
            </a:r>
            <a:r>
              <a:rPr/>
              <a:t>, </a:t>
            </a:r>
            <a:r>
              <a:rPr b="1"/>
              <a:t>where</a:t>
            </a:r>
            <a:r>
              <a:rPr/>
              <a:t>, </a:t>
            </a:r>
            <a:r>
              <a:rPr b="1"/>
              <a:t>why</a:t>
            </a:r>
            <a:r>
              <a:rPr/>
              <a:t>, and </a:t>
            </a:r>
            <a:r>
              <a:rPr b="1"/>
              <a:t>how</a:t>
            </a:r>
            <a:r>
              <a:rPr/>
              <a:t> of the data that you will need.</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lifecycle</a:t>
            </a:r>
          </a:p>
        </p:txBody>
      </p:sp>
      <p:pic>
        <p:nvPicPr>
          <p:cNvPr descr="../images/data_lifecycle.png" id="0" name="Picture 1"/>
          <p:cNvPicPr>
            <a:picLocks noGrp="1" noChangeAspect="1"/>
          </p:cNvPicPr>
          <p:nvPr/>
        </p:nvPicPr>
        <p:blipFill>
          <a:blip r:embed="rId2"/>
          <a:stretch>
            <a:fillRect/>
          </a:stretch>
        </p:blipFill>
        <p:spPr bwMode="auto">
          <a:xfrm>
            <a:off x="3162300" y="1816100"/>
            <a:ext cx="5854700" cy="4343400"/>
          </a:xfrm>
          <a:prstGeom prst="rect">
            <a:avLst/>
          </a:prstGeom>
          <a:noFill/>
          <a:ln w="9525">
            <a:noFill/>
            <a:headEnd/>
            <a:tailEnd/>
          </a:ln>
        </p:spPr>
      </p:pic>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systems</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systems (analogy)</a:t>
            </a:r>
          </a:p>
        </p:txBody>
      </p:sp>
      <p:pic>
        <p:nvPicPr>
          <p:cNvPr descr="../images/oranges.jpg" id="0" name="Picture 1"/>
          <p:cNvPicPr>
            <a:picLocks noGrp="1" noChangeAspect="1"/>
          </p:cNvPicPr>
          <p:nvPr/>
        </p:nvPicPr>
        <p:blipFill>
          <a:blip r:embed="rId2"/>
          <a:stretch>
            <a:fillRect/>
          </a:stretch>
        </p:blipFill>
        <p:spPr bwMode="auto">
          <a:xfrm>
            <a:off x="1803400" y="1816100"/>
            <a:ext cx="3251200" cy="43434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b="1"/>
              <a:t>The 400-year old problem:</a:t>
            </a:r>
          </a:p>
          <a:p>
            <a:pPr lvl="0" indent="0" marL="0">
              <a:buNone/>
            </a:pPr>
            <a:r>
              <a:rPr/>
              <a:t>What is the best way to stack a collection of spherical objects, such as a display of oranges for sale?</a:t>
            </a:r>
          </a:p>
        </p:txBody>
      </p:sp>
      <p:sp>
        <p:nvSpPr>
          <p:cNvPr id="6" name="Footer Placeholder 5"/>
          <p:cNvSpPr>
            <a:spLocks noGrp="1"/>
          </p:cNvSpPr>
          <p:nvPr>
            <p:ph idx="11" sz="quarter" type="ftr"/>
          </p:nvPr>
        </p:nvSpPr>
        <p:spPr/>
        <p:txBody>
          <a:bodyPr/>
          <a:lstStyle/>
          <a:p>
            <a:r>
              <a:rPr lang="en-GB"/>
              <a:t>Tâm Anh Oxford Partnership</a:t>
            </a:r>
          </a:p>
        </p:txBody>
      </p:sp>
      <p:sp>
        <p:nvSpPr>
          <p:cNvPr id="7" name="Slide Number Placeholder 6"/>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systems (analogy)</a:t>
            </a:r>
          </a:p>
        </p:txBody>
      </p:sp>
      <p:pic>
        <p:nvPicPr>
          <p:cNvPr descr="../images/orange-stack.jpeg" id="0" name="Picture 1"/>
          <p:cNvPicPr>
            <a:picLocks noGrp="1" noChangeAspect="1"/>
          </p:cNvPicPr>
          <p:nvPr/>
        </p:nvPicPr>
        <p:blipFill>
          <a:blip r:embed="rId2"/>
          <a:stretch>
            <a:fillRect/>
          </a:stretch>
        </p:blipFill>
        <p:spPr bwMode="auto">
          <a:xfrm>
            <a:off x="1879600" y="1816100"/>
            <a:ext cx="8445500" cy="4343400"/>
          </a:xfrm>
          <a:prstGeom prst="rect">
            <a:avLst/>
          </a:prstGeom>
          <a:noFill/>
          <a:ln w="9525">
            <a:noFill/>
            <a:headEnd/>
            <a:tailEnd/>
          </a:ln>
        </p:spPr>
      </p:pic>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systems</a:t>
            </a:r>
          </a:p>
        </p:txBody>
      </p:sp>
      <p:sp>
        <p:nvSpPr>
          <p:cNvPr id="3" name="Content Placeholder 2"/>
          <p:cNvSpPr>
            <a:spLocks noGrp="1"/>
          </p:cNvSpPr>
          <p:nvPr>
            <p:ph idx="1"/>
          </p:nvPr>
        </p:nvSpPr>
        <p:spPr/>
        <p:txBody>
          <a:bodyPr/>
          <a:lstStyle/>
          <a:p>
            <a:pPr lvl="0" indent="0" marL="0">
              <a:buNone/>
            </a:pPr>
            <a:r>
              <a:rPr/>
              <a:t>Data systems involve platforms that manage and store data effectively such as </a:t>
            </a:r>
            <a:r>
              <a:rPr b="1"/>
              <a:t>databases</a:t>
            </a:r>
            <a:r>
              <a:rPr/>
              <a:t> (relational or non-relational), </a:t>
            </a:r>
            <a:r>
              <a:rPr b="1"/>
              <a:t>data lakes</a:t>
            </a:r>
            <a:r>
              <a:rPr/>
              <a:t> holding large volumes, </a:t>
            </a:r>
            <a:r>
              <a:rPr b="1"/>
              <a:t>big data systems</a:t>
            </a:r>
            <a:r>
              <a:rPr/>
              <a:t> for massive datasets, and </a:t>
            </a:r>
            <a:r>
              <a:rPr b="1"/>
              <a:t>business intelligence tools</a:t>
            </a:r>
            <a:r>
              <a:rPr/>
              <a:t> for analytics.</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system as an organising framework for</a:t>
            </a:r>
          </a:p>
        </p:txBody>
      </p:sp>
      <p:sp>
        <p:nvSpPr>
          <p:cNvPr id="3" name="Content Placeholder 2"/>
          <p:cNvSpPr>
            <a:spLocks noGrp="1"/>
          </p:cNvSpPr>
          <p:nvPr>
            <p:ph idx="1"/>
          </p:nvPr>
        </p:nvSpPr>
        <p:spPr/>
        <p:txBody>
          <a:bodyPr/>
          <a:lstStyle/>
          <a:p>
            <a:pPr lvl="0"/>
            <a:r>
              <a:rPr/>
              <a:t>Most effective and efficient data structure for …</a:t>
            </a:r>
          </a:p>
          <a:p>
            <a:pPr lvl="0"/>
            <a:r>
              <a:rPr/>
              <a:t>Most appropriate data types required/needed …</a:t>
            </a:r>
          </a:p>
          <a:p>
            <a:pPr lvl="0"/>
            <a:r>
              <a:rPr/>
              <a:t>Formatted in a data format that is most compliant and compatible …</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Privacy, Security, and Protection</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privacy and protection</a:t>
            </a:r>
          </a:p>
        </p:txBody>
      </p:sp>
      <p:sp>
        <p:nvSpPr>
          <p:cNvPr id="3" name="Content Placeholder 2"/>
          <p:cNvSpPr>
            <a:spLocks noGrp="1"/>
          </p:cNvSpPr>
          <p:nvPr>
            <p:ph idx="1"/>
          </p:nvPr>
        </p:nvSpPr>
        <p:spPr/>
        <p:txBody>
          <a:bodyPr/>
          <a:lstStyle/>
          <a:p>
            <a:pPr lvl="0" indent="0" marL="0">
              <a:buNone/>
            </a:pPr>
            <a:r>
              <a:rPr b="1"/>
              <a:t>Data privacy</a:t>
            </a:r>
            <a:r>
              <a:rPr/>
              <a:t> is the protection of personal information, ensuring individuals have control over how their data is collected, stored, and used. It encompasses the principles and practices that govern how sensitive data, especially personal data, is handled, including </a:t>
            </a:r>
            <a:r>
              <a:rPr i="1"/>
              <a:t>collection</a:t>
            </a:r>
            <a:r>
              <a:rPr/>
              <a:t>, </a:t>
            </a:r>
            <a:r>
              <a:rPr i="1"/>
              <a:t>retention</a:t>
            </a:r>
            <a:r>
              <a:rPr/>
              <a:t>, </a:t>
            </a:r>
            <a:r>
              <a:rPr i="1"/>
              <a:t>deletion</a:t>
            </a:r>
            <a:r>
              <a:rPr/>
              <a:t>, and </a:t>
            </a:r>
            <a:r>
              <a:rPr i="1"/>
              <a:t>access</a:t>
            </a:r>
            <a:r>
              <a:rPr/>
              <a:t>.</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Principles of data privacy and protection</a:t>
            </a:r>
          </a:p>
        </p:txBody>
      </p:sp>
      <p:sp>
        <p:nvSpPr>
          <p:cNvPr id="3" name="Content Placeholder 2"/>
          <p:cNvSpPr>
            <a:spLocks noGrp="1"/>
          </p:cNvSpPr>
          <p:nvPr>
            <p:ph idx="1"/>
          </p:nvPr>
        </p:nvSpPr>
        <p:spPr/>
        <p:txBody>
          <a:bodyPr/>
          <a:lstStyle/>
          <a:p>
            <a:pPr lvl="0"/>
            <a:r>
              <a:rPr/>
              <a:t>The key principles of data protection ensure that personal data is handled responsibly and ethically. These principles are essential for protecting individuals’ privacy and rights while also enabling organisations to use data effectively.</a:t>
            </a:r>
          </a:p>
          <a:p>
            <a:pPr lvl="0"/>
            <a:r>
              <a:rPr/>
              <a:t>The core principles are: </a:t>
            </a:r>
            <a:r>
              <a:rPr i="1"/>
              <a:t>lawfulness, fairness, and transparency</a:t>
            </a:r>
            <a:r>
              <a:rPr/>
              <a:t>; </a:t>
            </a:r>
            <a:r>
              <a:rPr i="1"/>
              <a:t>purpose limitation</a:t>
            </a:r>
            <a:r>
              <a:rPr/>
              <a:t>; </a:t>
            </a:r>
            <a:r>
              <a:rPr i="1"/>
              <a:t>data minimisation</a:t>
            </a:r>
            <a:r>
              <a:rPr/>
              <a:t>; </a:t>
            </a:r>
            <a:r>
              <a:rPr i="1"/>
              <a:t>accuracy</a:t>
            </a:r>
            <a:r>
              <a:rPr/>
              <a:t>; </a:t>
            </a:r>
            <a:r>
              <a:rPr i="1"/>
              <a:t>storage limitation</a:t>
            </a:r>
            <a:r>
              <a:rPr/>
              <a:t>; </a:t>
            </a:r>
            <a:r>
              <a:rPr i="1"/>
              <a:t>integrity and confidentiality</a:t>
            </a:r>
            <a:r>
              <a:rPr/>
              <a:t>; and </a:t>
            </a:r>
            <a:r>
              <a:rPr i="1"/>
              <a:t>accountability</a:t>
            </a:r>
            <a:r>
              <a:rPr/>
              <a:t>.</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Lawfulness, Fairness, and Transparency</a:t>
            </a:r>
          </a:p>
        </p:txBody>
      </p:sp>
      <p:sp>
        <p:nvSpPr>
          <p:cNvPr id="3" name="Content Placeholder 2"/>
          <p:cNvSpPr>
            <a:spLocks noGrp="1"/>
          </p:cNvSpPr>
          <p:nvPr>
            <p:ph idx="1"/>
          </p:nvPr>
        </p:nvSpPr>
        <p:spPr/>
        <p:txBody>
          <a:bodyPr/>
          <a:lstStyle/>
          <a:p>
            <a:pPr lvl="0"/>
            <a:r>
              <a:rPr/>
              <a:t>There should be a legal basis for collecting and using personal data (</a:t>
            </a:r>
            <a:r>
              <a:rPr i="1"/>
              <a:t>lawfulness</a:t>
            </a:r>
            <a:r>
              <a:rPr/>
              <a:t>)</a:t>
            </a:r>
          </a:p>
          <a:p>
            <a:pPr lvl="0"/>
            <a:r>
              <a:rPr/>
              <a:t>Handling personal data in ways that people would reasonably expect, and not using it in ways that cause them unjustified harm (</a:t>
            </a:r>
            <a:r>
              <a:rPr i="1"/>
              <a:t>fairness</a:t>
            </a:r>
            <a:r>
              <a:rPr/>
              <a:t>)</a:t>
            </a:r>
          </a:p>
          <a:p>
            <a:pPr lvl="0"/>
            <a:r>
              <a:rPr/>
              <a:t>Requires that any information and communication relating to the processing of personal data be easily accessible and easy to understand, and that clear and plain language be used (</a:t>
            </a:r>
            <a:r>
              <a:rPr i="1"/>
              <a:t>transparency</a:t>
            </a:r>
            <a:r>
              <a:rPr/>
              <a:t>)</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Purpose limitation</a:t>
            </a:r>
          </a:p>
        </p:txBody>
      </p:sp>
      <p:sp>
        <p:nvSpPr>
          <p:cNvPr id="3" name="Content Placeholder 2"/>
          <p:cNvSpPr>
            <a:spLocks noGrp="1"/>
          </p:cNvSpPr>
          <p:nvPr>
            <p:ph idx="1"/>
          </p:nvPr>
        </p:nvSpPr>
        <p:spPr/>
        <p:txBody>
          <a:bodyPr/>
          <a:lstStyle/>
          <a:p>
            <a:pPr lvl="0"/>
            <a:r>
              <a:rPr/>
              <a:t>Personal data should only be collected for </a:t>
            </a:r>
            <a:r>
              <a:rPr i="1"/>
              <a:t>specified</a:t>
            </a:r>
            <a:r>
              <a:rPr/>
              <a:t>, </a:t>
            </a:r>
            <a:r>
              <a:rPr i="1"/>
              <a:t>explicit</a:t>
            </a:r>
            <a:r>
              <a:rPr/>
              <a:t>, and </a:t>
            </a:r>
            <a:r>
              <a:rPr i="1"/>
              <a:t>legitimate</a:t>
            </a:r>
            <a:r>
              <a:rPr/>
              <a:t> purposes and not further processed in a manner that is incompatible with those purposes.</a:t>
            </a:r>
          </a:p>
          <a:p>
            <a:pPr lvl="0"/>
            <a:r>
              <a:rPr/>
              <a:t>specific purposes for which personal data are processed should be </a:t>
            </a:r>
            <a:r>
              <a:rPr i="1"/>
              <a:t>explicit</a:t>
            </a:r>
            <a:r>
              <a:rPr/>
              <a:t> and </a:t>
            </a:r>
            <a:r>
              <a:rPr i="1"/>
              <a:t>legitimate</a:t>
            </a:r>
            <a:r>
              <a:rPr/>
              <a:t> and determined at the time of the collection of the personal data.</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minimisation</a:t>
            </a:r>
          </a:p>
        </p:txBody>
      </p:sp>
      <p:sp>
        <p:nvSpPr>
          <p:cNvPr id="3" name="Content Placeholder 2"/>
          <p:cNvSpPr>
            <a:spLocks noGrp="1"/>
          </p:cNvSpPr>
          <p:nvPr>
            <p:ph idx="1"/>
          </p:nvPr>
        </p:nvSpPr>
        <p:spPr/>
        <p:txBody>
          <a:bodyPr/>
          <a:lstStyle/>
          <a:p>
            <a:pPr lvl="0"/>
            <a:r>
              <a:rPr/>
              <a:t>Processing of personal data must be adequate, relevant, and limited to what is necessary in relation to the purposes for which they are processed.</a:t>
            </a:r>
          </a:p>
          <a:p>
            <a:pPr lvl="0"/>
            <a:r>
              <a:rPr/>
              <a:t>Personal data should be processed only if the purpose of the processing could not reasonably be fulfilled by other means.</a:t>
            </a:r>
          </a:p>
          <a:p>
            <a:pPr lvl="0"/>
            <a:r>
              <a:rPr/>
              <a:t>This is linked to the principle of </a:t>
            </a:r>
            <a:r>
              <a:rPr b="1"/>
              <a:t>Storage limitation</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Accuracy</a:t>
            </a:r>
          </a:p>
        </p:txBody>
      </p:sp>
      <p:sp>
        <p:nvSpPr>
          <p:cNvPr id="3" name="Content Placeholder 2"/>
          <p:cNvSpPr>
            <a:spLocks noGrp="1"/>
          </p:cNvSpPr>
          <p:nvPr>
            <p:ph idx="1"/>
          </p:nvPr>
        </p:nvSpPr>
        <p:spPr/>
        <p:txBody>
          <a:bodyPr/>
          <a:lstStyle/>
          <a:p>
            <a:pPr lvl="0"/>
            <a:r>
              <a:rPr/>
              <a:t>Ensure that personal data are accurate and, where necessary, kept up to date; taking every reasonable step to ensure that personal data that are inaccurate, having regard to the purposes for which they are processed, are erased or rectified without delay.</a:t>
            </a:r>
          </a:p>
          <a:p>
            <a:pPr lvl="0"/>
            <a:r>
              <a:rPr/>
              <a:t>Accurately record information collected or receive and the source of that information.</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Storage limitation</a:t>
            </a:r>
          </a:p>
        </p:txBody>
      </p:sp>
      <p:sp>
        <p:nvSpPr>
          <p:cNvPr id="3" name="Content Placeholder 2"/>
          <p:cNvSpPr>
            <a:spLocks noGrp="1"/>
          </p:cNvSpPr>
          <p:nvPr>
            <p:ph idx="1"/>
          </p:nvPr>
        </p:nvSpPr>
        <p:spPr/>
        <p:txBody>
          <a:bodyPr/>
          <a:lstStyle/>
          <a:p>
            <a:pPr lvl="0"/>
            <a:r>
              <a:rPr/>
              <a:t>Personal data should only be kept in a form which permits identification of data subjects for as long as is necessary for the purposes for which the personal data are processed.</a:t>
            </a:r>
          </a:p>
          <a:p>
            <a:pPr lvl="0"/>
            <a:r>
              <a:rPr/>
              <a:t>In order to ensure that the personal data are not kept longer than necessary, time limits should be established by the controller for erasure or for a periodic review.</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Integrity and confidentiality</a:t>
            </a:r>
          </a:p>
        </p:txBody>
      </p:sp>
      <p:sp>
        <p:nvSpPr>
          <p:cNvPr id="3" name="Content Placeholder 2"/>
          <p:cNvSpPr>
            <a:spLocks noGrp="1"/>
          </p:cNvSpPr>
          <p:nvPr>
            <p:ph idx="1"/>
          </p:nvPr>
        </p:nvSpPr>
        <p:spPr/>
        <p:txBody>
          <a:bodyPr/>
          <a:lstStyle/>
          <a:p>
            <a:pPr lvl="0"/>
            <a:r>
              <a:rPr/>
              <a:t>Protection against unauthorised or unlawful access to or use of personal data and the equipment used for the processing and against accidental loss, destruction or damage, using appropriate technical or organisational measures.</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Accountability</a:t>
            </a:r>
          </a:p>
        </p:txBody>
      </p:sp>
      <p:sp>
        <p:nvSpPr>
          <p:cNvPr id="3" name="Content Placeholder 2"/>
          <p:cNvSpPr>
            <a:spLocks noGrp="1"/>
          </p:cNvSpPr>
          <p:nvPr>
            <p:ph idx="1"/>
          </p:nvPr>
        </p:nvSpPr>
        <p:spPr/>
        <p:txBody>
          <a:bodyPr/>
          <a:lstStyle/>
          <a:p>
            <a:pPr lvl="0"/>
            <a:r>
              <a:rPr/>
              <a:t>Take responsibility for the processing of personal data and how they comply with the above principles</a:t>
            </a:r>
          </a:p>
          <a:p>
            <a:pPr lvl="0"/>
            <a:r>
              <a:rPr/>
              <a:t>Demonstrate (through appropriate records and measures) compliance</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Legal frameworks</a:t>
            </a:r>
          </a:p>
        </p:txBody>
      </p:sp>
      <p:sp>
        <p:nvSpPr>
          <p:cNvPr id="3" name="Content Placeholder 2"/>
          <p:cNvSpPr>
            <a:spLocks noGrp="1"/>
          </p:cNvSpPr>
          <p:nvPr>
            <p:ph idx="1"/>
          </p:nvPr>
        </p:nvSpPr>
        <p:spPr/>
        <p:txBody>
          <a:bodyPr/>
          <a:lstStyle/>
          <a:p>
            <a:pPr lvl="0"/>
            <a:r>
              <a:rPr/>
              <a:t>General Data Protection Regulation - UK and EU</a:t>
            </a:r>
          </a:p>
          <a:p>
            <a:pPr lvl="0"/>
            <a:r>
              <a:rPr/>
              <a:t>For Vietnam???</a:t>
            </a:r>
          </a:p>
          <a:p>
            <a:pPr lvl="0"/>
            <a:r>
              <a:rPr/>
              <a:t>These frameworks follow the same principles described earlier</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security</a:t>
            </a:r>
          </a:p>
        </p:txBody>
      </p:sp>
      <p:sp>
        <p:nvSpPr>
          <p:cNvPr id="3" name="Content Placeholder 2"/>
          <p:cNvSpPr>
            <a:spLocks noGrp="1"/>
          </p:cNvSpPr>
          <p:nvPr>
            <p:ph idx="1"/>
          </p:nvPr>
        </p:nvSpPr>
        <p:spPr/>
        <p:txBody>
          <a:bodyPr/>
          <a:lstStyle/>
          <a:p>
            <a:pPr lvl="0"/>
            <a:r>
              <a:rPr/>
              <a:t>The practice of protecting digital information from unauthorised access, use, disclosure, disruption, modification, or destruction.</a:t>
            </a:r>
          </a:p>
          <a:p>
            <a:pPr lvl="0"/>
            <a:r>
              <a:rPr/>
              <a:t>Encompasses various measures and techniques to ensure the confidentiality, integrity, and availability of data throughout its lifecycle.</a:t>
            </a:r>
          </a:p>
          <a:p>
            <a:pPr lvl="0"/>
            <a:r>
              <a:rPr/>
              <a:t>Includes securing physical hardware, software, storage devices, and user devices, as well as implementing access controls, policies, and procedures.</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Layers of data security - Personal/individual layer</a:t>
            </a:r>
          </a:p>
        </p:txBody>
      </p:sp>
      <p:sp>
        <p:nvSpPr>
          <p:cNvPr id="3" name="Content Placeholder 2"/>
          <p:cNvSpPr>
            <a:spLocks noGrp="1"/>
          </p:cNvSpPr>
          <p:nvPr>
            <p:ph idx="1"/>
          </p:nvPr>
        </p:nvSpPr>
        <p:spPr/>
        <p:txBody>
          <a:bodyPr/>
          <a:lstStyle/>
          <a:p>
            <a:pPr lvl="0"/>
            <a:r>
              <a:rPr/>
              <a:t>Each one of us as individuals are responsible for the security of our own personal information and any other information that we own or are responsible for.</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Layers of data security - Institutional layer</a:t>
            </a:r>
          </a:p>
        </p:txBody>
      </p:sp>
      <p:sp>
        <p:nvSpPr>
          <p:cNvPr id="3" name="Content Placeholder 2"/>
          <p:cNvSpPr>
            <a:spLocks noGrp="1"/>
          </p:cNvSpPr>
          <p:nvPr>
            <p:ph idx="1"/>
          </p:nvPr>
        </p:nvSpPr>
        <p:spPr/>
        <p:txBody>
          <a:bodyPr/>
          <a:lstStyle/>
          <a:p>
            <a:pPr lvl="0"/>
            <a:r>
              <a:rPr/>
              <a:t>institutions responsible for the security of the personal information of its own employees and/or members/affiliates</a:t>
            </a:r>
          </a:p>
          <a:p>
            <a:pPr lvl="0"/>
            <a:r>
              <a:rPr/>
              <a:t>institutions responsible for the security of the personal information of others from whom they collect information from as part of the service they render.</a:t>
            </a:r>
          </a:p>
          <a:p>
            <a:pPr lvl="0"/>
            <a:r>
              <a:rPr/>
              <a:t>institutions responsible for the security of other types of information that they own or are responsible for</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tools</a:t>
            </a:r>
          </a:p>
        </p:txBody>
      </p:sp>
      <p:sp>
        <p:nvSpPr>
          <p:cNvPr id="3" name="Content Placeholder 2"/>
          <p:cNvSpPr>
            <a:spLocks noGrp="1"/>
          </p:cNvSpPr>
          <p:nvPr>
            <p:ph idx="1"/>
          </p:nvPr>
        </p:nvSpPr>
        <p:spPr/>
        <p:txBody>
          <a:bodyPr/>
          <a:lstStyle/>
          <a:p>
            <a:pPr lvl="0" indent="0" marL="0">
              <a:buNone/>
            </a:pPr>
            <a:r>
              <a:rPr/>
              <a:t>Given your research questions and your answers to the previous exercise, identify data tools that you think you will need.</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tools</a:t>
            </a:r>
          </a:p>
        </p:txBody>
      </p:sp>
      <p:sp>
        <p:nvSpPr>
          <p:cNvPr id="3" name="Content Placeholder 2"/>
          <p:cNvSpPr>
            <a:spLocks noGrp="1"/>
          </p:cNvSpPr>
          <p:nvPr>
            <p:ph idx="1"/>
          </p:nvPr>
        </p:nvSpPr>
        <p:spPr/>
        <p:txBody>
          <a:bodyPr/>
          <a:lstStyle/>
          <a:p>
            <a:pPr lvl="0"/>
            <a:r>
              <a:rPr/>
              <a:t>Our choice of tools or the tools that we are made to use dictate how we implement the different steps in the data management pathway</a:t>
            </a:r>
          </a:p>
          <a:p>
            <a:pPr lvl="0"/>
            <a:r>
              <a:rPr/>
              <a:t>As such, our data tools also influence the resulting quality of data that we obtain</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dangers of spreadsheets</a:t>
            </a:r>
          </a:p>
        </p:txBody>
      </p:sp>
      <p:sp>
        <p:nvSpPr>
          <p:cNvPr id="3" name="Content Placeholder 2"/>
          <p:cNvSpPr>
            <a:spLocks noGrp="1"/>
          </p:cNvSpPr>
          <p:nvPr>
            <p:ph idx="1"/>
          </p:nvPr>
        </p:nvSpPr>
        <p:spPr/>
        <p:txBody>
          <a:bodyPr/>
          <a:lstStyle/>
          <a:p>
            <a:pPr lvl="0"/>
            <a:r>
              <a:rPr/>
              <a:t>The danger is real. The </a:t>
            </a:r>
            <a:r>
              <a:rPr>
                <a:hlinkClick r:id="rId2"/>
              </a:rPr>
              <a:t>European Spreadsheet Risks Interest Group</a:t>
            </a:r>
            <a:r>
              <a:rPr/>
              <a:t> keeps a public archive of spreadsheet </a:t>
            </a:r>
            <a:r>
              <a:rPr>
                <a:hlinkClick r:id="rId3"/>
              </a:rPr>
              <a:t>“horror stories”</a:t>
            </a:r>
            <a:r>
              <a:rPr/>
              <a:t>.</a:t>
            </a:r>
          </a:p>
          <a:p>
            <a:pPr lvl="0"/>
            <a:r>
              <a:rPr/>
              <a:t>Many researchers have examined error rates in spreadsheets. In 13 audits of real-world spreadsheets, an average of 88% contained errors.</a:t>
            </a:r>
          </a:p>
          <a:p>
            <a:pPr lvl="0"/>
            <a:r>
              <a:rPr/>
              <a:t>Microsoft Excel specifically converts some combination of character and numbers to dates and stores dates differently between operating systems, which can cause problems in downstream analyses.</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dangers of spreadsheets</a:t>
            </a:r>
          </a:p>
        </p:txBody>
      </p:sp>
      <p:sp>
        <p:nvSpPr>
          <p:cNvPr id="3" name="Content Placeholder 2"/>
          <p:cNvSpPr>
            <a:spLocks noGrp="1"/>
          </p:cNvSpPr>
          <p:nvPr>
            <p:ph idx="1"/>
          </p:nvPr>
        </p:nvSpPr>
        <p:spPr/>
        <p:txBody>
          <a:bodyPr/>
          <a:lstStyle/>
          <a:p>
            <a:pPr lvl="0"/>
            <a:r>
              <a:rPr/>
              <a:t>Spreadsheets are often used as a multi-purpose tool for data entry, storage, analysis, and visualisation.</a:t>
            </a:r>
          </a:p>
          <a:p>
            <a:pPr lvl="0"/>
            <a:r>
              <a:rPr/>
              <a:t>Spreadsheets, by design, make humans format data to be viewed by the human eye rather than to be readable by a machine.</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Spreadsheets are best suited to data entry and storage</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Specific recommendations for organising spreadsheet data in a way that both humans and computer programs can read</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Be consistent</a:t>
            </a:r>
          </a:p>
        </p:txBody>
      </p:sp>
      <p:sp>
        <p:nvSpPr>
          <p:cNvPr id="3" name="Content Placeholder 2"/>
          <p:cNvSpPr>
            <a:spLocks noGrp="1"/>
          </p:cNvSpPr>
          <p:nvPr>
            <p:ph idx="1"/>
          </p:nvPr>
        </p:nvSpPr>
        <p:spPr/>
        <p:txBody>
          <a:bodyPr/>
          <a:lstStyle/>
          <a:p>
            <a:pPr lvl="0"/>
            <a:r>
              <a:rPr/>
              <a:t>Use consistent codes for categorical variables</a:t>
            </a:r>
          </a:p>
          <a:p>
            <a:pPr lvl="0"/>
            <a:r>
              <a:rPr/>
              <a:t>Use a consistent fixed code for missing values</a:t>
            </a:r>
          </a:p>
          <a:p>
            <a:pPr lvl="0"/>
            <a:r>
              <a:rPr/>
              <a:t>Use consistent variable names</a:t>
            </a:r>
          </a:p>
          <a:p>
            <a:pPr lvl="0"/>
            <a:r>
              <a:rPr/>
              <a:t>Use consistent identifiers</a:t>
            </a:r>
          </a:p>
          <a:p>
            <a:pPr lvl="0"/>
            <a:r>
              <a:rPr/>
              <a:t>Use consistent layout in multiple data files</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Be consistent</a:t>
            </a:r>
          </a:p>
        </p:txBody>
      </p:sp>
      <p:sp>
        <p:nvSpPr>
          <p:cNvPr id="3" name="Content Placeholder 2"/>
          <p:cNvSpPr>
            <a:spLocks noGrp="1"/>
          </p:cNvSpPr>
          <p:nvPr>
            <p:ph idx="1"/>
          </p:nvPr>
        </p:nvSpPr>
        <p:spPr/>
        <p:txBody>
          <a:bodyPr/>
          <a:lstStyle/>
          <a:p>
            <a:pPr lvl="0"/>
            <a:r>
              <a:rPr/>
              <a:t>Use consistent file names</a:t>
            </a:r>
          </a:p>
          <a:p>
            <a:pPr lvl="0"/>
            <a:r>
              <a:rPr/>
              <a:t>Use consistent format for dates (ideally ISO format - YYYY-MM-DD)</a:t>
            </a:r>
          </a:p>
          <a:p>
            <a:pPr lvl="0"/>
            <a:r>
              <a:rPr/>
              <a:t>Use consistent phrases</a:t>
            </a:r>
          </a:p>
          <a:p>
            <a:pPr lvl="0"/>
            <a:r>
              <a:rPr/>
              <a:t>Be careful about extra spaces in cells</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Choose good names for things</a:t>
            </a:r>
          </a:p>
        </p:txBody>
      </p:sp>
      <p:sp>
        <p:nvSpPr>
          <p:cNvPr id="3" name="Content Placeholder 2"/>
          <p:cNvSpPr>
            <a:spLocks noGrp="1"/>
          </p:cNvSpPr>
          <p:nvPr>
            <p:ph idx="1"/>
          </p:nvPr>
        </p:nvSpPr>
        <p:spPr/>
        <p:txBody>
          <a:bodyPr/>
          <a:lstStyle/>
          <a:p>
            <a:pPr lvl="0"/>
            <a:r>
              <a:rPr/>
              <a:t>Do not use spaces in variables names and file names</a:t>
            </a:r>
          </a:p>
          <a:p>
            <a:pPr lvl="0"/>
            <a:r>
              <a:rPr/>
              <a:t>Avoid special characters</a:t>
            </a:r>
          </a:p>
          <a:p>
            <a:pPr lvl="0"/>
            <a:r>
              <a:rPr/>
              <a:t>Short but meaningful</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Write dates as YYYY-MM-DD</a:t>
            </a:r>
          </a:p>
        </p:txBody>
      </p:sp>
      <p:sp>
        <p:nvSpPr>
          <p:cNvPr id="3" name="Content Placeholder 2"/>
          <p:cNvSpPr>
            <a:spLocks noGrp="1"/>
          </p:cNvSpPr>
          <p:nvPr>
            <p:ph idx="1"/>
          </p:nvPr>
        </p:nvSpPr>
        <p:spPr/>
        <p:txBody>
          <a:bodyPr/>
          <a:lstStyle/>
          <a:p>
            <a:pPr lvl="0"/>
            <a:r>
              <a:rPr/>
              <a:t>recommend using the global “ISO 8601” standard, YYYY-MM-DD</a:t>
            </a:r>
          </a:p>
          <a:p>
            <a:pPr lvl="0"/>
            <a:r>
              <a:rPr/>
              <a:t>Microsoft Excel’s treatment of dates can cause problems in data. It stores them internally as a number, with different conventions on Windows and Macs. So, you may need to manually check the integrity of your data when they come out of Excel.</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No empty cell</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Put just one thing in a cell</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Make it a rectangle</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Create a data dictionary</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No calculations in the raw data file</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Do not use font colour or highlighting as data</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Make backups</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Use data validation to avoid errors</a:t>
            </a:r>
          </a:p>
        </p:txBody>
      </p:sp>
      <p:sp>
        <p:nvSpPr>
          <p:cNvPr id="3" name="Content Placeholder 2"/>
          <p:cNvSpPr>
            <a:spLocks noGrp="1"/>
          </p:cNvSpPr>
          <p:nvPr>
            <p:ph idx="1"/>
          </p:nvPr>
        </p:nvSpPr>
        <p:spPr/>
        <p:txBody>
          <a:bodyPr/>
          <a:lstStyle/>
          <a:p>
            <a:pPr lvl="0" indent="0" marL="0">
              <a:buNone/>
            </a:pPr>
            <a:r>
              <a:rPr/>
              <a:t>We discuss validity errors specifically later in this slide deck.</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Save the data in plain text files</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Other formatting issues with Excel can be found </a:t>
            </a:r>
            <a:r>
              <a:rPr>
                <a:hlinkClick r:id="rId2"/>
              </a:rPr>
              <a:t>here</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We need to talk about data cleaning</a:t>
            </a:r>
          </a:p>
        </p:txBody>
      </p:sp>
      <p:sp>
        <p:nvSpPr>
          <p:cNvPr id="3" name="Content Placeholder 2"/>
          <p:cNvSpPr>
            <a:spLocks noGrp="1"/>
          </p:cNvSpPr>
          <p:nvPr>
            <p:ph idx="1"/>
          </p:nvPr>
        </p:nvSpPr>
        <p:spPr/>
        <p:txBody>
          <a:bodyPr/>
          <a:lstStyle/>
          <a:p>
            <a:pPr lvl="0" indent="0" marL="0">
              <a:buNone/>
            </a:pPr>
            <a:r>
              <a:rPr b="1"/>
              <a:t>Data cleansing</a:t>
            </a:r>
            <a:r>
              <a:rPr/>
              <a:t> or </a:t>
            </a:r>
            <a:r>
              <a:rPr b="1"/>
              <a:t>data cleaning</a:t>
            </a:r>
            <a:r>
              <a:rPr/>
              <a:t> is the process of identifying and correcting (or removing) corrupt, inaccurate, or irrelevant records from a dataset, table, or database. It involves detecting incomplete, incorrect, or inaccurate parts of the data and then replacing, modifying, or deleting the affected data.</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But how do we know that our data has errors?</a:t>
            </a:r>
          </a:p>
        </p:txBody>
      </p:sp>
      <p:sp>
        <p:nvSpPr>
          <p:cNvPr id="3" name="Content Placeholder 2"/>
          <p:cNvSpPr>
            <a:spLocks noGrp="1"/>
          </p:cNvSpPr>
          <p:nvPr>
            <p:ph idx="1"/>
          </p:nvPr>
        </p:nvSpPr>
        <p:spPr/>
        <p:txBody>
          <a:bodyPr/>
          <a:lstStyle/>
          <a:p>
            <a:pPr lvl="0"/>
            <a:r>
              <a:rPr/>
              <a:t>It depends on the data and it depends on what kind of error you are looking for</a:t>
            </a:r>
          </a:p>
          <a:p>
            <a:pPr lvl="0"/>
            <a:r>
              <a:rPr/>
              <a:t>Most of the time, when we say we are performing data cleaning, we are looking for or spotting </a:t>
            </a:r>
            <a:r>
              <a:rPr b="1"/>
              <a:t>errors of validity</a:t>
            </a:r>
          </a:p>
          <a:p>
            <a:pPr lvl="0"/>
            <a:r>
              <a:rPr/>
              <a:t>Validity in terms of data is the degree to which the values conform to defined rules or constraints. In general such errors can be spotted “by eye”</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Validity errors</a:t>
            </a:r>
          </a:p>
        </p:txBody>
      </p:sp>
      <p:sp>
        <p:nvSpPr>
          <p:cNvPr id="3" name="Content Placeholder 2"/>
          <p:cNvSpPr>
            <a:spLocks noGrp="1"/>
          </p:cNvSpPr>
          <p:nvPr>
            <p:ph idx="1"/>
          </p:nvPr>
        </p:nvSpPr>
        <p:spPr/>
        <p:txBody>
          <a:bodyPr/>
          <a:lstStyle/>
          <a:p>
            <a:pPr lvl="0"/>
            <a:r>
              <a:rPr/>
              <a:t>Data type errors - values in a particular column must be of a particular data type</a:t>
            </a:r>
          </a:p>
          <a:p>
            <a:pPr lvl="0"/>
            <a:r>
              <a:rPr/>
              <a:t>Range errors - numbers or dates should fall within a certain range</a:t>
            </a:r>
          </a:p>
          <a:p>
            <a:pPr lvl="0"/>
            <a:r>
              <a:rPr/>
              <a:t>Missing values errors - missing values particularly when a value is required</a:t>
            </a:r>
          </a:p>
          <a:p>
            <a:pPr lvl="0"/>
            <a:r>
              <a:rPr/>
              <a:t>Unique value errors</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Validity errors</a:t>
            </a:r>
          </a:p>
        </p:txBody>
      </p:sp>
      <p:sp>
        <p:nvSpPr>
          <p:cNvPr id="3" name="Content Placeholder 2"/>
          <p:cNvSpPr>
            <a:spLocks noGrp="1"/>
          </p:cNvSpPr>
          <p:nvPr>
            <p:ph idx="1"/>
          </p:nvPr>
        </p:nvSpPr>
        <p:spPr/>
        <p:txBody>
          <a:bodyPr/>
          <a:lstStyle/>
          <a:p>
            <a:pPr lvl="0"/>
            <a:r>
              <a:rPr/>
              <a:t>Set membership errors - values should only be from a specific set of possible values</a:t>
            </a:r>
          </a:p>
          <a:p>
            <a:pPr lvl="0"/>
            <a:r>
              <a:rPr/>
              <a:t>Expected value errors</a:t>
            </a:r>
          </a:p>
          <a:p>
            <a:pPr lvl="0"/>
            <a:r>
              <a:rPr/>
              <a:t>Cross-field validation - the value in one field determines what is correct or incorrect value in another field (example: pregnant male)</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Validity errors often due to data entry errors/issues</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But not all errors can be detected “by eye”</a:t>
            </a:r>
          </a:p>
        </p:txBody>
      </p:sp>
      <p:sp>
        <p:nvSpPr>
          <p:cNvPr id="3" name="Content Placeholder 2"/>
          <p:cNvSpPr>
            <a:spLocks noGrp="1"/>
          </p:cNvSpPr>
          <p:nvPr>
            <p:ph idx="1"/>
          </p:nvPr>
        </p:nvSpPr>
        <p:spPr/>
        <p:txBody>
          <a:bodyPr/>
          <a:lstStyle/>
          <a:p>
            <a:pPr lvl="0"/>
            <a:r>
              <a:rPr/>
              <a:t>Some </a:t>
            </a:r>
            <a:r>
              <a:rPr i="1"/>
              <a:t>validity errors</a:t>
            </a:r>
            <a:r>
              <a:rPr/>
              <a:t> and errors of </a:t>
            </a:r>
            <a:r>
              <a:rPr i="1"/>
              <a:t>accuracy</a:t>
            </a:r>
            <a:r>
              <a:rPr/>
              <a:t>, </a:t>
            </a:r>
            <a:r>
              <a:rPr i="1"/>
              <a:t>consistency</a:t>
            </a:r>
            <a:r>
              <a:rPr/>
              <a:t>, </a:t>
            </a:r>
            <a:r>
              <a:rPr i="1"/>
              <a:t>uniformity</a:t>
            </a:r>
            <a:r>
              <a:rPr/>
              <a:t>, and </a:t>
            </a:r>
            <a:r>
              <a:rPr i="1"/>
              <a:t>distribution</a:t>
            </a:r>
            <a:r>
              <a:rPr/>
              <a:t> requires exploratory data analysis to be detected.</a:t>
            </a:r>
          </a:p>
          <a:p>
            <a:pPr lvl="0"/>
            <a:r>
              <a:rPr/>
              <a:t>We will discuss these errors next week omn our topic on exploratory data analysis.</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We need to talk about data re-structuring</a:t>
            </a:r>
          </a:p>
        </p:txBody>
      </p:sp>
      <p:sp>
        <p:nvSpPr>
          <p:cNvPr id="3" name="Content Placeholder 2"/>
          <p:cNvSpPr>
            <a:spLocks noGrp="1"/>
          </p:cNvSpPr>
          <p:nvPr>
            <p:ph idx="1"/>
          </p:nvPr>
        </p:nvSpPr>
        <p:spPr/>
        <p:txBody>
          <a:bodyPr/>
          <a:lstStyle/>
          <a:p>
            <a:pPr lvl="0"/>
            <a:r>
              <a:rPr b="1"/>
              <a:t>Data restructuring</a:t>
            </a:r>
            <a:r>
              <a:rPr/>
              <a:t> refers to manipulating existing data to make it more suitable for analysis, storage, or other purposes. It involves changing the format, structure, or organisation of data to align with specific needs, such as data warehousing or statistical analysis.</a:t>
            </a:r>
          </a:p>
          <a:p>
            <a:pPr lvl="0"/>
            <a:r>
              <a:rPr/>
              <a:t>This is another type of data cleaning and is sometimes called </a:t>
            </a:r>
            <a:r>
              <a:rPr b="1"/>
              <a:t>“data tidying”</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lstStyle/>
          <a:p>
            <a:pPr lvl="0" indent="0" marL="0">
              <a:buNone/>
            </a:pPr>
            <a:r>
              <a:rPr/>
              <a:t>Data structure - Example 1</a:t>
            </a:r>
          </a:p>
        </p:txBody>
      </p:sp>
      <p:sp>
        <p:nvSpPr>
          <p:cNvPr id="4" name="Text Placeholder 3"/>
          <p:cNvSpPr>
            <a:spLocks noGrp="1"/>
          </p:cNvSpPr>
          <p:nvPr>
            <p:ph idx="2" sz="half" type="body"/>
          </p:nvPr>
        </p:nvSpPr>
        <p:spPr/>
        <p:txBody>
          <a:bodyPr/>
          <a:lstStyle/>
          <a:p>
            <a:pPr lvl="0" indent="0" marL="0">
              <a:buNone/>
            </a:pPr>
            <a:r>
              <a:rPr/>
              <a:t>The table has two columns and three rows, and both rows and columns are labelled.</a:t>
            </a:r>
          </a:p>
        </p:txBody>
      </p:sp>
      <p:graphicFrame>
        <p:nvGraphicFramePr>
          <p:cNvPr id="6" name="Content Placeholder 5"/>
          <p:cNvGraphicFramePr>
            <a:graphicFrameLocks noGrp="1"/>
          </p:cNvGraphicFramePr>
          <p:nvPr>
            <p:ph idx="1"/>
          </p:nvPr>
        </p:nvGraphicFramePr>
        <p:xfrm>
          <a:off x="5181600" y="977900"/>
          <a:ext cx="6172200" cy="4864100"/>
        </p:xfrm>
        <a:graphic>
          <a:graphicData uri="http://schemas.openxmlformats.org/drawingml/2006/table">
            <a:tbl>
              <a:tblPr firstRow="1" bandRow="1">
                <a:tableStyleId>{5C22544A-7EE6-4342-B048-85BDC9FD1C3A}</a:tableStyleId>
              </a:tblPr>
              <a:tblGrid>
                <a:gridCol w="2057400"/>
                <a:gridCol w="2057400"/>
                <a:gridCol w="2057400"/>
              </a:tblGrid>
              <a:tr h="0">
                <a:tc>
                  <a:txBody>
                    <a:bodyPr/>
                    <a:lstStyle/>
                    <a:p>
                      <a:pPr lvl="0" indent="0" marL="0" algn="r">
                        <a:buNone/>
                      </a:pPr>
                      <a:r>
                        <a:rPr/>
                        <a:t> </a:t>
                      </a:r>
                    </a:p>
                  </a:txBody>
                  <a:tcPr/>
                </a:tc>
                <a:tc>
                  <a:txBody>
                    <a:bodyPr/>
                    <a:lstStyle/>
                    <a:p>
                      <a:pPr lvl="0" indent="0" marL="0" algn="r">
                        <a:buNone/>
                      </a:pPr>
                      <a:r>
                        <a:rPr/>
                        <a:t>treatmenta</a:t>
                      </a:r>
                    </a:p>
                  </a:txBody>
                  <a:tcPr/>
                </a:tc>
                <a:tc>
                  <a:txBody>
                    <a:bodyPr/>
                    <a:lstStyle/>
                    <a:p>
                      <a:pPr lvl="0" indent="0" marL="0" algn="r">
                        <a:buNone/>
                      </a:pPr>
                      <a:r>
                        <a:rPr/>
                        <a:t>treatmentb</a:t>
                      </a:r>
                    </a:p>
                  </a:txBody>
                  <a:tcPr/>
                </a:tc>
              </a:tr>
              <a:tr h="0">
                <a:tc>
                  <a:txBody>
                    <a:bodyPr/>
                    <a:lstStyle/>
                    <a:p>
                      <a:pPr lvl="0" indent="0" marL="0" algn="r">
                        <a:buNone/>
                      </a:pPr>
                      <a:r>
                        <a:rPr/>
                        <a:t>John Smith</a:t>
                      </a:r>
                    </a:p>
                  </a:txBody>
                </a:tc>
                <a:tc>
                  <a:txBody>
                    <a:bodyPr/>
                    <a:lstStyle/>
                    <a:p>
                      <a:pPr lvl="0" indent="0" marL="0" algn="r">
                        <a:buNone/>
                      </a:pPr>
                      <a:r>
                        <a:rPr/>
                        <a:t> </a:t>
                      </a:r>
                    </a:p>
                  </a:txBody>
                </a:tc>
                <a:tc>
                  <a:txBody>
                    <a:bodyPr/>
                    <a:lstStyle/>
                    <a:p>
                      <a:pPr lvl="0" indent="0" marL="0" algn="r">
                        <a:buNone/>
                      </a:pPr>
                      <a:r>
                        <a:rPr/>
                        <a:t>2</a:t>
                      </a:r>
                    </a:p>
                  </a:txBody>
                </a:tc>
              </a:tr>
              <a:tr h="0">
                <a:tc>
                  <a:txBody>
                    <a:bodyPr/>
                    <a:lstStyle/>
                    <a:p>
                      <a:pPr lvl="0" indent="0" marL="0" algn="r">
                        <a:buNone/>
                      </a:pPr>
                      <a:r>
                        <a:rPr/>
                        <a:t>Jane Doe</a:t>
                      </a:r>
                    </a:p>
                  </a:txBody>
                </a:tc>
                <a:tc>
                  <a:txBody>
                    <a:bodyPr/>
                    <a:lstStyle/>
                    <a:p>
                      <a:pPr lvl="0" indent="0" marL="0" algn="r">
                        <a:buNone/>
                      </a:pPr>
                      <a:r>
                        <a:rPr/>
                        <a:t>16</a:t>
                      </a:r>
                    </a:p>
                  </a:txBody>
                </a:tc>
                <a:tc>
                  <a:txBody>
                    <a:bodyPr/>
                    <a:lstStyle/>
                    <a:p>
                      <a:pPr lvl="0" indent="0" marL="0" algn="r">
                        <a:buNone/>
                      </a:pPr>
                      <a:r>
                        <a:rPr/>
                        <a:t>11</a:t>
                      </a:r>
                    </a:p>
                  </a:txBody>
                </a:tc>
              </a:tr>
              <a:tr h="0">
                <a:tc>
                  <a:txBody>
                    <a:bodyPr/>
                    <a:lstStyle/>
                    <a:p>
                      <a:pPr lvl="0" indent="0" marL="0" algn="r">
                        <a:buNone/>
                      </a:pPr>
                      <a:r>
                        <a:rPr/>
                        <a:t>Mary Johnson</a:t>
                      </a:r>
                    </a:p>
                  </a:txBody>
                </a:tc>
                <a:tc>
                  <a:txBody>
                    <a:bodyPr/>
                    <a:lstStyle/>
                    <a:p>
                      <a:pPr lvl="0" indent="0" marL="0" algn="r">
                        <a:buNone/>
                      </a:pPr>
                      <a:r>
                        <a:rPr/>
                        <a:t>3</a:t>
                      </a:r>
                    </a:p>
                  </a:txBody>
                </a:tc>
                <a:tc>
                  <a:txBody>
                    <a:bodyPr/>
                    <a:lstStyle/>
                    <a:p>
                      <a:pPr lvl="0" indent="0" marL="0" algn="r">
                        <a:buNone/>
                      </a:pPr>
                      <a:r>
                        <a:rPr/>
                        <a:t>1</a:t>
                      </a:r>
                    </a:p>
                  </a:txBody>
                </a:tc>
              </a:tr>
            </a:tbl>
          </a:graphicData>
        </a:graphic>
      </p:graphicFrame>
      <p:sp>
        <p:nvSpPr>
          <p:cNvPr id="6" name="Footer Placeholder 5"/>
          <p:cNvSpPr>
            <a:spLocks noGrp="1"/>
          </p:cNvSpPr>
          <p:nvPr>
            <p:ph idx="11" sz="quarter" type="ftr"/>
          </p:nvPr>
        </p:nvSpPr>
        <p:spPr/>
        <p:txBody>
          <a:bodyPr/>
          <a:lstStyle/>
          <a:p>
            <a:r>
              <a:rPr lang="en-GB"/>
              <a:t>Tâm Anh Oxford Partnership</a:t>
            </a:r>
          </a:p>
        </p:txBody>
      </p:sp>
      <p:sp>
        <p:nvSpPr>
          <p:cNvPr id="7" name="Slide Number Placeholder 6"/>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lstStyle/>
          <a:p>
            <a:pPr lvl="0" indent="0" marL="0">
              <a:buNone/>
            </a:pPr>
            <a:r>
              <a:rPr/>
              <a:t>Data structure - Example 2</a:t>
            </a:r>
          </a:p>
        </p:txBody>
      </p:sp>
      <p:sp>
        <p:nvSpPr>
          <p:cNvPr id="4" name="Text Placeholder 3"/>
          <p:cNvSpPr>
            <a:spLocks noGrp="1"/>
          </p:cNvSpPr>
          <p:nvPr>
            <p:ph idx="2" sz="half" type="body"/>
          </p:nvPr>
        </p:nvSpPr>
        <p:spPr/>
        <p:txBody>
          <a:bodyPr/>
          <a:lstStyle/>
          <a:p>
            <a:pPr lvl="0" indent="0" marL="0">
              <a:buNone/>
            </a:pPr>
            <a:r>
              <a:rPr/>
              <a:t>Rows and columns have been transposed. The data is the same, but the layout is different.</a:t>
            </a:r>
          </a:p>
        </p:txBody>
      </p:sp>
      <p:graphicFrame>
        <p:nvGraphicFramePr>
          <p:cNvPr id="6" name="Content Placeholder 5"/>
          <p:cNvGraphicFramePr>
            <a:graphicFrameLocks noGrp="1"/>
          </p:cNvGraphicFramePr>
          <p:nvPr>
            <p:ph idx="1"/>
          </p:nvPr>
        </p:nvGraphicFramePr>
        <p:xfrm>
          <a:off x="5181600" y="977900"/>
          <a:ext cx="6172200" cy="4864100"/>
        </p:xfrm>
        <a:graphic>
          <a:graphicData uri="http://schemas.openxmlformats.org/drawingml/2006/table">
            <a:tbl>
              <a:tblPr firstRow="1" bandRow="1">
                <a:tableStyleId>{5C22544A-7EE6-4342-B048-85BDC9FD1C3A}</a:tableStyleId>
              </a:tblPr>
              <a:tblGrid>
                <a:gridCol w="1536700"/>
                <a:gridCol w="1536700"/>
                <a:gridCol w="1536700"/>
                <a:gridCol w="1536700"/>
              </a:tblGrid>
              <a:tr h="0">
                <a:tc>
                  <a:txBody>
                    <a:bodyPr/>
                    <a:lstStyle/>
                    <a:p>
                      <a:pPr lvl="0" indent="0" marL="0" algn="r">
                        <a:buNone/>
                      </a:pPr>
                      <a:r>
                        <a:rPr/>
                        <a:t> </a:t>
                      </a:r>
                    </a:p>
                  </a:txBody>
                  <a:tcPr/>
                </a:tc>
                <a:tc>
                  <a:txBody>
                    <a:bodyPr/>
                    <a:lstStyle/>
                    <a:p>
                      <a:pPr lvl="0" indent="0" marL="0" algn="r">
                        <a:buNone/>
                      </a:pPr>
                      <a:r>
                        <a:rPr/>
                        <a:t>John Smith</a:t>
                      </a:r>
                    </a:p>
                  </a:txBody>
                  <a:tcPr/>
                </a:tc>
                <a:tc>
                  <a:txBody>
                    <a:bodyPr/>
                    <a:lstStyle/>
                    <a:p>
                      <a:pPr lvl="0" indent="0" marL="0" algn="r">
                        <a:buNone/>
                      </a:pPr>
                      <a:r>
                        <a:rPr/>
                        <a:t>Jane Doe</a:t>
                      </a:r>
                    </a:p>
                  </a:txBody>
                  <a:tcPr/>
                </a:tc>
                <a:tc>
                  <a:txBody>
                    <a:bodyPr/>
                    <a:lstStyle/>
                    <a:p>
                      <a:pPr lvl="0" indent="0" marL="0" algn="r">
                        <a:buNone/>
                      </a:pPr>
                      <a:r>
                        <a:rPr/>
                        <a:t>Mary Johnson</a:t>
                      </a:r>
                    </a:p>
                  </a:txBody>
                  <a:tcPr/>
                </a:tc>
              </a:tr>
              <a:tr h="0">
                <a:tc>
                  <a:txBody>
                    <a:bodyPr/>
                    <a:lstStyle/>
                    <a:p>
                      <a:pPr lvl="0" indent="0" marL="0" algn="r">
                        <a:buNone/>
                      </a:pPr>
                      <a:r>
                        <a:rPr/>
                        <a:t>treatmenta</a:t>
                      </a:r>
                    </a:p>
                  </a:txBody>
                </a:tc>
                <a:tc>
                  <a:txBody>
                    <a:bodyPr/>
                    <a:lstStyle/>
                    <a:p>
                      <a:pPr lvl="0" indent="0" marL="0" algn="r">
                        <a:buNone/>
                      </a:pPr>
                      <a:r>
                        <a:rPr/>
                        <a:t> </a:t>
                      </a:r>
                    </a:p>
                  </a:txBody>
                </a:tc>
                <a:tc>
                  <a:txBody>
                    <a:bodyPr/>
                    <a:lstStyle/>
                    <a:p>
                      <a:pPr lvl="0" indent="0" marL="0" algn="r">
                        <a:buNone/>
                      </a:pPr>
                      <a:r>
                        <a:rPr/>
                        <a:t>16</a:t>
                      </a:r>
                    </a:p>
                  </a:txBody>
                </a:tc>
                <a:tc>
                  <a:txBody>
                    <a:bodyPr/>
                    <a:lstStyle/>
                    <a:p>
                      <a:pPr lvl="0" indent="0" marL="0" algn="r">
                        <a:buNone/>
                      </a:pPr>
                      <a:r>
                        <a:rPr/>
                        <a:t>3</a:t>
                      </a:r>
                    </a:p>
                  </a:txBody>
                </a:tc>
              </a:tr>
              <a:tr h="0">
                <a:tc>
                  <a:txBody>
                    <a:bodyPr/>
                    <a:lstStyle/>
                    <a:p>
                      <a:pPr lvl="0" indent="0" marL="0" algn="r">
                        <a:buNone/>
                      </a:pPr>
                      <a:r>
                        <a:rPr/>
                        <a:t>treatmentb</a:t>
                      </a:r>
                    </a:p>
                  </a:txBody>
                </a:tc>
                <a:tc>
                  <a:txBody>
                    <a:bodyPr/>
                    <a:lstStyle/>
                    <a:p>
                      <a:pPr lvl="0" indent="0" marL="0" algn="r">
                        <a:buNone/>
                      </a:pPr>
                      <a:r>
                        <a:rPr/>
                        <a:t>2</a:t>
                      </a:r>
                    </a:p>
                  </a:txBody>
                </a:tc>
                <a:tc>
                  <a:txBody>
                    <a:bodyPr/>
                    <a:lstStyle/>
                    <a:p>
                      <a:pPr lvl="0" indent="0" marL="0" algn="r">
                        <a:buNone/>
                      </a:pPr>
                      <a:r>
                        <a:rPr/>
                        <a:t>11</a:t>
                      </a:r>
                    </a:p>
                  </a:txBody>
                </a:tc>
                <a:tc>
                  <a:txBody>
                    <a:bodyPr/>
                    <a:lstStyle/>
                    <a:p>
                      <a:pPr lvl="0" indent="0" marL="0" algn="r">
                        <a:buNone/>
                      </a:pPr>
                      <a:r>
                        <a:rPr/>
                        <a:t>1</a:t>
                      </a:r>
                    </a:p>
                  </a:txBody>
                </a:tc>
              </a:tr>
            </a:tbl>
          </a:graphicData>
        </a:graphic>
      </p:graphicFrame>
      <p:sp>
        <p:nvSpPr>
          <p:cNvPr id="6" name="Footer Placeholder 5"/>
          <p:cNvSpPr>
            <a:spLocks noGrp="1"/>
          </p:cNvSpPr>
          <p:nvPr>
            <p:ph idx="11" sz="quarter" type="ftr"/>
          </p:nvPr>
        </p:nvSpPr>
        <p:spPr/>
        <p:txBody>
          <a:bodyPr/>
          <a:lstStyle/>
          <a:p>
            <a:r>
              <a:rPr lang="en-GB"/>
              <a:t>Tâm Anh Oxford Partnership</a:t>
            </a:r>
          </a:p>
        </p:txBody>
      </p:sp>
      <p:sp>
        <p:nvSpPr>
          <p:cNvPr id="7" name="Slide Number Placeholder 6"/>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semantics</a:t>
            </a:r>
          </a:p>
        </p:txBody>
      </p:sp>
      <p:sp>
        <p:nvSpPr>
          <p:cNvPr id="3" name="Content Placeholder 2"/>
          <p:cNvSpPr>
            <a:spLocks noGrp="1"/>
          </p:cNvSpPr>
          <p:nvPr>
            <p:ph idx="1"/>
          </p:nvPr>
        </p:nvSpPr>
        <p:spPr/>
        <p:txBody>
          <a:bodyPr/>
          <a:lstStyle/>
          <a:p>
            <a:pPr lvl="0"/>
            <a:r>
              <a:rPr/>
              <a:t>A dataset is a collection of </a:t>
            </a:r>
            <a:r>
              <a:rPr b="1"/>
              <a:t>values</a:t>
            </a:r>
            <a:r>
              <a:rPr/>
              <a:t>, usually either numbers (if quantitative) or strings (if qualitative).</a:t>
            </a:r>
          </a:p>
          <a:p>
            <a:pPr lvl="0"/>
            <a:r>
              <a:rPr b="1"/>
              <a:t>Values</a:t>
            </a:r>
            <a:r>
              <a:rPr/>
              <a:t> are organised in two ways:</a:t>
            </a:r>
          </a:p>
          <a:p>
            <a:pPr lvl="1"/>
            <a:r>
              <a:rPr/>
              <a:t>Every </a:t>
            </a:r>
            <a:r>
              <a:rPr i="1"/>
              <a:t>value</a:t>
            </a:r>
            <a:r>
              <a:rPr/>
              <a:t> belongs to a </a:t>
            </a:r>
            <a:r>
              <a:rPr b="1"/>
              <a:t>variable</a:t>
            </a:r>
            <a:r>
              <a:rPr/>
              <a:t> and an </a:t>
            </a:r>
            <a:r>
              <a:rPr b="1"/>
              <a:t>observation</a:t>
            </a:r>
            <a:r>
              <a:rPr/>
              <a:t>.</a:t>
            </a:r>
          </a:p>
          <a:p>
            <a:pPr lvl="1"/>
            <a:r>
              <a:rPr/>
              <a:t>A </a:t>
            </a:r>
            <a:r>
              <a:rPr b="1"/>
              <a:t>variable</a:t>
            </a:r>
            <a:r>
              <a:rPr/>
              <a:t> contains all values that measure the same underlying attribute (like height, temperature, duration) across units.</a:t>
            </a:r>
          </a:p>
          <a:p>
            <a:pPr lvl="1"/>
            <a:r>
              <a:rPr/>
              <a:t>An </a:t>
            </a:r>
            <a:r>
              <a:rPr b="1"/>
              <a:t>observation</a:t>
            </a:r>
            <a:r>
              <a:rPr/>
              <a:t> contains all values measured on the same unit (like a person, or a day, or a race) across attributes.</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structure - Example 3</a:t>
            </a:r>
          </a:p>
        </p:txBody>
      </p:sp>
      <p:graphicFrame>
        <p:nvGraphicFramePr>
          <p:cNvPr id="6" name="Content Placeholder 5"/>
          <p:cNvGraphicFramePr>
            <a:graphicFrameLocks noGrp="1"/>
          </p:cNvGraphicFramePr>
          <p:nvPr>
            <p:ph idx="1"/>
          </p:nvPr>
        </p:nvGraphicFramePr>
        <p:xfrm>
          <a:off x="838200" y="1816100"/>
          <a:ext cx="10515600" cy="4343400"/>
        </p:xfrm>
        <a:graphic>
          <a:graphicData uri="http://schemas.openxmlformats.org/drawingml/2006/table">
            <a:tbl>
              <a:tblPr firstRow="1" bandRow="1">
                <a:tableStyleId>{5C22544A-7EE6-4342-B048-85BDC9FD1C3A}</a:tableStyleId>
              </a:tblPr>
              <a:tblGrid>
                <a:gridCol w="3505200"/>
                <a:gridCol w="3505200"/>
                <a:gridCol w="3505200"/>
              </a:tblGrid>
              <a:tr h="0">
                <a:tc>
                  <a:txBody>
                    <a:bodyPr/>
                    <a:lstStyle/>
                    <a:p>
                      <a:pPr lvl="0" indent="0" marL="0" algn="r">
                        <a:buNone/>
                      </a:pPr>
                      <a:r>
                        <a:rPr/>
                        <a:t>name</a:t>
                      </a:r>
                    </a:p>
                  </a:txBody>
                  <a:tcPr/>
                </a:tc>
                <a:tc>
                  <a:txBody>
                    <a:bodyPr/>
                    <a:lstStyle/>
                    <a:p>
                      <a:pPr lvl="0" indent="0" marL="0" algn="l">
                        <a:buNone/>
                      </a:pPr>
                      <a:r>
                        <a:rPr/>
                        <a:t>treatment</a:t>
                      </a:r>
                    </a:p>
                  </a:txBody>
                  <a:tcPr/>
                </a:tc>
                <a:tc>
                  <a:txBody>
                    <a:bodyPr/>
                    <a:lstStyle/>
                    <a:p>
                      <a:pPr lvl="0" indent="0" marL="0" algn="r">
                        <a:buNone/>
                      </a:pPr>
                      <a:r>
                        <a:rPr/>
                        <a:t>result</a:t>
                      </a:r>
                    </a:p>
                  </a:txBody>
                  <a:tcPr/>
                </a:tc>
              </a:tr>
              <a:tr h="0">
                <a:tc>
                  <a:txBody>
                    <a:bodyPr/>
                    <a:lstStyle/>
                    <a:p>
                      <a:pPr lvl="0" indent="0" marL="0" algn="r">
                        <a:buNone/>
                      </a:pPr>
                      <a:r>
                        <a:rPr/>
                        <a:t>John Smith</a:t>
                      </a:r>
                    </a:p>
                  </a:txBody>
                </a:tc>
                <a:tc>
                  <a:txBody>
                    <a:bodyPr/>
                    <a:lstStyle/>
                    <a:p>
                      <a:pPr lvl="0" indent="0" marL="0" algn="l">
                        <a:buNone/>
                      </a:pPr>
                      <a:r>
                        <a:rPr/>
                        <a:t>a</a:t>
                      </a:r>
                    </a:p>
                  </a:txBody>
                </a:tc>
                <a:tc>
                  <a:txBody>
                    <a:bodyPr/>
                    <a:lstStyle/>
                    <a:p>
                      <a:endParaRPr/>
                    </a:p>
                  </a:txBody>
                </a:tc>
              </a:tr>
              <a:tr h="0">
                <a:tc>
                  <a:txBody>
                    <a:bodyPr/>
                    <a:lstStyle/>
                    <a:p>
                      <a:pPr lvl="0" indent="0" marL="0" algn="r">
                        <a:buNone/>
                      </a:pPr>
                      <a:r>
                        <a:rPr/>
                        <a:t>Jane Doe</a:t>
                      </a:r>
                    </a:p>
                  </a:txBody>
                </a:tc>
                <a:tc>
                  <a:txBody>
                    <a:bodyPr/>
                    <a:lstStyle/>
                    <a:p>
                      <a:pPr lvl="0" indent="0" marL="0" algn="l">
                        <a:buNone/>
                      </a:pPr>
                      <a:r>
                        <a:rPr/>
                        <a:t>a</a:t>
                      </a:r>
                    </a:p>
                  </a:txBody>
                </a:tc>
                <a:tc>
                  <a:txBody>
                    <a:bodyPr/>
                    <a:lstStyle/>
                    <a:p>
                      <a:pPr lvl="0" indent="0" marL="0" algn="r">
                        <a:buNone/>
                      </a:pPr>
                      <a:r>
                        <a:rPr/>
                        <a:t>16</a:t>
                      </a:r>
                    </a:p>
                  </a:txBody>
                </a:tc>
              </a:tr>
              <a:tr h="0">
                <a:tc>
                  <a:txBody>
                    <a:bodyPr/>
                    <a:lstStyle/>
                    <a:p>
                      <a:pPr lvl="0" indent="0" marL="0" algn="r">
                        <a:buNone/>
                      </a:pPr>
                      <a:r>
                        <a:rPr/>
                        <a:t>Mary Johnson</a:t>
                      </a:r>
                    </a:p>
                  </a:txBody>
                </a:tc>
                <a:tc>
                  <a:txBody>
                    <a:bodyPr/>
                    <a:lstStyle/>
                    <a:p>
                      <a:pPr lvl="0" indent="0" marL="0" algn="l">
                        <a:buNone/>
                      </a:pPr>
                      <a:r>
                        <a:rPr/>
                        <a:t>a</a:t>
                      </a:r>
                    </a:p>
                  </a:txBody>
                </a:tc>
                <a:tc>
                  <a:txBody>
                    <a:bodyPr/>
                    <a:lstStyle/>
                    <a:p>
                      <a:pPr lvl="0" indent="0" marL="0" algn="r">
                        <a:buNone/>
                      </a:pPr>
                      <a:r>
                        <a:rPr/>
                        <a:t>3</a:t>
                      </a:r>
                    </a:p>
                  </a:txBody>
                </a:tc>
              </a:tr>
              <a:tr h="0">
                <a:tc>
                  <a:txBody>
                    <a:bodyPr/>
                    <a:lstStyle/>
                    <a:p>
                      <a:pPr lvl="0" indent="0" marL="0" algn="r">
                        <a:buNone/>
                      </a:pPr>
                      <a:r>
                        <a:rPr/>
                        <a:t>John Smith</a:t>
                      </a:r>
                    </a:p>
                  </a:txBody>
                </a:tc>
                <a:tc>
                  <a:txBody>
                    <a:bodyPr/>
                    <a:lstStyle/>
                    <a:p>
                      <a:pPr lvl="0" indent="0" marL="0" algn="l">
                        <a:buNone/>
                      </a:pPr>
                      <a:r>
                        <a:rPr/>
                        <a:t>b</a:t>
                      </a:r>
                    </a:p>
                  </a:txBody>
                </a:tc>
                <a:tc>
                  <a:txBody>
                    <a:bodyPr/>
                    <a:lstStyle/>
                    <a:p>
                      <a:pPr lvl="0" indent="0" marL="0" algn="r">
                        <a:buNone/>
                      </a:pPr>
                      <a:r>
                        <a:rPr/>
                        <a:t>2</a:t>
                      </a:r>
                    </a:p>
                  </a:txBody>
                </a:tc>
              </a:tr>
              <a:tr h="0">
                <a:tc>
                  <a:txBody>
                    <a:bodyPr/>
                    <a:lstStyle/>
                    <a:p>
                      <a:pPr lvl="0" indent="0" marL="0" algn="r">
                        <a:buNone/>
                      </a:pPr>
                      <a:r>
                        <a:rPr/>
                        <a:t>Jane Doe</a:t>
                      </a:r>
                    </a:p>
                  </a:txBody>
                </a:tc>
                <a:tc>
                  <a:txBody>
                    <a:bodyPr/>
                    <a:lstStyle/>
                    <a:p>
                      <a:pPr lvl="0" indent="0" marL="0" algn="l">
                        <a:buNone/>
                      </a:pPr>
                      <a:r>
                        <a:rPr/>
                        <a:t>b</a:t>
                      </a:r>
                    </a:p>
                  </a:txBody>
                </a:tc>
                <a:tc>
                  <a:txBody>
                    <a:bodyPr/>
                    <a:lstStyle/>
                    <a:p>
                      <a:pPr lvl="0" indent="0" marL="0" algn="r">
                        <a:buNone/>
                      </a:pPr>
                      <a:r>
                        <a:rPr/>
                        <a:t>11</a:t>
                      </a:r>
                    </a:p>
                  </a:txBody>
                </a:tc>
              </a:tr>
              <a:tr h="0">
                <a:tc>
                  <a:txBody>
                    <a:bodyPr/>
                    <a:lstStyle/>
                    <a:p>
                      <a:pPr lvl="0" indent="0" marL="0" algn="r">
                        <a:buNone/>
                      </a:pPr>
                      <a:r>
                        <a:rPr/>
                        <a:t>Mary Johnson</a:t>
                      </a:r>
                    </a:p>
                  </a:txBody>
                </a:tc>
                <a:tc>
                  <a:txBody>
                    <a:bodyPr/>
                    <a:lstStyle/>
                    <a:p>
                      <a:pPr lvl="0" indent="0" marL="0" algn="l">
                        <a:buNone/>
                      </a:pPr>
                      <a:r>
                        <a:rPr/>
                        <a:t>b</a:t>
                      </a:r>
                    </a:p>
                  </a:txBody>
                </a:tc>
                <a:tc>
                  <a:txBody>
                    <a:bodyPr/>
                    <a:lstStyle/>
                    <a:p>
                      <a:pPr lvl="0" indent="0" marL="0" algn="r">
                        <a:buNone/>
                      </a:pPr>
                      <a:r>
                        <a:rPr/>
                        <a:t>1</a:t>
                      </a:r>
                    </a:p>
                  </a:txBody>
                </a:tc>
              </a:tr>
            </a:tbl>
          </a:graphicData>
        </a:graphic>
      </p:graphicFrame>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The same data as earlier but with variables in columns and observations in rows.</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structure - summary</a:t>
            </a:r>
          </a:p>
        </p:txBody>
      </p:sp>
      <p:sp>
        <p:nvSpPr>
          <p:cNvPr id="3" name="Content Placeholder 2"/>
          <p:cNvSpPr>
            <a:spLocks noGrp="1"/>
          </p:cNvSpPr>
          <p:nvPr>
            <p:ph idx="1"/>
          </p:nvPr>
        </p:nvSpPr>
        <p:spPr/>
        <p:txBody>
          <a:bodyPr/>
          <a:lstStyle/>
          <a:p>
            <a:pPr lvl="0"/>
            <a:r>
              <a:rPr/>
              <a:t>For a given dataset, it’s usually easy to figure out what are </a:t>
            </a:r>
            <a:r>
              <a:rPr b="1"/>
              <a:t>observations</a:t>
            </a:r>
            <a:r>
              <a:rPr/>
              <a:t> and what are </a:t>
            </a:r>
            <a:r>
              <a:rPr b="1"/>
              <a:t>variables</a:t>
            </a:r>
            <a:r>
              <a:rPr/>
              <a:t>, but it is surprisingly difficult to precisely define variables and observations in general.</a:t>
            </a:r>
          </a:p>
          <a:p>
            <a:pPr lvl="0"/>
            <a:r>
              <a:rPr/>
              <a:t>A general rule of thumb is that it is easier to describe </a:t>
            </a:r>
            <a:r>
              <a:rPr b="1"/>
              <a:t>functional relationships</a:t>
            </a:r>
            <a:r>
              <a:rPr/>
              <a:t> between variables than between observations (rows), and it is easier to make </a:t>
            </a:r>
            <a:r>
              <a:rPr b="1"/>
              <a:t>comparisons</a:t>
            </a:r>
            <a:r>
              <a:rPr/>
              <a:t> between groups of observations than between groups of columns.</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standard of tidy data</a:t>
            </a:r>
          </a:p>
        </p:txBody>
      </p:sp>
      <p:sp>
        <p:nvSpPr>
          <p:cNvPr id="3" name="Content Placeholder 2"/>
          <p:cNvSpPr>
            <a:spLocks noGrp="1"/>
          </p:cNvSpPr>
          <p:nvPr>
            <p:ph idx="1"/>
          </p:nvPr>
        </p:nvSpPr>
        <p:spPr/>
        <p:txBody>
          <a:bodyPr/>
          <a:lstStyle/>
          <a:p>
            <a:pPr lvl="0"/>
            <a:r>
              <a:rPr/>
              <a:t>Provides a standard way to organise data values within a dataset.</a:t>
            </a:r>
          </a:p>
          <a:p>
            <a:pPr lvl="0"/>
            <a:r>
              <a:rPr/>
              <a:t>Designed to facilitate initial exploration and analysis of the data, and to simplify the development of data analysis tools.</a:t>
            </a:r>
          </a:p>
          <a:p>
            <a:pPr lvl="0"/>
            <a:r>
              <a:rPr/>
              <a:t>Principles of tidy data are closely tied to those of relational databases</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Tidy data definition</a:t>
            </a:r>
          </a:p>
        </p:txBody>
      </p:sp>
      <p:sp>
        <p:nvSpPr>
          <p:cNvPr id="3" name="Content Placeholder 2"/>
          <p:cNvSpPr>
            <a:spLocks noGrp="1"/>
          </p:cNvSpPr>
          <p:nvPr>
            <p:ph idx="1"/>
          </p:nvPr>
        </p:nvSpPr>
        <p:spPr/>
        <p:txBody>
          <a:bodyPr/>
          <a:lstStyle/>
          <a:p>
            <a:pPr lvl="0"/>
            <a:r>
              <a:rPr/>
              <a:t>Tidy data is a standard way of mapping the meaning of a dataset to its structure.</a:t>
            </a:r>
          </a:p>
          <a:p>
            <a:pPr lvl="0"/>
            <a:r>
              <a:rPr/>
              <a:t>A dataset is messy or tidy depending on how rows, columns and tables are matched up with observations, variables and types.</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Tidy data criteria</a:t>
            </a:r>
          </a:p>
        </p:txBody>
      </p:sp>
      <p:sp>
        <p:nvSpPr>
          <p:cNvPr id="3" name="Content Placeholder 2"/>
          <p:cNvSpPr>
            <a:spLocks noGrp="1"/>
          </p:cNvSpPr>
          <p:nvPr>
            <p:ph idx="1"/>
          </p:nvPr>
        </p:nvSpPr>
        <p:spPr/>
        <p:txBody>
          <a:bodyPr/>
          <a:lstStyle/>
          <a:p>
            <a:pPr lvl="0" indent="-457200" marL="457200">
              <a:buAutoNum type="arabicPeriod"/>
            </a:pPr>
            <a:r>
              <a:rPr/>
              <a:t>Each variable forms a column.</a:t>
            </a:r>
          </a:p>
          <a:p>
            <a:pPr lvl="0" indent="-457200" marL="457200">
              <a:buAutoNum type="arabicPeriod"/>
            </a:pPr>
            <a:r>
              <a:rPr/>
              <a:t>Each observation forms a row.</a:t>
            </a:r>
          </a:p>
          <a:p>
            <a:pPr lvl="0" indent="-457200" marL="457200">
              <a:buAutoNum type="arabicPeriod"/>
            </a:pPr>
            <a:r>
              <a:rPr/>
              <a:t>Each type of observational unit forms a table.</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Five most common problems with messy datasets</a:t>
            </a:r>
          </a:p>
        </p:txBody>
      </p:sp>
      <p:sp>
        <p:nvSpPr>
          <p:cNvPr id="3" name="Content Placeholder 2"/>
          <p:cNvSpPr>
            <a:spLocks noGrp="1"/>
          </p:cNvSpPr>
          <p:nvPr>
            <p:ph idx="1"/>
          </p:nvPr>
        </p:nvSpPr>
        <p:spPr/>
        <p:txBody>
          <a:bodyPr/>
          <a:lstStyle/>
          <a:p>
            <a:pPr lvl="0"/>
            <a:r>
              <a:rPr/>
              <a:t>Column headers are values not variable names</a:t>
            </a:r>
          </a:p>
          <a:p>
            <a:pPr lvl="0"/>
            <a:r>
              <a:rPr/>
              <a:t>Multiple variables are stored in one column</a:t>
            </a:r>
          </a:p>
          <a:p>
            <a:pPr lvl="0"/>
            <a:r>
              <a:rPr/>
              <a:t>Variables are stored in both rows and columns</a:t>
            </a:r>
          </a:p>
          <a:p>
            <a:pPr lvl="0"/>
            <a:r>
              <a:rPr/>
              <a:t>Multiple types of observational units are stored in the same table.</a:t>
            </a:r>
          </a:p>
          <a:p>
            <a:pPr lvl="0"/>
            <a:r>
              <a:rPr/>
              <a:t>A single observational unit is stored in multiple tables.</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Tidy data is extremely compatible with relational databases and data collection tools that adhere to relational database standards</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Messy data is commonly a result of the use of data tools that do not have standards or set rules for data structure i.e., Microsoft Excel</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Project-based data workflow</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Mindset</a:t>
            </a:r>
          </a:p>
        </p:txBody>
      </p:sp>
      <p:sp>
        <p:nvSpPr>
          <p:cNvPr id="3" name="Content Placeholder 2"/>
          <p:cNvSpPr>
            <a:spLocks noGrp="1"/>
          </p:cNvSpPr>
          <p:nvPr>
            <p:ph idx="1"/>
          </p:nvPr>
        </p:nvSpPr>
        <p:spPr/>
        <p:txBody>
          <a:bodyPr/>
          <a:lstStyle/>
          <a:p>
            <a:pPr lvl="0" indent="0" marL="0">
              <a:buNone/>
            </a:pPr>
            <a:r>
              <a:rPr/>
              <a:t>As our skills as data analysts grow, the surrounding systems and infrastructure become crucial for ensuring the reproducibility and long-term preservation of our work. However, we often lack formal training or mentorship in managing such systems, leading us to either get lost amidst this technology or that we begin to explore these possibilities ourselves.</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Mindset</a:t>
            </a:r>
          </a:p>
        </p:txBody>
      </p:sp>
      <p:sp>
        <p:nvSpPr>
          <p:cNvPr id="3" name="Content Placeholder 2"/>
          <p:cNvSpPr>
            <a:spLocks noGrp="1"/>
          </p:cNvSpPr>
          <p:nvPr>
            <p:ph idx="1"/>
          </p:nvPr>
        </p:nvSpPr>
        <p:spPr/>
        <p:txBody>
          <a:bodyPr/>
          <a:lstStyle/>
          <a:p>
            <a:pPr lvl="0"/>
            <a:r>
              <a:rPr/>
              <a:t>With this short course in general and this second week specifically, we hope to help you gracefully fall into this gap.</a:t>
            </a:r>
          </a:p>
          <a:p>
            <a:pPr lvl="0"/>
            <a:r>
              <a:rPr/>
              <a:t>Don’t fret over past mistakes, but raise the bar for new work. Small but meaningful incremental changes add up over time, transforming your </a:t>
            </a:r>
            <a:r>
              <a:rPr b="1"/>
              <a:t>data quality of life</a:t>
            </a:r>
            <a:r>
              <a:rPr/>
              <a:t>.</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Livestock not pets</a:t>
            </a:r>
          </a:p>
        </p:txBody>
      </p:sp>
      <p:sp>
        <p:nvSpPr>
          <p:cNvPr id="3" name="Content Placeholder 2"/>
          <p:cNvSpPr>
            <a:spLocks noGrp="1"/>
          </p:cNvSpPr>
          <p:nvPr>
            <p:ph idx="1"/>
          </p:nvPr>
        </p:nvSpPr>
        <p:spPr/>
        <p:txBody>
          <a:bodyPr/>
          <a:lstStyle/>
          <a:p>
            <a:pPr lvl="0" indent="0" marL="0">
              <a:buNone/>
            </a:pPr>
            <a:r>
              <a:rPr/>
              <a:t>Think of your data processes as livestock and not pets.</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Project-oriented workflow</a:t>
            </a:r>
          </a:p>
        </p:txBody>
      </p:sp>
      <p:sp>
        <p:nvSpPr>
          <p:cNvPr id="3" name="Content Placeholder 2"/>
          <p:cNvSpPr>
            <a:spLocks noGrp="1"/>
          </p:cNvSpPr>
          <p:nvPr>
            <p:ph idx="1"/>
          </p:nvPr>
        </p:nvSpPr>
        <p:spPr/>
        <p:txBody>
          <a:bodyPr/>
          <a:lstStyle/>
          <a:p>
            <a:pPr lvl="0" indent="0" marL="0">
              <a:buNone/>
            </a:pPr>
            <a:r>
              <a:rPr/>
              <a:t>Organise work into projects.</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File system discipline</a:t>
            </a:r>
          </a:p>
        </p:txBody>
      </p:sp>
      <p:sp>
        <p:nvSpPr>
          <p:cNvPr id="3" name="Content Placeholder 2"/>
          <p:cNvSpPr>
            <a:spLocks noGrp="1"/>
          </p:cNvSpPr>
          <p:nvPr>
            <p:ph idx="1"/>
          </p:nvPr>
        </p:nvSpPr>
        <p:spPr/>
        <p:txBody>
          <a:bodyPr/>
          <a:lstStyle/>
          <a:p>
            <a:pPr lvl="0"/>
            <a:r>
              <a:rPr/>
              <a:t>Put all the files related to a single project in a designated folder.</a:t>
            </a:r>
          </a:p>
          <a:p>
            <a:pPr lvl="0"/>
            <a:r>
              <a:rPr/>
              <a:t>This applies to data, code, figures, notes, etc.</a:t>
            </a:r>
          </a:p>
          <a:p>
            <a:pPr lvl="0"/>
            <a:r>
              <a:rPr/>
              <a:t>Depending on project complexity, you might enforce further organization into subfolders.</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File naming</a:t>
            </a:r>
          </a:p>
        </p:txBody>
      </p:sp>
      <p:sp>
        <p:nvSpPr>
          <p:cNvPr id="3" name="Content Placeholder 2"/>
          <p:cNvSpPr>
            <a:spLocks noGrp="1"/>
          </p:cNvSpPr>
          <p:nvPr>
            <p:ph idx="1"/>
          </p:nvPr>
        </p:nvSpPr>
        <p:spPr/>
        <p:txBody>
          <a:bodyPr/>
          <a:lstStyle/>
          <a:p>
            <a:pPr lvl="0" indent="0" marL="0">
              <a:buNone/>
            </a:pPr>
            <a:r>
              <a:rPr/>
              <a:t>File organisation and naming are powerful weapons against chaos.</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Three principles for file names</a:t>
            </a:r>
          </a:p>
        </p:txBody>
      </p:sp>
      <p:pic>
        <p:nvPicPr>
          <p:cNvPr descr="../images/file_organisation.png" id="0" name="Picture 1"/>
          <p:cNvPicPr>
            <a:picLocks noGrp="1" noChangeAspect="1"/>
          </p:cNvPicPr>
          <p:nvPr/>
        </p:nvPicPr>
        <p:blipFill>
          <a:blip r:embed="rId2"/>
          <a:stretch>
            <a:fillRect/>
          </a:stretch>
        </p:blipFill>
        <p:spPr bwMode="auto">
          <a:xfrm>
            <a:off x="838200" y="2260600"/>
            <a:ext cx="5181600" cy="3467100"/>
          </a:xfrm>
          <a:prstGeom prst="rect">
            <a:avLst/>
          </a:prstGeom>
          <a:noFill/>
          <a:ln w="9525">
            <a:noFill/>
            <a:headEnd/>
            <a:tailEnd/>
          </a:ln>
        </p:spPr>
      </p:pic>
      <p:sp>
        <p:nvSpPr>
          <p:cNvPr id="4" name="Content Placeholder 3"/>
          <p:cNvSpPr>
            <a:spLocks noGrp="1"/>
          </p:cNvSpPr>
          <p:nvPr>
            <p:ph idx="2" sz="half"/>
          </p:nvPr>
        </p:nvSpPr>
        <p:spPr/>
        <p:txBody>
          <a:bodyPr/>
          <a:lstStyle/>
          <a:p>
            <a:pPr lvl="0"/>
            <a:r>
              <a:rPr/>
              <a:t>machine-readable</a:t>
            </a:r>
          </a:p>
          <a:p>
            <a:pPr lvl="0"/>
            <a:r>
              <a:rPr/>
              <a:t>human-readable</a:t>
            </a:r>
          </a:p>
          <a:p>
            <a:pPr lvl="0"/>
            <a:r>
              <a:rPr/>
              <a:t>plays well with default ordering</a:t>
            </a:r>
          </a:p>
        </p:txBody>
      </p:sp>
      <p:sp>
        <p:nvSpPr>
          <p:cNvPr id="6" name="Footer Placeholder 5"/>
          <p:cNvSpPr>
            <a:spLocks noGrp="1"/>
          </p:cNvSpPr>
          <p:nvPr>
            <p:ph idx="11" sz="quarter" type="ftr"/>
          </p:nvPr>
        </p:nvSpPr>
        <p:spPr/>
        <p:txBody>
          <a:bodyPr/>
          <a:lstStyle/>
          <a:p>
            <a:r>
              <a:rPr lang="en-GB"/>
              <a:t>Tâm Anh Oxford Partnership</a:t>
            </a:r>
          </a:p>
        </p:txBody>
      </p:sp>
      <p:sp>
        <p:nvSpPr>
          <p:cNvPr id="7" name="Slide Number Placeholder 6"/>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Machine-readable</a:t>
            </a:r>
          </a:p>
        </p:txBody>
      </p:sp>
      <p:sp>
        <p:nvSpPr>
          <p:cNvPr id="3" name="Content Placeholder 2"/>
          <p:cNvSpPr>
            <a:spLocks noGrp="1"/>
          </p:cNvSpPr>
          <p:nvPr>
            <p:ph idx="1"/>
          </p:nvPr>
        </p:nvSpPr>
        <p:spPr/>
        <p:txBody>
          <a:bodyPr/>
          <a:lstStyle/>
          <a:p>
            <a:pPr lvl="0"/>
            <a:r>
              <a:rPr/>
              <a:t>avoid spaces, punctuation, accented, characters, case sensitivity.</a:t>
            </a:r>
          </a:p>
          <a:p>
            <a:pPr lvl="0"/>
            <a:r>
              <a:rPr/>
              <a:t>deliberate use of delimiters/space-holders - </a:t>
            </a:r>
            <a:r>
              <a:rPr>
                <a:latin typeface="Courier"/>
              </a:rPr>
              <a:t>"_"</a:t>
            </a:r>
            <a:r>
              <a:rPr/>
              <a:t> or </a:t>
            </a:r>
            <a:r>
              <a:rPr>
                <a:latin typeface="Courier"/>
              </a:rPr>
              <a:t>"-"</a:t>
            </a:r>
          </a:p>
          <a:p>
            <a:pPr lvl="1"/>
            <a:r>
              <a:rPr/>
              <a:t>general rule is that </a:t>
            </a:r>
            <a:r>
              <a:rPr>
                <a:latin typeface="Courier"/>
              </a:rPr>
              <a:t>"_"</a:t>
            </a:r>
            <a:r>
              <a:rPr/>
              <a:t> to delimit units of metadata while </a:t>
            </a:r>
            <a:r>
              <a:rPr>
                <a:latin typeface="Courier"/>
              </a:rPr>
              <a:t>"-"</a:t>
            </a:r>
            <a:r>
              <a:rPr/>
              <a:t> to delimit words so that they are more readable.</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Machine-readable</a:t>
            </a:r>
          </a:p>
        </p:txBody>
      </p:sp>
      <p:sp>
        <p:nvSpPr>
          <p:cNvPr id="3" name="Content Placeholder 2"/>
          <p:cNvSpPr>
            <a:spLocks noGrp="1"/>
          </p:cNvSpPr>
          <p:nvPr>
            <p:ph idx="1"/>
          </p:nvPr>
        </p:nvSpPr>
        <p:spPr/>
        <p:txBody>
          <a:bodyPr/>
          <a:lstStyle/>
          <a:p>
            <a:pPr lvl="0"/>
            <a:r>
              <a:rPr/>
              <a:t>easy to search for files later</a:t>
            </a:r>
          </a:p>
          <a:p>
            <a:pPr lvl="0"/>
            <a:r>
              <a:rPr/>
              <a:t>easy to narrow file lists based on names</a:t>
            </a:r>
          </a:p>
          <a:p>
            <a:pPr lvl="0"/>
            <a:r>
              <a:rPr/>
              <a:t>easy to extract information from file names</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Human-readable</a:t>
            </a:r>
          </a:p>
        </p:txBody>
      </p:sp>
      <p:sp>
        <p:nvSpPr>
          <p:cNvPr id="3" name="Content Placeholder 2"/>
          <p:cNvSpPr>
            <a:spLocks noGrp="1"/>
          </p:cNvSpPr>
          <p:nvPr>
            <p:ph idx="1"/>
          </p:nvPr>
        </p:nvSpPr>
        <p:spPr/>
        <p:txBody>
          <a:bodyPr/>
          <a:lstStyle/>
          <a:p>
            <a:pPr lvl="0"/>
            <a:r>
              <a:rPr/>
              <a:t>name contains info on content.</a:t>
            </a:r>
          </a:p>
          <a:p>
            <a:pPr lvl="0"/>
            <a:r>
              <a:rPr/>
              <a:t>use the concept of a </a:t>
            </a:r>
            <a:r>
              <a:rPr b="1"/>
              <a:t>slug</a:t>
            </a:r>
            <a:r>
              <a:rPr/>
              <a:t> used in URLs.</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Human-readable</a:t>
            </a:r>
          </a:p>
        </p:txBody>
      </p:sp>
      <p:sp>
        <p:nvSpPr>
          <p:cNvPr id="3" name="Content Placeholder 2"/>
          <p:cNvSpPr>
            <a:spLocks noGrp="1"/>
          </p:cNvSpPr>
          <p:nvPr>
            <p:ph idx="1"/>
          </p:nvPr>
        </p:nvSpPr>
        <p:spPr/>
        <p:txBody>
          <a:bodyPr/>
          <a:lstStyle/>
          <a:p>
            <a:pPr lvl="0" indent="0" marL="0">
              <a:buNone/>
            </a:pPr>
            <a:r>
              <a:rPr/>
              <a:t>Easy to figure out what something is based on its name</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Plays well with default ordering</a:t>
            </a:r>
          </a:p>
        </p:txBody>
      </p:sp>
      <p:sp>
        <p:nvSpPr>
          <p:cNvPr id="3" name="Content Placeholder 2"/>
          <p:cNvSpPr>
            <a:spLocks noGrp="1"/>
          </p:cNvSpPr>
          <p:nvPr>
            <p:ph idx="1"/>
          </p:nvPr>
        </p:nvSpPr>
        <p:spPr/>
        <p:txBody>
          <a:bodyPr/>
          <a:lstStyle/>
          <a:p>
            <a:pPr lvl="0"/>
            <a:r>
              <a:rPr/>
              <a:t>put something numeric first</a:t>
            </a:r>
          </a:p>
          <a:p>
            <a:pPr lvl="0"/>
            <a:r>
              <a:rPr/>
              <a:t>use ISO 8601 standard for dates</a:t>
            </a:r>
          </a:p>
          <a:p>
            <a:pPr lvl="0"/>
            <a:r>
              <a:rPr/>
              <a:t>add leading zeros to numbers</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Three principles for file names</a:t>
            </a:r>
          </a:p>
        </p:txBody>
      </p:sp>
      <p:sp>
        <p:nvSpPr>
          <p:cNvPr id="3" name="Content Placeholder 2"/>
          <p:cNvSpPr>
            <a:spLocks noGrp="1"/>
          </p:cNvSpPr>
          <p:nvPr>
            <p:ph idx="1"/>
          </p:nvPr>
        </p:nvSpPr>
        <p:spPr/>
        <p:txBody>
          <a:bodyPr/>
          <a:lstStyle/>
          <a:p>
            <a:pPr lvl="0"/>
            <a:r>
              <a:rPr/>
              <a:t>easy to implement now</a:t>
            </a:r>
          </a:p>
          <a:p>
            <a:pPr lvl="0"/>
            <a:r>
              <a:rPr/>
              <a:t>payoffs accumulate as your skills evolve and projects get more complex</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Data Management</dc:title>
  <dc:creator>Ernest Guevarra; Dr Minh Cong Tran</dc:creator>
  <cp:keywords/>
  <dcterms:created xsi:type="dcterms:W3CDTF">2026-01-31T12:47:05Z</dcterms:created>
  <dcterms:modified xsi:type="dcterms:W3CDTF">2026-01-31T12:47:05Z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s">
    <vt:lpwstr/>
  </property>
  <property fmtid="{D5CDD505-2E9C-101B-9397-08002B2CF9AE}" pid="3" name="author-vi">
    <vt:lpwstr/>
  </property>
  <property fmtid="{D5CDD505-2E9C-101B-9397-08002B2CF9AE}" pid="4" name="authors">
    <vt:lpwstr/>
  </property>
  <property fmtid="{D5CDD505-2E9C-101B-9397-08002B2CF9AE}" pid="5" name="babelquarto">
    <vt:lpwstr/>
  </property>
  <property fmtid="{D5CDD505-2E9C-101B-9397-08002B2CF9AE}" pid="6" name="biblio-config">
    <vt:lpwstr>True</vt:lpwstr>
  </property>
  <property fmtid="{D5CDD505-2E9C-101B-9397-08002B2CF9AE}" pid="7" name="by-affiliation">
    <vt:lpwstr/>
  </property>
  <property fmtid="{D5CDD505-2E9C-101B-9397-08002B2CF9AE}" pid="8" name="by-author">
    <vt:lpwstr/>
  </property>
  <property fmtid="{D5CDD505-2E9C-101B-9397-08002B2CF9AE}" pid="9" name="description-vi">
    <vt:lpwstr/>
  </property>
  <property fmtid="{D5CDD505-2E9C-101B-9397-08002B2CF9AE}" pid="10" name="header-includes">
    <vt:lpwstr/>
  </property>
  <property fmtid="{D5CDD505-2E9C-101B-9397-08002B2CF9AE}" pid="11" name="include-after">
    <vt:lpwstr/>
  </property>
  <property fmtid="{D5CDD505-2E9C-101B-9397-08002B2CF9AE}" pid="12" name="include-before">
    <vt:lpwstr/>
  </property>
  <property fmtid="{D5CDD505-2E9C-101B-9397-08002B2CF9AE}" pid="13" name="labels">
    <vt:lpwstr/>
  </property>
  <property fmtid="{D5CDD505-2E9C-101B-9397-08002B2CF9AE}" pid="14" name="lang-en">
    <vt:lpwstr>true</vt:lpwstr>
  </property>
  <property fmtid="{D5CDD505-2E9C-101B-9397-08002B2CF9AE}" pid="15" name="subtitle">
    <vt:lpwstr>Guiding Principles and Best Practices</vt:lpwstr>
  </property>
  <property fmtid="{D5CDD505-2E9C-101B-9397-08002B2CF9AE}" pid="16" name="title-slide-attributes">
    <vt:lpwstr/>
  </property>
  <property fmtid="{D5CDD505-2E9C-101B-9397-08002B2CF9AE}" pid="17" name="title-vi">
    <vt:lpwstr>Các khóa đào tạo phát triển năng lực dữ liệu của TOP</vt:lpwstr>
  </property>
  <property fmtid="{D5CDD505-2E9C-101B-9397-08002B2CF9AE}" pid="18" name="toc-title">
    <vt:lpwstr>Table of contents</vt:lpwstr>
  </property>
</Properties>
</file>