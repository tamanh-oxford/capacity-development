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Default Extension="png" ContentType="image/pn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5" Type="http://schemas.openxmlformats.org/officeDocument/2006/relationships/theme" Target="theme/theme1.xml" /><Relationship Id="rId24" Type="http://schemas.openxmlformats.org/officeDocument/2006/relationships/viewProps" Target="viewProps.xml" /><Relationship Id="rId1" Type="http://schemas.openxmlformats.org/officeDocument/2006/relationships/slideMaster" Target="slideMasters/slideMaster1.xml" /><Relationship Id="rId23" Type="http://schemas.openxmlformats.org/officeDocument/2006/relationships/presProps" Target="presProps.xml" /><Relationship Id="rId27" Type="http://schemas.microsoft.com/office/2015/10/relationships/revisionInfo" Target="revisionInfo.xml" /><Relationship Id="rId26"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sv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govt.nz/toolkit/data-capability-framework/data-capability-framework-guide"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assets.publishing.service.gov.uk/media/64184bccd3bf7f79d9675dbd/Data_Maturity_Assessment_for_Government_-_FINAL_PDF.pdf"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Buổi 11</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Nguyên tắc hướng dẫn và các thực hành tốt nhất trong việc xây dựng năng lực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Xây dựng năng lực dữ liệu</a:t>
            </a:r>
          </a:p>
        </p:txBody>
      </p:sp>
      <p:sp>
        <p:nvSpPr>
          <p:cNvPr id="3" name="Content Placeholder 2"/>
          <p:cNvSpPr>
            <a:spLocks noGrp="1"/>
          </p:cNvSpPr>
          <p:nvPr>
            <p:ph idx="1"/>
          </p:nvPr>
        </p:nvSpPr>
        <p:spPr/>
        <p:txBody>
          <a:bodyPr/>
          <a:lstStyle/>
          <a:p>
            <a:pPr lvl="0"/>
            <a:r>
              <a:rPr/>
              <a:t>Không phải ai cũng cần trở thành nhà khoa học dữ liệu.</a:t>
            </a:r>
          </a:p>
          <a:p>
            <a:pPr lvl="0"/>
            <a:r>
              <a:rPr/>
              <a:t>Năng lực dữ liệu trong quá trình ra quyết định chính sách đề cập đến mức độ mà cơ sở hạ tầng, hệ thống và con người có thể sử dụng dữ liệu một cách hiệu quả để đưa ra quyết định.</a:t>
            </a:r>
          </a:p>
          <a:p>
            <a:pPr lvl="0"/>
            <a:r>
              <a:rPr/>
              <a:t>Việc củng cố các khả năng này trên các đội ngũ khác nhau là điều thiết yếu.</a:t>
            </a:r>
          </a:p>
          <a:p>
            <a:pPr lvl="0"/>
            <a:r>
              <a:rPr/>
              <a:t>Các kỹ năng bổ sung giúp củng cố toàn bộ chuỗi giá trị dữ liệu và nâng cao chất lượng ra quyết định tổng thể.</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Xác định khoảng trống trong kỹ năng dữ liệu và khả năng thống kê</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Các loại kỹ năng</a:t>
            </a:r>
          </a:p>
        </p:txBody>
      </p:sp>
      <p:pic>
        <p:nvPicPr>
          <p:cNvPr descr="../images/hr_roles_03.svg" id="0" name="Picture 1"/>
          <p:cNvPicPr>
            <a:picLocks noGrp="1" noChangeAspect="1"/>
          </p:cNvPicPr>
          <p:nvPr/>
        </p:nvPicPr>
        <p:blipFill>
          <a:blip r:embed="rId2"/>
          <a:stretch>
            <a:fillRect/>
          </a:stretch>
        </p:blipFill>
        <p:spPr bwMode="auto">
          <a:xfrm>
            <a:off x="838200" y="2197100"/>
            <a:ext cx="10515600" cy="3581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năng lực dữ liệu</a:t>
            </a:r>
          </a:p>
        </p:txBody>
      </p:sp>
      <p:pic>
        <p:nvPicPr>
          <p:cNvPr descr="../images/hr_roles_04.png" id="0" name="Picture 1"/>
          <p:cNvPicPr>
            <a:picLocks noGrp="1" noChangeAspect="1"/>
          </p:cNvPicPr>
          <p:nvPr/>
        </p:nvPicPr>
        <p:blipFill>
          <a:blip r:embed="rId2"/>
          <a:stretch>
            <a:fillRect/>
          </a:stretch>
        </p:blipFill>
        <p:spPr bwMode="auto">
          <a:xfrm>
            <a:off x="2781300" y="1816100"/>
            <a:ext cx="66294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năng lực dữ liệu - ví dụ</a:t>
            </a:r>
          </a:p>
        </p:txBody>
      </p:sp>
      <p:sp>
        <p:nvSpPr>
          <p:cNvPr id="3" name="Content Placeholder 2"/>
          <p:cNvSpPr>
            <a:spLocks noGrp="1"/>
          </p:cNvSpPr>
          <p:nvPr>
            <p:ph idx="1"/>
          </p:nvPr>
        </p:nvSpPr>
        <p:spPr/>
        <p:txBody>
          <a:bodyPr/>
          <a:lstStyle/>
          <a:p>
            <a:pPr lvl="0"/>
            <a:r>
              <a:rPr b="1"/>
              <a:t>Năng lực:</a:t>
            </a:r>
            <a:r>
              <a:rPr/>
              <a:t>Áp dụng các nguyên tắc mã hóa và phân loại dữ liệu</a:t>
            </a:r>
          </a:p>
          <a:p>
            <a:pPr lvl="0"/>
            <a:r>
              <a:rPr b="1"/>
              <a:t>Danh mục:</a:t>
            </a:r>
            <a:r>
              <a:rPr/>
              <a:t>Mô tả, Lưu trữ, Sử dụng và Lưu trữ/Xóa bỏ</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Mới</a:t>
            </a:r>
          </a:p>
          <a:p>
            <a:pPr lvl="0"/>
            <a:r>
              <a:rPr/>
              <a:t>Nắm rõ các phân loại dữ liệu và quy trình mã hóa liên quan, cũng như cách áp dụng đúng đắn chúng vào dữ liệu nói chung.</a:t>
            </a:r>
          </a:p>
          <a:p>
            <a:pPr lvl="0"/>
            <a:r>
              <a:rPr/>
              <a:t>Biết liên hệ với ai để tham khảo kiến thức chuyên môn.</a:t>
            </a:r>
          </a:p>
        </p:txBody>
      </p:sp>
      <p:sp>
        <p:nvSpPr>
          <p:cNvPr id="4" name="Content Placeholder 3"/>
          <p:cNvSpPr>
            <a:spLocks noGrp="1"/>
          </p:cNvSpPr>
          <p:nvPr>
            <p:ph idx="2" sz="half"/>
          </p:nvPr>
        </p:nvSpPr>
        <p:spPr/>
        <p:txBody>
          <a:bodyPr/>
          <a:lstStyle/>
          <a:p>
            <a:pPr lvl="0" indent="0" marL="0">
              <a:spcBef>
                <a:spcPts val="3000"/>
              </a:spcBef>
              <a:buNone/>
            </a:pPr>
            <a:r>
              <a:rPr b="1"/>
              <a:t>Thành thạo</a:t>
            </a:r>
          </a:p>
          <a:p>
            <a:pPr lvl="0"/>
            <a:r>
              <a:rPr/>
              <a:t>Có kiến thức toàn diện về phân loại dữ liệu và các quy trình mã hóa.</a:t>
            </a:r>
          </a:p>
          <a:p>
            <a:pPr lvl="0"/>
            <a:r>
              <a:rPr/>
              <a:t>Biết nơi để tìm kiếm tư vấn chuyên môn về mã hóa và phân loại khi cần thiết.</a:t>
            </a:r>
          </a:p>
        </p:txBody>
      </p:sp>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Hướng dẫn Khung Năng lực Dữ liệu</a:t>
            </a:r>
          </a:p>
        </p:txBody>
      </p:sp>
      <p:pic>
        <p:nvPicPr>
          <p:cNvPr descr="../images/qrcode_data.govt.nz.png" id="0" name="Picture 1"/>
          <p:cNvPicPr>
            <a:picLocks noGrp="1" noChangeAspect="1"/>
          </p:cNvPicPr>
          <p:nvPr/>
        </p:nvPicPr>
        <p:blipFill>
          <a:blip r:embed="rId2"/>
          <a:stretch>
            <a:fillRect/>
          </a:stretch>
        </p:blipFill>
        <p:spPr bwMode="auto">
          <a:xfrm>
            <a:off x="3924300" y="1816100"/>
            <a:ext cx="43434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Liên kết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đánh giá mức độ trưởng thành dữ liệu</a:t>
            </a:r>
          </a:p>
        </p:txBody>
      </p:sp>
      <p:pic>
        <p:nvPicPr>
          <p:cNvPr descr="../images/hr_roles_05.png" id="0" name="Picture 1"/>
          <p:cNvPicPr>
            <a:picLocks noGrp="1" noChangeAspect="1"/>
          </p:cNvPicPr>
          <p:nvPr/>
        </p:nvPicPr>
        <p:blipFill>
          <a:blip r:embed="rId2"/>
          <a:stretch>
            <a:fillRect/>
          </a:stretch>
        </p:blipFill>
        <p:spPr bwMode="auto">
          <a:xfrm>
            <a:off x="838200" y="2438400"/>
            <a:ext cx="10515600" cy="30988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đánh giá mức độ trưởng thành của dữ liệu</a:t>
            </a:r>
          </a:p>
        </p:txBody>
      </p:sp>
      <p:sp>
        <p:nvSpPr>
          <p:cNvPr id="3" name="Content Placeholder 2"/>
          <p:cNvSpPr>
            <a:spLocks noGrp="1"/>
          </p:cNvSpPr>
          <p:nvPr>
            <p:ph idx="1"/>
          </p:nvPr>
        </p:nvSpPr>
        <p:spPr/>
        <p:txBody>
          <a:bodyPr/>
          <a:lstStyle/>
          <a:p>
            <a:pPr lvl="0"/>
            <a:r>
              <a:rPr b="1"/>
              <a:t>Các chủ đề:</a:t>
            </a:r>
            <a:r>
              <a:rPr/>
              <a:t> Ứng dụng, Dữ liệu, Lãnh đạo, Văn hóa, Công cụ, Kỹ năng</a:t>
            </a:r>
          </a:p>
          <a:p>
            <a:pPr lvl="0"/>
            <a:r>
              <a:rPr b="1"/>
              <a:t>Các cấp độ trưởng thành:</a:t>
            </a:r>
            <a:r>
              <a:rPr/>
              <a:t> Bắt đầu, Phát triển ban đầu, Học hỏi, Phát triển, Thành thạo</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đánh giá mức độ trưởng thành của dữ liệu - ví dụ</a:t>
            </a:r>
          </a:p>
        </p:txBody>
      </p:sp>
      <p:pic>
        <p:nvPicPr>
          <p:cNvPr descr="../images/dma_example.png" id="0" name="Picture 1"/>
          <p:cNvPicPr>
            <a:picLocks noGrp="1" noChangeAspect="1"/>
          </p:cNvPicPr>
          <p:nvPr/>
        </p:nvPicPr>
        <p:blipFill>
          <a:blip r:embed="rId2"/>
          <a:stretch>
            <a:fillRect/>
          </a:stretch>
        </p:blipFill>
        <p:spPr bwMode="auto">
          <a:xfrm>
            <a:off x="1778000" y="1816100"/>
            <a:ext cx="86487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Hướng dẫn Khung đánh giá mức độ trưởng thành dữ liệu</a:t>
            </a:r>
          </a:p>
        </p:txBody>
      </p:sp>
      <p:pic>
        <p:nvPicPr>
          <p:cNvPr descr="../images/qrcode_assets.publishing.service.gov.uk.png" id="0" name="Picture 1"/>
          <p:cNvPicPr>
            <a:picLocks noGrp="1" noChangeAspect="1"/>
          </p:cNvPicPr>
          <p:nvPr/>
        </p:nvPicPr>
        <p:blipFill>
          <a:blip r:embed="rId2"/>
          <a:stretch>
            <a:fillRect/>
          </a:stretch>
        </p:blipFill>
        <p:spPr bwMode="auto">
          <a:xfrm>
            <a:off x="3924300" y="1816100"/>
            <a:ext cx="43434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Liên kết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Xây dựng năng lực dữ liệu trong đội ngũ của bạn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Trình độ hiểu biết về dữ liệu</a:t>
            </a:r>
          </a:p>
        </p:txBody>
      </p:sp>
      <p:pic>
        <p:nvPicPr>
          <p:cNvPr descr="../images/hr_roles_06.png" id="0" name="Picture 1"/>
          <p:cNvPicPr>
            <a:picLocks noGrp="1" noChangeAspect="1"/>
          </p:cNvPicPr>
          <p:nvPr/>
        </p:nvPicPr>
        <p:blipFill>
          <a:blip r:embed="rId2"/>
          <a:stretch>
            <a:fillRect/>
          </a:stretch>
        </p:blipFill>
        <p:spPr bwMode="auto">
          <a:xfrm>
            <a:off x="2171700" y="1816100"/>
            <a:ext cx="78613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Khung năng lực kỹ năng dữ liệu</a:t>
            </a:r>
          </a:p>
        </p:txBody>
      </p:sp>
      <p:pic>
        <p:nvPicPr>
          <p:cNvPr descr="../images/hr_roles_07.png" id="0" name="Picture 1"/>
          <p:cNvPicPr>
            <a:picLocks noGrp="1" noChangeAspect="1"/>
          </p:cNvPicPr>
          <p:nvPr/>
        </p:nvPicPr>
        <p:blipFill>
          <a:blip r:embed="rId2"/>
          <a:stretch>
            <a:fillRect/>
          </a:stretch>
        </p:blipFill>
        <p:spPr bwMode="auto">
          <a:xfrm>
            <a:off x="3022600" y="1816100"/>
            <a:ext cx="61341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Triển khai xây dựng năng lực dữ liệu</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Ngắn hạn</a:t>
            </a:r>
          </a:p>
        </p:txBody>
      </p:sp>
      <p:sp>
        <p:nvSpPr>
          <p:cNvPr id="3" name="Content Placeholder 2"/>
          <p:cNvSpPr>
            <a:spLocks noGrp="1"/>
          </p:cNvSpPr>
          <p:nvPr>
            <p:ph idx="1"/>
          </p:nvPr>
        </p:nvSpPr>
        <p:spPr/>
        <p:txBody>
          <a:bodyPr/>
          <a:lstStyle/>
          <a:p>
            <a:pPr lvl="0"/>
            <a:r>
              <a:rPr/>
              <a:t>Các buổi đào tạo</a:t>
            </a:r>
          </a:p>
          <a:p>
            <a:pPr lvl="0"/>
            <a:r>
              <a:rPr/>
              <a:t>Nguồn tài liệu đào tạo trực tuyến</a:t>
            </a:r>
          </a:p>
          <a:p>
            <a:pPr lvl="0"/>
            <a:r>
              <a:rPr/>
              <a:t>Chia sẻ kiến thức về các đổi mới toàn cầu và các trường hợp ứng dụng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Trung hạn</a:t>
            </a:r>
          </a:p>
        </p:txBody>
      </p:sp>
      <p:sp>
        <p:nvSpPr>
          <p:cNvPr id="3" name="Content Placeholder 2"/>
          <p:cNvSpPr>
            <a:spLocks noGrp="1"/>
          </p:cNvSpPr>
          <p:nvPr>
            <p:ph idx="1"/>
          </p:nvPr>
        </p:nvSpPr>
        <p:spPr/>
        <p:txBody>
          <a:bodyPr/>
          <a:lstStyle/>
          <a:p>
            <a:pPr lvl="0"/>
            <a:r>
              <a:rPr/>
              <a:t>Chuyên gia dữ liệu nội bộ</a:t>
            </a:r>
          </a:p>
          <a:p>
            <a:pPr lvl="0"/>
            <a:r>
              <a:rPr/>
              <a:t>Đào tạo kỹ năng dữ liệu định kỳ</a:t>
            </a:r>
          </a:p>
          <a:p>
            <a:pPr lvl="0"/>
            <a:r>
              <a:rPr/>
              <a:t>‍Dự án dữ liệu thử nghiệm</a:t>
            </a:r>
          </a:p>
          <a:p>
            <a:pPr lvl="0"/>
            <a:r>
              <a:rPr/>
              <a:t>‍Phát triển kỹ năng bổ trợ cùng các bên liên quan</a:t>
            </a:r>
          </a:p>
          <a:p>
            <a:pPr lvl="0"/>
            <a:r>
              <a:rPr/>
              <a:t>‍Phát triển dựa trên kiến thức và năng lực địa phương</a:t>
            </a:r>
          </a:p>
          <a:p>
            <a:pPr lvl="0"/>
            <a:r>
              <a:rPr/>
              <a:t>‍Xây dựng mạng lưới các chuyên gia dữ liệu trong tổ chức của bạn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Dài hạn</a:t>
            </a:r>
          </a:p>
        </p:txBody>
      </p:sp>
      <p:sp>
        <p:nvSpPr>
          <p:cNvPr id="3" name="Content Placeholder 2"/>
          <p:cNvSpPr>
            <a:spLocks noGrp="1"/>
          </p:cNvSpPr>
          <p:nvPr>
            <p:ph idx="1"/>
          </p:nvPr>
        </p:nvSpPr>
        <p:spPr/>
        <p:txBody>
          <a:bodyPr/>
          <a:lstStyle/>
          <a:p>
            <a:pPr lvl="0"/>
            <a:r>
              <a:rPr/>
              <a:t>Tích hợp kỹ năng dữ liệu vào các vị trí công việc</a:t>
            </a:r>
          </a:p>
          <a:p>
            <a:pPr lvl="0"/>
            <a:r>
              <a:rPr/>
              <a:t>Hệ thống hóa các chương trình đào tạo dữ liệu</a:t>
            </a:r>
          </a:p>
          <a:p>
            <a:pPr lvl="0"/>
            <a:r>
              <a:rPr/>
              <a:t>Hợp tác với các tổ chức tư vấn và tổ chức bên ngoài</a:t>
            </a:r>
          </a:p>
          <a:p>
            <a:pPr lvl="0"/>
            <a:r>
              <a:rPr/>
              <a:t>Hợp tác với các cơ sở giáo dục đại học và các trường đại học địa phương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11</dc:title>
  <dc:creator>Ernest Guevarra</dc:creator>
  <cp:keywords/>
  <dcterms:created xsi:type="dcterms:W3CDTF">2026-01-31T12:47:20Z</dcterms:created>
  <dcterms:modified xsi:type="dcterms:W3CDTF">2026-01-31T12:47:20Z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Nguyên tắc hướng dẫn và các thực hành tốt nhất trong việc xây dựng năng lực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